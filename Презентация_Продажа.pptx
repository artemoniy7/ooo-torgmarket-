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 ?>
<Relationships xmlns="http://schemas.openxmlformats.org/package/2006/relationships">
  <Relationship Id="rId1" Target="ppt/presentation.xml" Type="http://schemas.openxmlformats.org/officeDocument/2006/relationships/officeDocument"/>
  <Relationship Id="rId2" Target="docProps/app.xml" Type="http://schemas.openxmlformats.org/officeDocument/2006/relationships/extended-properties"/>
  <Relationship Id="rId3" Target="docProps/core.xml" Type="http://schemas.openxmlformats.org/package/2006/relationships/metadata/core-properties"/>
</Relationships>

</file>

<file path=ppt/presentation.xml><?xml version="1.0" encoding="utf-8"?>
<p:presentation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1695" cy="6858000"/>
  <p:notesSz cx="6858000" cy="12191695"/>
</p:presentation>
</file>

<file path=ppt/tableStyles.xml><?xml version="1.0" encoding="utf-8"?>
<a:tblStyleLs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def="{5C22544A-7EE6-4342-B048-85BDC9FD1C3A}"/>
</file>

<file path=ppt/viewProps.xml><?xml version="1.0" encoding="utf-8"?>
<p:viewPr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>
  <p:slideViewPr>
    <p:cSldViewPr>
      <p:cViewPr>
        <p:scale>
          <a:sx d="1" n="1"/>
          <a:sy d="1" n="1"/>
        </p:scale>
        <p:origin x="1" y="1"/>
      </p:cViewPr>
      <p:guideLst>
        <p:guide orient="vert" pos="2880"/>
        <p:guide orient="horz" pos="2175"/>
      </p:guideLst>
    </p:cSldViewPr>
  </p:slideViewPr>
</p:viewPr>
</file>

<file path=ppt/_rels/presentation.xml.rels><?xml version="1.0" encoding="UTF-8" standalone="no" ?>
<Relationships xmlns="http://schemas.openxmlformats.org/package/2006/relationships">
  <Relationship Id="rId6" Target="slides/slide4.xml" Type="http://schemas.openxmlformats.org/officeDocument/2006/relationships/slide"/>
  <Relationship Id="rId1" Target="theme/theme1.xml" Type="http://schemas.openxmlformats.org/officeDocument/2006/relationships/theme"/>
  <Relationship Id="rId12" Target="viewProps.xml" Type="http://schemas.openxmlformats.org/officeDocument/2006/relationships/viewProps"/>
  <Relationship Id="rId10" Target="slides/slide8.xml" Type="http://schemas.openxmlformats.org/officeDocument/2006/relationships/slide"/>
  <Relationship Id="rId2" Target="slideMasters/slideMaster1.xml" Type="http://schemas.openxmlformats.org/officeDocument/2006/relationships/slideMaster"/>
  <Relationship Id="rId3" Target="slides/slide1.xml" Type="http://schemas.openxmlformats.org/officeDocument/2006/relationships/slide"/>
  <Relationship Id="rId8" Target="slides/slide6.xml" Type="http://schemas.openxmlformats.org/officeDocument/2006/relationships/slide"/>
  <Relationship Id="rId4" Target="slides/slide2.xml" Type="http://schemas.openxmlformats.org/officeDocument/2006/relationships/slide"/>
  <Relationship Id="rId11" Target="tableStyles.xml" Type="http://schemas.openxmlformats.org/officeDocument/2006/relationships/tableStyles"/>
  <Relationship Id="rId9" Target="slides/slide7.xml" Type="http://schemas.openxmlformats.org/officeDocument/2006/relationships/slide"/>
  <Relationship Id="rId7" Target="slides/slide5.xml" Type="http://schemas.openxmlformats.org/officeDocument/2006/relationships/slide"/>
  <Relationship Id="rId5" Target="slides/slide3.xml" Type="http://schemas.openxmlformats.org/officeDocument/2006/relationships/slide"/>
</Relationships>

</file>

<file path=ppt/slideLayouts/_rels/slideLayout1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2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3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4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5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6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7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8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9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10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11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slideLayout1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title">
  <p:cSld name="Title">
    <p:spTree>
      <p:nvGrpSpPr>
        <p:cNvPr hidden="false" id="59" name="GroupShape 59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60" name="Shape 60"/>
          <p:cNvSpPr txBox="true"/>
          <p:nvPr isPhoto="false">
            <p:ph idx="0" type="title"/>
          </p:nvPr>
        </p:nvSpPr>
        <p:spPr>
          <a:xfrm flipH="false" flipV="false" rot="0">
            <a:off x="685800" y="2130425"/>
            <a:ext cx="7772400" cy="1470025"/>
          </a:xfrm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Click to edit Master title style</a:t>
            </a:r>
          </a:p>
        </p:txBody>
      </p:sp>
      <p:sp>
        <p:nvSpPr>
          <p:cNvPr hidden="false" id="61" name="Shape 61"/>
          <p:cNvSpPr txBox="true"/>
          <p:nvPr isPhoto="false">
            <p:ph idx="1" type="subTitle"/>
          </p:nvPr>
        </p:nvSpPr>
        <p:spPr>
          <a:xfrm flipH="false" flipV="false" rot="0"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defPPr/>
            <a:lvl1pPr algn="ctr" indent="0" lvl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lvl="1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lvl="2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lvl="3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lvl="4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lvl="5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lvl="6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lvl="7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lvl="8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hidden="false" id="62" name="Shape 62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1/27/13</a:t>
            </a:r>
          </a:p>
        </p:txBody>
      </p:sp>
      <p:sp>
        <p:nvSpPr>
          <p:cNvPr hidden="false" id="63" name="Shape 63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64" name="Shape 64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6FD0E7F8-E672-4979-B94D-C58D4F40E68B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obj">
  <p:cSld name="Title and Content">
    <p:spTree>
      <p:nvGrpSpPr>
        <p:cNvPr hidden="false" id="21" name="GroupShape 21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22" name="Shape 22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Click to edit Master title style</a:t>
            </a:r>
          </a:p>
        </p:txBody>
      </p:sp>
      <p:sp>
        <p:nvSpPr>
          <p:cNvPr hidden="false" id="23" name="Shape 23"/>
          <p:cNvSpPr txBox="true"/>
          <p:nvPr isPhoto="false">
            <p:ph idx="1" type="body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hidden="false" id="24" name="Shape 24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1/27/13</a:t>
            </a:r>
          </a:p>
        </p:txBody>
      </p:sp>
      <p:sp>
        <p:nvSpPr>
          <p:cNvPr hidden="false" id="25" name="Shape 25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26" name="Shape 26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5BE0BF26-F1CF-4D59-AEDB-D0B5B78C3F76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secHead">
  <p:cSld name="Title and Subtitle">
    <p:spTree>
      <p:nvGrpSpPr>
        <p:cNvPr hidden="false" id="65" name="GroupShape 65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66" name="Shape 66"/>
          <p:cNvSpPr txBox="true"/>
          <p:nvPr isPhoto="false">
            <p:ph idx="0" type="title"/>
          </p:nvPr>
        </p:nvSpPr>
        <p:spPr>
          <a:xfrm flipH="false" flipV="false" rot="0"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defPPr/>
            <a:lvl1pPr algn="l" lvl="0">
              <a:defRPr b="true" cap="all" sz="4000"/>
            </a:lvl1pPr>
          </a:lstStyle>
          <a:p>
            <a:r>
              <a:t>Click to edit Master title style</a:t>
            </a:r>
          </a:p>
        </p:txBody>
      </p:sp>
      <p:sp>
        <p:nvSpPr>
          <p:cNvPr hidden="false" id="67" name="Shape 67"/>
          <p:cNvSpPr txBox="true"/>
          <p:nvPr isPhoto="false">
            <p:ph idx="1" type="body"/>
          </p:nvPr>
        </p:nvSpPr>
        <p:spPr>
          <a:xfrm flipH="false" flipV="false" rot="0">
            <a:off x="722313" y="2906713"/>
            <a:ext cx="7772400" cy="1500186"/>
          </a:xfrm>
          <a:prstGeom prst="rect">
            <a:avLst/>
          </a:prstGeom>
        </p:spPr>
        <p:txBody>
          <a:bodyPr anchor="b"/>
          <a:lstStyle>
            <a:defPPr/>
            <a:lvl1pPr indent="0" lvl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lvl="1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lvl="2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lvl="3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lvl="4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lvl="5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lvl="6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lvl="7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lvl="8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hidden="false" id="68" name="Shape 68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1/27/13</a:t>
            </a:r>
          </a:p>
        </p:txBody>
      </p:sp>
      <p:sp>
        <p:nvSpPr>
          <p:cNvPr hidden="false" id="69" name="Shape 69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70" name="Shape 70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10206030-933E-4E87-B0BF-9E2446B7517A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titleOnly">
  <p:cSld name="Slide Title">
    <p:spTree>
      <p:nvGrpSpPr>
        <p:cNvPr hidden="false" id="71" name="GroupShape 71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72" name="Shape 72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Click to edit Master title style</a:t>
            </a:r>
          </a:p>
        </p:txBody>
      </p:sp>
      <p:sp>
        <p:nvSpPr>
          <p:cNvPr hidden="false" id="73" name="Shape 73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1/27/13</a:t>
            </a:r>
          </a:p>
        </p:txBody>
      </p:sp>
      <p:sp>
        <p:nvSpPr>
          <p:cNvPr hidden="false" id="74" name="Shape 74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75" name="Shape 75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835D39B4-2A36-4FCC-8207-64FF5FFD7201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twoObj">
  <p:cSld name="Title and Two Columns">
    <p:spTree>
      <p:nvGrpSpPr>
        <p:cNvPr hidden="false" id="7" name="GroupShape 7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8" name="Shape 8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Click to edit Master title style</a:t>
            </a:r>
          </a:p>
        </p:txBody>
      </p:sp>
      <p:sp>
        <p:nvSpPr>
          <p:cNvPr hidden="false" id="9" name="Shape 9"/>
          <p:cNvSpPr txBox="true"/>
          <p:nvPr isPhoto="false">
            <p:ph idx="1" type="body"/>
          </p:nvPr>
        </p:nvSpPr>
        <p:spPr>
          <a:xfrm flipH="false" flipV="false" rot="0"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defPPr/>
            <a:lvl1pPr lvl="0">
              <a:defRPr sz="2800"/>
            </a:lvl1pPr>
            <a:lvl2pPr lvl="1">
              <a:defRPr sz="2400"/>
            </a:lvl2pPr>
            <a:lvl3pPr lvl="2">
              <a:defRPr sz="2000"/>
            </a:lvl3pPr>
            <a:lvl4pPr lvl="3">
              <a:defRPr sz="1800"/>
            </a:lvl4pPr>
            <a:lvl5pPr lvl="4">
              <a:defRPr sz="1800"/>
            </a:lvl5pPr>
            <a:lvl6pPr lvl="5">
              <a:defRPr sz="1800"/>
            </a:lvl6pPr>
            <a:lvl7pPr lvl="6">
              <a:defRPr sz="1800"/>
            </a:lvl7pPr>
            <a:lvl8pPr lvl="7">
              <a:defRPr sz="1800"/>
            </a:lvl8pPr>
            <a:lvl9pPr lvl="8">
              <a:defRPr sz="180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hidden="false" id="10" name="Shape 10"/>
          <p:cNvSpPr txBox="true"/>
          <p:nvPr isPhoto="false">
            <p:ph idx="2" type="body"/>
          </p:nvPr>
        </p:nvSpPr>
        <p:spPr>
          <a:xfrm flipH="false" flipV="false" rot="0"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defPPr/>
            <a:lvl1pPr lvl="0">
              <a:defRPr sz="2800"/>
            </a:lvl1pPr>
            <a:lvl2pPr lvl="1">
              <a:defRPr sz="2400"/>
            </a:lvl2pPr>
            <a:lvl3pPr lvl="2">
              <a:defRPr sz="2000"/>
            </a:lvl3pPr>
            <a:lvl4pPr lvl="3">
              <a:defRPr sz="1800"/>
            </a:lvl4pPr>
            <a:lvl5pPr lvl="4">
              <a:defRPr sz="1800"/>
            </a:lvl5pPr>
            <a:lvl6pPr lvl="5">
              <a:defRPr sz="1800"/>
            </a:lvl6pPr>
            <a:lvl7pPr lvl="6">
              <a:defRPr sz="1800"/>
            </a:lvl7pPr>
            <a:lvl8pPr lvl="7">
              <a:defRPr sz="1800"/>
            </a:lvl8pPr>
            <a:lvl9pPr lvl="8">
              <a:defRPr sz="180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hidden="false" id="11" name="Shape 11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1/27/13</a:t>
            </a:r>
          </a:p>
        </p:txBody>
      </p:sp>
      <p:sp>
        <p:nvSpPr>
          <p:cNvPr hidden="false" id="12" name="Shape 12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13" name="Shape 13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5A6472FB-20E9-4E73-8AC4-597C4A668288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blank">
  <p:cSld name="Blank">
    <p:spTree>
      <p:nvGrpSpPr>
        <p:cNvPr hidden="false" id="43" name="GroupShape 43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44" name="Shape 44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1/27/13</a:t>
            </a:r>
          </a:p>
        </p:txBody>
      </p:sp>
      <p:sp>
        <p:nvSpPr>
          <p:cNvPr hidden="false" id="45" name="Shape 45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46" name="Shape 46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733A33D7-EE05-4EFE-AA5E-FB2867BBF137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twoTxTwoObj">
  <p:cSld name="Comparison">
    <p:spTree>
      <p:nvGrpSpPr>
        <p:cNvPr hidden="false" id="27" name="GroupShape 27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28" name="Shape 28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Click to edit Master title style</a:t>
            </a:r>
          </a:p>
        </p:txBody>
      </p:sp>
      <p:sp>
        <p:nvSpPr>
          <p:cNvPr hidden="false" id="29" name="Shape 29"/>
          <p:cNvSpPr txBox="true"/>
          <p:nvPr isPhoto="false">
            <p:ph idx="1" type="body"/>
          </p:nvPr>
        </p:nvSpPr>
        <p:spPr>
          <a:xfrm flipH="false" flipV="false" rot="0"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defPPr/>
            <a:lvl1pPr indent="0" lvl="0" marL="0">
              <a:buNone/>
              <a:defRPr b="true" sz="2400"/>
            </a:lvl1pPr>
            <a:lvl2pPr indent="0" lvl="1" marL="457200">
              <a:buNone/>
              <a:defRPr b="true" sz="2000"/>
            </a:lvl2pPr>
            <a:lvl3pPr indent="0" lvl="2" marL="914400">
              <a:buNone/>
              <a:defRPr b="true" sz="1800"/>
            </a:lvl3pPr>
            <a:lvl4pPr indent="0" lvl="3" marL="1371600">
              <a:buNone/>
              <a:defRPr b="true" sz="1600"/>
            </a:lvl4pPr>
            <a:lvl5pPr indent="0" lvl="4" marL="1828800">
              <a:buNone/>
              <a:defRPr b="true" sz="1600"/>
            </a:lvl5pPr>
            <a:lvl6pPr indent="0" lvl="5" marL="2286000">
              <a:buNone/>
              <a:defRPr b="true" sz="1600"/>
            </a:lvl6pPr>
            <a:lvl7pPr indent="0" lvl="6" marL="2743200">
              <a:buNone/>
              <a:defRPr b="true" sz="1600"/>
            </a:lvl7pPr>
            <a:lvl8pPr indent="0" lvl="7" marL="3200400">
              <a:buNone/>
              <a:defRPr b="true" sz="1600"/>
            </a:lvl8pPr>
            <a:lvl9pPr indent="0" lvl="8" marL="3657600">
              <a:buNone/>
              <a:defRPr b="true" sz="1600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hidden="false" id="30" name="Shape 30"/>
          <p:cNvSpPr txBox="true"/>
          <p:nvPr isPhoto="false">
            <p:ph idx="2" type="body"/>
          </p:nvPr>
        </p:nvSpPr>
        <p:spPr>
          <a:xfrm flipH="false" flipV="false" rot="0"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defPPr/>
            <a:lvl1pPr lvl="0">
              <a:defRPr sz="2400"/>
            </a:lvl1pPr>
            <a:lvl2pPr lvl="1">
              <a:defRPr sz="2000"/>
            </a:lvl2pPr>
            <a:lvl3pPr lvl="2">
              <a:defRPr sz="1800"/>
            </a:lvl3pPr>
            <a:lvl4pPr lvl="3">
              <a:defRPr sz="1600"/>
            </a:lvl4pPr>
            <a:lvl5pPr lvl="4">
              <a:defRPr sz="1600"/>
            </a:lvl5pPr>
            <a:lvl6pPr lvl="5">
              <a:defRPr sz="1600"/>
            </a:lvl6pPr>
            <a:lvl7pPr lvl="6">
              <a:defRPr sz="1600"/>
            </a:lvl7pPr>
            <a:lvl8pPr lvl="7">
              <a:defRPr sz="1600"/>
            </a:lvl8pPr>
            <a:lvl9pPr lvl="8">
              <a:defRPr sz="160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hidden="false" id="31" name="Shape 31"/>
          <p:cNvSpPr txBox="true"/>
          <p:nvPr isPhoto="false">
            <p:ph idx="3" type="body"/>
          </p:nvPr>
        </p:nvSpPr>
        <p:spPr>
          <a:xfrm flipH="false" flipV="false" rot="0"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defPPr/>
            <a:lvl1pPr indent="0" lvl="0" marL="0">
              <a:buNone/>
              <a:defRPr b="true" sz="2400"/>
            </a:lvl1pPr>
            <a:lvl2pPr indent="0" lvl="1" marL="457200">
              <a:buNone/>
              <a:defRPr b="true" sz="2000"/>
            </a:lvl2pPr>
            <a:lvl3pPr indent="0" lvl="2" marL="914400">
              <a:buNone/>
              <a:defRPr b="true" sz="1800"/>
            </a:lvl3pPr>
            <a:lvl4pPr indent="0" lvl="3" marL="1371600">
              <a:buNone/>
              <a:defRPr b="true" sz="1600"/>
            </a:lvl4pPr>
            <a:lvl5pPr indent="0" lvl="4" marL="1828800">
              <a:buNone/>
              <a:defRPr b="true" sz="1600"/>
            </a:lvl5pPr>
            <a:lvl6pPr indent="0" lvl="5" marL="2286000">
              <a:buNone/>
              <a:defRPr b="true" sz="1600"/>
            </a:lvl6pPr>
            <a:lvl7pPr indent="0" lvl="6" marL="2743200">
              <a:buNone/>
              <a:defRPr b="true" sz="1600"/>
            </a:lvl7pPr>
            <a:lvl8pPr indent="0" lvl="7" marL="3200400">
              <a:buNone/>
              <a:defRPr b="true" sz="1600"/>
            </a:lvl8pPr>
            <a:lvl9pPr indent="0" lvl="8" marL="3657600">
              <a:buNone/>
              <a:defRPr b="true" sz="1600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hidden="false" id="32" name="Shape 32"/>
          <p:cNvSpPr txBox="true"/>
          <p:nvPr isPhoto="false">
            <p:ph idx="4" type="body"/>
          </p:nvPr>
        </p:nvSpPr>
        <p:spPr>
          <a:xfrm flipH="false" flipV="false" rot="0"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defPPr/>
            <a:lvl1pPr lvl="0">
              <a:defRPr sz="2400"/>
            </a:lvl1pPr>
            <a:lvl2pPr lvl="1">
              <a:defRPr sz="2000"/>
            </a:lvl2pPr>
            <a:lvl3pPr lvl="2">
              <a:defRPr sz="1800"/>
            </a:lvl3pPr>
            <a:lvl4pPr lvl="3">
              <a:defRPr sz="1600"/>
            </a:lvl4pPr>
            <a:lvl5pPr lvl="4">
              <a:defRPr sz="1600"/>
            </a:lvl5pPr>
            <a:lvl6pPr lvl="5">
              <a:defRPr sz="1600"/>
            </a:lvl6pPr>
            <a:lvl7pPr lvl="6">
              <a:defRPr sz="1600"/>
            </a:lvl7pPr>
            <a:lvl8pPr lvl="7">
              <a:defRPr sz="1600"/>
            </a:lvl8pPr>
            <a:lvl9pPr lvl="8">
              <a:defRPr sz="160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hidden="false" id="33" name="Shape 33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1/27/13</a:t>
            </a:r>
          </a:p>
        </p:txBody>
      </p:sp>
      <p:sp>
        <p:nvSpPr>
          <p:cNvPr hidden="false" id="34" name="Shape 34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35" name="Shape 35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E70A966E-5748-4D59-807B-1940EC430723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objTx">
  <p:cSld name="Title, Text and Object">
    <p:spTree>
      <p:nvGrpSpPr>
        <p:cNvPr hidden="false" id="36" name="GroupShape 36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37" name="Shape 37"/>
          <p:cNvSpPr txBox="true"/>
          <p:nvPr isPhoto="false">
            <p:ph idx="0" type="title"/>
          </p:nvPr>
        </p:nvSpPr>
        <p:spPr>
          <a:xfrm flipH="false" flipV="false" rot="0"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defPPr/>
            <a:lvl1pPr algn="l" lvl="0">
              <a:defRPr b="true" sz="2000"/>
            </a:lvl1pPr>
          </a:lstStyle>
          <a:p>
            <a:r>
              <a:t>Click to edit Master title style</a:t>
            </a:r>
          </a:p>
        </p:txBody>
      </p:sp>
      <p:sp>
        <p:nvSpPr>
          <p:cNvPr hidden="false" id="38" name="Shape 38"/>
          <p:cNvSpPr txBox="true"/>
          <p:nvPr isPhoto="false">
            <p:ph idx="1" type="body"/>
          </p:nvPr>
        </p:nvSpPr>
        <p:spPr>
          <a:xfrm flipH="false" flipV="false" rot="0"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defPPr/>
            <a:lvl1pPr lvl="0">
              <a:defRPr sz="3200"/>
            </a:lvl1pPr>
            <a:lvl2pPr lvl="1">
              <a:defRPr sz="2800"/>
            </a:lvl2pPr>
            <a:lvl3pPr lvl="2">
              <a:defRPr sz="2400"/>
            </a:lvl3pPr>
            <a:lvl4pPr lvl="3">
              <a:defRPr sz="2000"/>
            </a:lvl4pPr>
            <a:lvl5pPr lvl="4">
              <a:defRPr sz="2000"/>
            </a:lvl5pPr>
            <a:lvl6pPr lvl="5">
              <a:defRPr sz="2000"/>
            </a:lvl6pPr>
            <a:lvl7pPr lvl="6">
              <a:defRPr sz="2000"/>
            </a:lvl7pPr>
            <a:lvl8pPr lvl="7">
              <a:defRPr sz="2000"/>
            </a:lvl8pPr>
            <a:lvl9pPr lvl="8">
              <a:defRPr sz="200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hidden="false" id="39" name="Shape 39"/>
          <p:cNvSpPr txBox="true"/>
          <p:nvPr isPhoto="false">
            <p:ph idx="2" type="body"/>
          </p:nvPr>
        </p:nvSpPr>
        <p:spPr>
          <a:xfrm flipH="false" flipV="false" rot="0"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defPPr/>
            <a:lvl1pPr indent="0" lvl="0" marL="0">
              <a:buNone/>
              <a:defRPr sz="1400"/>
            </a:lvl1pPr>
            <a:lvl2pPr indent="0" lvl="1" marL="457200">
              <a:buNone/>
              <a:defRPr sz="1200"/>
            </a:lvl2pPr>
            <a:lvl3pPr indent="0" lvl="2" marL="914400">
              <a:buNone/>
              <a:defRPr sz="1000"/>
            </a:lvl3pPr>
            <a:lvl4pPr indent="0" lvl="3" marL="1371600">
              <a:buNone/>
              <a:defRPr sz="900"/>
            </a:lvl4pPr>
            <a:lvl5pPr indent="0" lvl="4" marL="1828800">
              <a:buNone/>
              <a:defRPr sz="900"/>
            </a:lvl5pPr>
            <a:lvl6pPr indent="0" lvl="5" marL="2286000">
              <a:buNone/>
              <a:defRPr sz="900"/>
            </a:lvl6pPr>
            <a:lvl7pPr indent="0" lvl="6" marL="2743200">
              <a:buNone/>
              <a:defRPr sz="900"/>
            </a:lvl7pPr>
            <a:lvl8pPr indent="0" lvl="7" marL="3200400">
              <a:buNone/>
              <a:defRPr sz="900"/>
            </a:lvl8pPr>
            <a:lvl9pPr indent="0" lvl="8" marL="3657600">
              <a:buNone/>
              <a:defRPr sz="900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hidden="false" id="40" name="Shape 40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1/27/13</a:t>
            </a:r>
          </a:p>
        </p:txBody>
      </p:sp>
      <p:sp>
        <p:nvSpPr>
          <p:cNvPr hidden="false" id="41" name="Shape 41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42" name="Shape 42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93C93DA2-F2F4-4AD6-A7F9-141CF08BB9DA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picTx">
  <p:cSld name="Title and Picture">
    <p:spTree>
      <p:nvGrpSpPr>
        <p:cNvPr hidden="false" id="14" name="GroupShape 14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5" name="Shape 15"/>
          <p:cNvSpPr txBox="true"/>
          <p:nvPr isPhoto="false">
            <p:ph idx="0" type="title"/>
          </p:nvPr>
        </p:nvSpPr>
        <p:spPr>
          <a:xfrm flipH="false" flipV="false" rot="0">
            <a:off x="1792288" y="4800600"/>
            <a:ext cx="5486400" cy="566737"/>
          </a:xfrm>
          <a:prstGeom prst="rect">
            <a:avLst/>
          </a:prstGeom>
        </p:spPr>
        <p:txBody>
          <a:bodyPr anchor="b"/>
          <a:lstStyle>
            <a:defPPr/>
            <a:lvl1pPr algn="l" lvl="0">
              <a:defRPr b="true" sz="2000"/>
            </a:lvl1pPr>
          </a:lstStyle>
          <a:p>
            <a:r>
              <a:t>Click to edit Master title style</a:t>
            </a:r>
          </a:p>
        </p:txBody>
      </p:sp>
      <p:sp>
        <p:nvSpPr>
          <p:cNvPr hidden="false" id="16" name="Shape 16"/>
          <p:cNvSpPr txBox="true"/>
          <p:nvPr isPhoto="false">
            <p:ph idx="1" type="body"/>
          </p:nvPr>
        </p:nvSpPr>
        <p:spPr>
          <a:xfrm flipH="false" flipV="false" rot="0"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defPPr/>
            <a:lvl1pPr indent="0" lvl="0" marL="0">
              <a:buNone/>
              <a:defRPr sz="3200"/>
            </a:lvl1pPr>
            <a:lvl2pPr indent="0" lvl="1" marL="457200">
              <a:buNone/>
              <a:defRPr sz="2800"/>
            </a:lvl2pPr>
            <a:lvl3pPr indent="0" lvl="2" marL="914400">
              <a:buNone/>
              <a:defRPr sz="2400"/>
            </a:lvl3pPr>
            <a:lvl4pPr indent="0" lvl="3" marL="1371600">
              <a:buNone/>
              <a:defRPr sz="2000"/>
            </a:lvl4pPr>
            <a:lvl5pPr indent="0" lvl="4" marL="1828800">
              <a:buNone/>
              <a:defRPr sz="2000"/>
            </a:lvl5pPr>
            <a:lvl6pPr indent="0" lvl="5" marL="2286000">
              <a:buNone/>
              <a:defRPr sz="2000"/>
            </a:lvl6pPr>
            <a:lvl7pPr indent="0" lvl="6" marL="2743200">
              <a:buNone/>
              <a:defRPr sz="2000"/>
            </a:lvl7pPr>
            <a:lvl8pPr indent="0" lvl="7" marL="3200400">
              <a:buNone/>
              <a:defRPr sz="2000"/>
            </a:lvl8pPr>
            <a:lvl9pPr indent="0" lvl="8" marL="3657600">
              <a:buNone/>
              <a:defRPr sz="2000"/>
            </a:lvl9pPr>
          </a:lstStyle>
          <a:p/>
        </p:txBody>
      </p:sp>
      <p:sp>
        <p:nvSpPr>
          <p:cNvPr hidden="false" id="17" name="Shape 17"/>
          <p:cNvSpPr txBox="true"/>
          <p:nvPr isPhoto="false">
            <p:ph idx="2" type="body"/>
          </p:nvPr>
        </p:nvSpPr>
        <p:spPr>
          <a:xfrm flipH="false" flipV="false" rot="0"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defPPr/>
            <a:lvl1pPr indent="0" lvl="0" marL="0">
              <a:buNone/>
              <a:defRPr sz="1400"/>
            </a:lvl1pPr>
            <a:lvl2pPr indent="0" lvl="1" marL="457200">
              <a:buNone/>
              <a:defRPr sz="1200"/>
            </a:lvl2pPr>
            <a:lvl3pPr indent="0" lvl="2" marL="914400">
              <a:buNone/>
              <a:defRPr sz="1000"/>
            </a:lvl3pPr>
            <a:lvl4pPr indent="0" lvl="3" marL="1371600">
              <a:buNone/>
              <a:defRPr sz="900"/>
            </a:lvl4pPr>
            <a:lvl5pPr indent="0" lvl="4" marL="1828800">
              <a:buNone/>
              <a:defRPr sz="900"/>
            </a:lvl5pPr>
            <a:lvl6pPr indent="0" lvl="5" marL="2286000">
              <a:buNone/>
              <a:defRPr sz="900"/>
            </a:lvl6pPr>
            <a:lvl7pPr indent="0" lvl="6" marL="2743200">
              <a:buNone/>
              <a:defRPr sz="900"/>
            </a:lvl7pPr>
            <a:lvl8pPr indent="0" lvl="7" marL="3200400">
              <a:buNone/>
              <a:defRPr sz="900"/>
            </a:lvl8pPr>
            <a:lvl9pPr indent="0" lvl="8" marL="3657600">
              <a:buNone/>
              <a:defRPr sz="900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hidden="false" id="18" name="Shape 18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1/27/13</a:t>
            </a:r>
          </a:p>
        </p:txBody>
      </p:sp>
      <p:sp>
        <p:nvSpPr>
          <p:cNvPr hidden="false" id="19" name="Shape 19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20" name="Shape 20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42129D51-9273-442C-9640-4382257B10D7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vertTx">
  <p:cSld name="Title and Vertical Text">
    <p:spTree>
      <p:nvGrpSpPr>
        <p:cNvPr hidden="false" id="53" name="GroupShape 53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54" name="Shape 54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Click to edit Master title style</a:t>
            </a:r>
          </a:p>
        </p:txBody>
      </p:sp>
      <p:sp>
        <p:nvSpPr>
          <p:cNvPr hidden="false" id="55" name="Shape 55"/>
          <p:cNvSpPr txBox="true"/>
          <p:nvPr isPhoto="false">
            <p:ph idx="1" type="body"/>
          </p:nvPr>
        </p:nvSpPr>
        <p:spPr>
          <a:prstGeom prst="rect">
            <a:avLst/>
          </a:prstGeom>
        </p:spPr>
        <p:txBody>
          <a:bodyPr vert="eaVert"/>
          <a:lstStyle>
            <a:defPPr/>
            <a:lvl1pPr lvl="0"/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hidden="false" id="56" name="Shape 56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1/27/13</a:t>
            </a:r>
          </a:p>
        </p:txBody>
      </p:sp>
      <p:sp>
        <p:nvSpPr>
          <p:cNvPr hidden="false" id="57" name="Shape 57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58" name="Shape 58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FFBAF5B9-36EF-49AA-B539-D2A68B7A28E5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vertTitleAndTx">
  <p:cSld name="Vertical Title and Text">
    <p:spTree>
      <p:nvGrpSpPr>
        <p:cNvPr hidden="false" id="47" name="GroupShape 47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48" name="Shape 48"/>
          <p:cNvSpPr txBox="true"/>
          <p:nvPr isPhoto="false">
            <p:ph idx="0" type="title"/>
          </p:nvPr>
        </p:nvSpPr>
        <p:spPr>
          <a:xfrm flipH="false" flipV="false" rot="0"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>
            <a:defPPr/>
            <a:lvl1pPr lvl="0"/>
          </a:lstStyle>
          <a:p>
            <a:r>
              <a:t>Click to edit Master title style</a:t>
            </a:r>
          </a:p>
        </p:txBody>
      </p:sp>
      <p:sp>
        <p:nvSpPr>
          <p:cNvPr hidden="false" id="49" name="Shape 49"/>
          <p:cNvSpPr txBox="true"/>
          <p:nvPr isPhoto="false">
            <p:ph idx="1" type="body"/>
          </p:nvPr>
        </p:nvSpPr>
        <p:spPr>
          <a:xfrm flipH="false" flipV="false" rot="0"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>
            <a:defPPr/>
            <a:lvl1pPr lvl="0"/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hidden="false" id="50" name="Shape 50"/>
          <p:cNvSpPr txBox="true"/>
          <p:nvPr isPhoto="false">
            <p:ph idx="10" type="dt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r>
              <a:t>1/27/13</a:t>
            </a:r>
          </a:p>
        </p:txBody>
      </p:sp>
      <p:sp>
        <p:nvSpPr>
          <p:cNvPr hidden="false" id="51" name="Shape 51"/>
          <p:cNvSpPr txBox="true"/>
          <p:nvPr isPhoto="false">
            <p:ph idx="11" type="ftr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/>
        </p:txBody>
      </p:sp>
      <p:sp>
        <p:nvSpPr>
          <p:cNvPr hidden="false" id="52" name="Shape 52"/>
          <p:cNvSpPr txBox="true"/>
          <p:nvPr isPhoto="false">
            <p:ph idx="12" type="sldNum"/>
          </p:nvPr>
        </p:nvSpPr>
        <p:spPr>
          <a:prstGeom prst="rect">
            <a:avLst/>
          </a:prstGeom>
        </p:spPr>
        <p:txBody>
          <a:bodyPr/>
          <a:lstStyle>
            <a:defPPr/>
            <a:lvl1pPr lvl="0"/>
          </a:lstStyle>
          <a:p>
            <a:fld id="{501C32EF-6E01-4F52-ADC2-0D33CA8264B9}" type="slidenum">
              <a:t>&lt;#&gt;</a:t>
            </a:fld>
          </a:p>
        </p:txBody>
      </p:sp>
    </p:spTree>
  </p:cSld>
</p:sldLayout>
</file>

<file path=ppt/slideMasters/_rels/slideMaster1.xml.rels><?xml version="1.0" encoding="UTF-8" standalone="no" ?>
<Relationships xmlns="http://schemas.openxmlformats.org/package/2006/relationships">
  <Relationship Id="rId6" Target="../slideLayouts/slideLayout5.xml" Type="http://schemas.openxmlformats.org/officeDocument/2006/relationships/slideLayout"/>
  <Relationship Id="rId1" Target="../theme/theme1.xml" Type="http://schemas.openxmlformats.org/officeDocument/2006/relationships/theme"/>
  <Relationship Id="rId12" Target="../slideLayouts/slideLayout11.xml" Type="http://schemas.openxmlformats.org/officeDocument/2006/relationships/slideLayout"/>
  <Relationship Id="rId10" Target="../slideLayouts/slideLayout9.xml" Type="http://schemas.openxmlformats.org/officeDocument/2006/relationships/slideLayout"/>
  <Relationship Id="rId2" Target="../slideLayouts/slideLayout1.xml" Type="http://schemas.openxmlformats.org/officeDocument/2006/relationships/slideLayout"/>
  <Relationship Id="rId3" Target="../slideLayouts/slideLayout2.xml" Type="http://schemas.openxmlformats.org/officeDocument/2006/relationships/slideLayout"/>
  <Relationship Id="rId8" Target="../slideLayouts/slideLayout7.xml" Type="http://schemas.openxmlformats.org/officeDocument/2006/relationships/slideLayout"/>
  <Relationship Id="rId4" Target="../slideLayouts/slideLayout3.xml" Type="http://schemas.openxmlformats.org/officeDocument/2006/relationships/slideLayout"/>
  <Relationship Id="rId11" Target="../slideLayouts/slideLayout10.xml" Type="http://schemas.openxmlformats.org/officeDocument/2006/relationships/slideLayout"/>
  <Relationship Id="rId9" Target="../slideLayouts/slideLayout8.xml" Type="http://schemas.openxmlformats.org/officeDocument/2006/relationships/slideLayout"/>
  <Relationship Id="rId7" Target="../slideLayouts/slideLayout6.xml" Type="http://schemas.openxmlformats.org/officeDocument/2006/relationships/slideLayout"/>
  <Relationship Id="rId5" Target="../slideLayouts/slideLayout4.xml" Type="http://schemas.openxmlformats.org/officeDocument/2006/relationships/slideLayout"/>
</Relationships>

</file>

<file path=ppt/slideMasters/slideMaster1.xml><?xml version="1.0" encoding="utf-8"?>
<p:sldMaster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>
  <p:cSld name="">
    <p:bg>
      <p:bgRef idx="1001">
        <a:schemeClr val="bg1"/>
      </p:bgRef>
    </p:bg>
    <p:spTree>
      <p:nvGrpSpPr>
        <p:cNvPr hidden="false" id="1" name="GroupShape 1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2" name="Shape 2"/>
          <p:cNvSpPr txBox="true"/>
          <p:nvPr isPhoto="false">
            <p:ph idx="0" type="title"/>
          </p:nvPr>
        </p:nvSpPr>
        <p:spPr>
          <a:xfrm flipH="false" flipV="false" rot="0">
            <a:off x="457200" y="274638"/>
            <a:ext cx="8229600" cy="1143000"/>
          </a:xfrm>
          <a:prstGeom prst="rect">
            <a:avLst/>
          </a:prstGeom>
        </p:spPr>
        <p:txBody>
          <a:bodyPr anchor="ctr" bIns="45720" lIns="91440" rIns="91440" tIns="45720" vert="horz">
            <a:normAutofit fontScale="100%" lnSpcReduction="0%"/>
          </a:bodyPr>
          <a:p>
            <a:r>
              <a:t>Click to edit Master title style</a:t>
            </a:r>
          </a:p>
        </p:txBody>
      </p:sp>
      <p:sp>
        <p:nvSpPr>
          <p:cNvPr hidden="false" id="3" name="Shape 3"/>
          <p:cNvSpPr txBox="true"/>
          <p:nvPr isPhoto="false">
            <p:ph idx="1" type="body"/>
          </p:nvPr>
        </p:nvSpPr>
        <p:spPr>
          <a:xfrm flipH="false" flipV="false" rot="0">
            <a:off x="457200" y="1600200"/>
            <a:ext cx="8229600" cy="4525963"/>
          </a:xfrm>
          <a:prstGeom prst="rect">
            <a:avLst/>
          </a:prstGeom>
        </p:spPr>
        <p:txBody>
          <a:bodyPr bIns="45720" lIns="91440" rIns="91440" tIns="45720" vert="horz">
            <a:normAutofit fontScale="100%" lnSpcReduction="0%"/>
          </a:bodyPr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hidden="false" id="4" name="Shape 4"/>
          <p:cNvSpPr txBox="true"/>
          <p:nvPr isPhoto="false">
            <p:ph idx="2" type="dt"/>
          </p:nvPr>
        </p:nvSpPr>
        <p:spPr>
          <a:xfrm flipH="false" flipV="false" rot="0">
            <a:off x="457200" y="6356350"/>
            <a:ext cx="2133600" cy="365125"/>
          </a:xfrm>
          <a:prstGeom prst="rect">
            <a:avLst/>
          </a:prstGeom>
        </p:spPr>
        <p:txBody>
          <a:bodyPr anchor="ctr" bIns="45720" lIns="91440" rIns="91440" tIns="45720" vert="horz"/>
          <a:lstStyle>
            <a:defPPr/>
            <a:lvl1pPr algn="l" indent="0" lvl="0" marL="0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algn="l" indent="0" lvl="1" marL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indent="0" lvl="2" marL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indent="0" lvl="3" marL="13716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indent="0" lvl="4" marL="18288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indent="0" lvl="5" marL="22860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indent="0" lvl="6" marL="2743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indent="0" lvl="7" marL="3200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indent="0" lvl="8" marL="36576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1/27/13</a:t>
            </a:r>
          </a:p>
        </p:txBody>
      </p:sp>
      <p:sp>
        <p:nvSpPr>
          <p:cNvPr hidden="false" id="5" name="Shape 5"/>
          <p:cNvSpPr txBox="true"/>
          <p:nvPr isPhoto="false">
            <p:ph idx="3" type="ftr"/>
          </p:nvPr>
        </p:nvSpPr>
        <p:spPr>
          <a:xfrm flipH="false" flipV="false" rot="0">
            <a:off x="3124200" y="6356350"/>
            <a:ext cx="2895600" cy="365125"/>
          </a:xfrm>
          <a:prstGeom prst="rect">
            <a:avLst/>
          </a:prstGeom>
        </p:spPr>
        <p:txBody>
          <a:bodyPr anchor="ctr" bIns="45720" lIns="91440" rIns="91440" tIns="45720" vert="horz"/>
          <a:lstStyle>
            <a:defPPr/>
            <a:lvl1pPr algn="ctr" indent="0" lvl="0" marL="0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algn="l" indent="0" lvl="1" marL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indent="0" lvl="2" marL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indent="0" lvl="3" marL="13716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indent="0" lvl="4" marL="18288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indent="0" lvl="5" marL="22860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indent="0" lvl="6" marL="2743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indent="0" lvl="7" marL="3200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indent="0" lvl="8" marL="36576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/>
        </p:txBody>
      </p:sp>
      <p:sp>
        <p:nvSpPr>
          <p:cNvPr hidden="false" id="6" name="Shape 6"/>
          <p:cNvSpPr txBox="true"/>
          <p:nvPr isPhoto="false">
            <p:ph idx="4" type="sldNum"/>
          </p:nvPr>
        </p:nvSpPr>
        <p:spPr>
          <a:xfrm flipH="false" flipV="false" rot="0">
            <a:off x="6553200" y="6356350"/>
            <a:ext cx="2133600" cy="365125"/>
          </a:xfrm>
          <a:prstGeom prst="rect">
            <a:avLst/>
          </a:prstGeom>
        </p:spPr>
        <p:txBody>
          <a:bodyPr anchor="ctr" bIns="45720" lIns="91440" rIns="91440" tIns="45720" vert="horz"/>
          <a:lstStyle>
            <a:defPPr/>
            <a:lvl1pPr algn="r" indent="0" lvl="0" marL="0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algn="l" indent="0" lvl="1" marL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indent="0" lvl="2" marL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indent="0" lvl="3" marL="13716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indent="0" lvl="4" marL="18288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indent="0" lvl="5" marL="22860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indent="0" lvl="6" marL="2743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indent="0" lvl="7" marL="3200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indent="0" lvl="8" marL="36576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13EB709-6D8B-4094-A4A3-26FDD8A03468}" type="slidenum">
              <a:t>&lt;#&gt;</a:t>
            </a:fld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defPPr/>
      <a:lvl1pPr algn="ctr" lvl="0"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defPPr/>
      <a:lvl1pPr algn="l" indent="-342900" lvl="0" marL="342900"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algn="l" indent="-285750" lvl="1" marL="742950"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algn="l" indent="-228600" lvl="2" marL="1143000"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algn="l" indent="-228600" lvl="3" marL="1600200"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algn="l" indent="-228600" lvl="4" marL="2057400"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algn="l" indent="-228600" lvl="5" marL="2514600"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algn="l" indent="-228600" lvl="6" marL="2971800"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algn="l" indent="-228600" lvl="7" marL="3429000"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algn="l" indent="-228600" lvl="8" marL="3886200"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/>
      <a:lvl1pPr algn="l" indent="0" lvl="0" marL="0">
        <a:defRPr sz="1800">
          <a:latin typeface="+mn-lt"/>
          <a:ea typeface="+mn-ea"/>
          <a:cs typeface="+mn-cs"/>
        </a:defRPr>
      </a:lvl1pPr>
      <a:lvl2pPr algn="l" indent="0" lvl="1" marL="457200">
        <a:defRPr sz="1800">
          <a:latin typeface="+mn-lt"/>
          <a:ea typeface="+mn-ea"/>
          <a:cs typeface="+mn-cs"/>
        </a:defRPr>
      </a:lvl2pPr>
      <a:lvl3pPr algn="l" indent="0" lvl="2" marL="914400">
        <a:defRPr sz="1800">
          <a:latin typeface="+mn-lt"/>
          <a:ea typeface="+mn-ea"/>
          <a:cs typeface="+mn-cs"/>
        </a:defRPr>
      </a:lvl3pPr>
      <a:lvl4pPr algn="l" indent="0" lvl="3" marL="1371600">
        <a:defRPr sz="1800">
          <a:latin typeface="+mn-lt"/>
          <a:ea typeface="+mn-ea"/>
          <a:cs typeface="+mn-cs"/>
        </a:defRPr>
      </a:lvl4pPr>
      <a:lvl5pPr algn="l" indent="0" lvl="4" marL="1828800">
        <a:defRPr sz="1800">
          <a:latin typeface="+mn-lt"/>
          <a:ea typeface="+mn-ea"/>
          <a:cs typeface="+mn-cs"/>
        </a:defRPr>
      </a:lvl5pPr>
      <a:lvl6pPr algn="l" indent="0" lvl="5" marL="2286000">
        <a:defRPr sz="1800">
          <a:latin typeface="+mn-lt"/>
          <a:ea typeface="+mn-ea"/>
          <a:cs typeface="+mn-cs"/>
        </a:defRPr>
      </a:lvl6pPr>
      <a:lvl7pPr algn="l" indent="0" lvl="6" marL="2743200">
        <a:defRPr sz="1800">
          <a:latin typeface="+mn-lt"/>
          <a:ea typeface="+mn-ea"/>
          <a:cs typeface="+mn-cs"/>
        </a:defRPr>
      </a:lvl7pPr>
      <a:lvl8pPr algn="l" indent="0" lvl="7" marL="3200400">
        <a:defRPr sz="1800">
          <a:latin typeface="+mn-lt"/>
          <a:ea typeface="+mn-ea"/>
          <a:cs typeface="+mn-cs"/>
        </a:defRPr>
      </a:lvl8pPr>
      <a:lvl9pPr algn="l" indent="0" lvl="8" marL="3657600">
        <a:defRPr sz="1800"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 ?>
<Relationships xmlns="http://schemas.openxmlformats.org/package/2006/relationships">
  <Relationship Id="rId1" Target="../slideLayouts/slideLayout6.xml" Type="http://schemas.openxmlformats.org/officeDocument/2006/relationships/slideLayout"/>
</Relationships>

</file>

<file path=ppt/slides/_rels/slide2.xml.rels><?xml version="1.0" encoding="UTF-8" standalone="no" ?>
<Relationships xmlns="http://schemas.openxmlformats.org/package/2006/relationships">
  <Relationship Id="rId1" Target="../slideLayouts/slideLayout6.xml" Type="http://schemas.openxmlformats.org/officeDocument/2006/relationships/slideLayout"/>
</Relationships>

</file>

<file path=ppt/slides/_rels/slide3.xml.rels><?xml version="1.0" encoding="UTF-8" standalone="no" ?>
<Relationships xmlns="http://schemas.openxmlformats.org/package/2006/relationships">
  <Relationship Id="rId1" Target="../slideLayouts/slideLayout6.xml" Type="http://schemas.openxmlformats.org/officeDocument/2006/relationships/slideLayout"/>
</Relationships>

</file>

<file path=ppt/slides/_rels/slide4.xml.rels><?xml version="1.0" encoding="UTF-8" standalone="no" ?>
<Relationships xmlns="http://schemas.openxmlformats.org/package/2006/relationships">
  <Relationship Id="rId1" Target="../slideLayouts/slideLayout6.xml" Type="http://schemas.openxmlformats.org/officeDocument/2006/relationships/slideLayout"/>
</Relationships>

</file>

<file path=ppt/slides/_rels/slide5.xml.rels><?xml version="1.0" encoding="UTF-8" standalone="no" ?>
<Relationships xmlns="http://schemas.openxmlformats.org/package/2006/relationships">
  <Relationship Id="rId1" Target="../slideLayouts/slideLayout6.xml" Type="http://schemas.openxmlformats.org/officeDocument/2006/relationships/slideLayout"/>
</Relationships>

</file>

<file path=ppt/slides/_rels/slide6.xml.rels><?xml version="1.0" encoding="UTF-8" standalone="no" ?>
<Relationships xmlns="http://schemas.openxmlformats.org/package/2006/relationships">
  <Relationship Id="rId1" Target="../slideLayouts/slideLayout6.xml" Type="http://schemas.openxmlformats.org/officeDocument/2006/relationships/slideLayout"/>
</Relationships>

</file>

<file path=ppt/slides/_rels/slide7.xml.rels><?xml version="1.0" encoding="UTF-8" standalone="no" ?>
<Relationships xmlns="http://schemas.openxmlformats.org/package/2006/relationships">
  <Relationship Id="rId1" Target="../slideLayouts/slideLayout6.xml" Type="http://schemas.openxmlformats.org/officeDocument/2006/relationships/slideLayout"/>
</Relationships>

</file>

<file path=ppt/slides/_rels/slide8.xml.rels><?xml version="1.0" encoding="UTF-8" standalone="no" ?>
<Relationships xmlns="http://schemas.openxmlformats.org/package/2006/relationships">
  <Relationship Id="rId1" Target="../slideLayouts/slideLayout6.xml" Type="http://schemas.openxmlformats.org/officeDocument/2006/relationships/slideLayout"/>
</Relationships>

</file>

<file path=ppt/slides/slide1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76" name="GroupShape 76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77" name="Shape 77"/>
          <p:cNvSpPr txBox="false"/>
          <p:nvPr isPhoto="false"/>
        </p:nvSpPr>
        <p:spPr>
          <a:xfrm flipH="false" flipV="false" rot="0">
            <a:off x="0" y="0"/>
            <a:ext cx="12192609" cy="6858000"/>
          </a:xfrm>
          <a:prstGeom prst="roundRect">
            <a:avLst>
              <a:gd fmla="val 0" name="adj"/>
            </a:avLst>
          </a:prstGeom>
          <a:solidFill>
            <a:srgbClr val="133959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78" name="Shape 78"/>
          <p:cNvSpPr txBox="false"/>
          <p:nvPr isPhoto="false"/>
        </p:nvSpPr>
        <p:spPr>
          <a:xfrm flipH="false" flipV="false" rot="0">
            <a:off x="0" y="6455664"/>
            <a:ext cx="12192609" cy="402335"/>
          </a:xfrm>
          <a:prstGeom prst="roundRect">
            <a:avLst>
              <a:gd fmla="val 0" name="adj"/>
            </a:avLst>
          </a:prstGeom>
          <a:solidFill>
            <a:srgbClr val="0E2B44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79" name="Shape 79"/>
          <p:cNvSpPr txBox="true"/>
          <p:nvPr isPhoto="false"/>
        </p:nvSpPr>
        <p:spPr>
          <a:xfrm flipH="false" flipV="false" rot="0">
            <a:off x="502919" y="6537960"/>
            <a:ext cx="11155680" cy="274318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/>
            <a:r>
              <a:rPr b="false" i="false" sz="800">
                <a:solidFill>
                  <a:srgbClr val="A9BDD1"/>
                </a:solidFill>
                <a:latin typeface="Arial"/>
                <a:ea typeface="Arial"/>
                <a:cs typeface="Arial"/>
              </a:rPr>
              <a:t>Продажа товаров • Группа 3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80" name="Shape 80"/>
          <p:cNvSpPr txBox="false"/>
          <p:nvPr isPhoto="false"/>
        </p:nvSpPr>
        <p:spPr>
          <a:xfrm flipH="false" flipV="false" rot="0">
            <a:off x="502919" y="1188720"/>
            <a:ext cx="1463038" cy="41147"/>
          </a:xfrm>
          <a:prstGeom prst="roundRect">
            <a:avLst>
              <a:gd fmla="val 50000" name="adj"/>
            </a:avLst>
          </a:prstGeom>
          <a:solidFill>
            <a:srgbClr val="5BC4B1"/>
          </a:solidFill>
          <a:ln>
            <a:noFill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81" name="Shape 81"/>
          <p:cNvSpPr txBox="true"/>
          <p:nvPr isPhoto="false"/>
        </p:nvSpPr>
        <p:spPr>
          <a:xfrm flipH="false" flipV="false" rot="0">
            <a:off x="502919" y="777240"/>
            <a:ext cx="10058400" cy="32004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/>
            <a:r>
              <a:rPr b="true" i="false" sz="1300">
                <a:solidFill>
                  <a:srgbClr val="5BC4B1"/>
                </a:solidFill>
                <a:latin typeface="Arial"/>
                <a:ea typeface="Arial"/>
                <a:cs typeface="Arial"/>
              </a:rPr>
              <a:t>ПРОЕКТНАЯ ДЕЯТЕЛЬНОСТЬ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82" name="Shape 82"/>
          <p:cNvSpPr txBox="true"/>
          <p:nvPr isPhoto="false"/>
        </p:nvSpPr>
        <p:spPr>
          <a:xfrm flipH="false" flipV="false" rot="0">
            <a:off x="502919" y="1600200"/>
            <a:ext cx="10789920" cy="173735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/>
            <a:r>
              <a:rPr b="true" i="false" sz="3100">
                <a:solidFill>
                  <a:srgbClr val="FFFFFF"/>
                </a:solidFill>
                <a:latin typeface="Arial"/>
                <a:ea typeface="Arial"/>
                <a:cs typeface="Arial"/>
              </a:rPr>
              <a:t>Жизненный цикл маркированной обуви: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 indent="0" marL="0"/>
            <a:r>
              <a:rPr b="true" i="false" sz="3100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продажа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83" name="Shape 83"/>
          <p:cNvSpPr txBox="true"/>
          <p:nvPr isPhoto="false"/>
        </p:nvSpPr>
        <p:spPr>
          <a:xfrm flipH="false" flipV="false" rot="0">
            <a:off x="502919" y="3429000"/>
            <a:ext cx="10789920" cy="41147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/>
            <a:r>
              <a:rPr b="false" i="false" sz="1900">
                <a:solidFill>
                  <a:srgbClr val="C9DDEE"/>
                </a:solidFill>
                <a:latin typeface="Arial"/>
                <a:ea typeface="Arial"/>
                <a:cs typeface="Arial"/>
              </a:rPr>
              <a:t>Информационное взаимодействие • процесс продажи • структура данных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84" name="Shape 84"/>
          <p:cNvSpPr txBox="true"/>
          <p:nvPr isPhoto="false"/>
        </p:nvSpPr>
        <p:spPr>
          <a:xfrm flipH="false" flipV="false" rot="0">
            <a:off x="502919" y="4434840"/>
            <a:ext cx="10972800" cy="36575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/>
            <a:r>
              <a:rPr b="true" i="false" sz="1300">
                <a:solidFill>
                  <a:srgbClr val="FFFFFF"/>
                </a:solidFill>
                <a:latin typeface="Arial"/>
                <a:ea typeface="Arial"/>
                <a:cs typeface="Arial"/>
              </a:rPr>
              <a:t>Наш участок: группа 1 «Импорт товаров» → группа 2 «Ядро маркировки» → группа 3 «Продажа товаров»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85" name="Shape 85"/>
          <p:cNvSpPr txBox="true"/>
          <p:nvPr isPhoto="false"/>
        </p:nvSpPr>
        <p:spPr>
          <a:xfrm flipH="false" flipV="false" rot="0">
            <a:off x="502919" y="4846320"/>
            <a:ext cx="10972800" cy="32004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/>
            <a:r>
              <a:rPr b="false" i="false" sz="1110">
                <a:solidFill>
                  <a:srgbClr val="D1E4F1"/>
                </a:solidFill>
                <a:latin typeface="Arial"/>
                <a:ea typeface="Arial"/>
                <a:cs typeface="Arial"/>
              </a:rPr>
              <a:t>Сценарий: реализация обуви конечному потребителю — физическому лицу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86" name="Shape 86"/>
          <p:cNvSpPr txBox="false"/>
          <p:nvPr isPhoto="false"/>
        </p:nvSpPr>
        <p:spPr>
          <a:xfrm flipH="false" flipV="false" rot="0">
            <a:off x="502919" y="5440680"/>
            <a:ext cx="3566159" cy="685800"/>
          </a:xfrm>
          <a:prstGeom prst="roundRect">
            <a:avLst>
              <a:gd fmla="val 14000" name="adj"/>
            </a:avLst>
          </a:prstGeom>
          <a:solidFill>
            <a:srgbClr val="1B4A6E"/>
          </a:solidFill>
          <a:ln w="12700">
            <a:solidFill>
              <a:srgbClr val="2E5F84"/>
            </a:solidFill>
            <a:prstDash val="solid"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87" name="Shape 87"/>
          <p:cNvSpPr txBox="true"/>
          <p:nvPr isPhoto="false"/>
        </p:nvSpPr>
        <p:spPr>
          <a:xfrm flipH="false" flipV="false" rot="0">
            <a:off x="685800" y="5577840"/>
            <a:ext cx="3291840" cy="27432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/>
            <a:r>
              <a:rPr b="true" i="false" sz="1200">
                <a:solidFill>
                  <a:srgbClr val="FFFFFF"/>
                </a:solidFill>
                <a:latin typeface="Arial"/>
                <a:ea typeface="Arial"/>
                <a:cs typeface="Arial"/>
              </a:rPr>
              <a:t>КМ и УПД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88" name="Shape 88"/>
          <p:cNvSpPr txBox="true"/>
          <p:nvPr isPhoto="false"/>
        </p:nvSpPr>
        <p:spPr>
          <a:xfrm flipH="false" flipV="false" rot="0">
            <a:off x="685800" y="5852160"/>
            <a:ext cx="3291840" cy="2286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/>
            <a:r>
              <a:rPr b="false" i="false" sz="900">
                <a:solidFill>
                  <a:srgbClr val="9FC4DC"/>
                </a:solidFill>
                <a:latin typeface="Arial"/>
                <a:ea typeface="Arial"/>
                <a:cs typeface="Arial"/>
              </a:rPr>
              <a:t>приёмка и сверка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89" name="Shape 89"/>
          <p:cNvSpPr txBox="false"/>
          <p:nvPr isPhoto="false"/>
        </p:nvSpPr>
        <p:spPr>
          <a:xfrm flipH="false" flipV="false" rot="0">
            <a:off x="4297680" y="5440680"/>
            <a:ext cx="3566159" cy="685800"/>
          </a:xfrm>
          <a:prstGeom prst="roundRect">
            <a:avLst>
              <a:gd fmla="val 14000" name="adj"/>
            </a:avLst>
          </a:prstGeom>
          <a:solidFill>
            <a:srgbClr val="1B4A6E"/>
          </a:solidFill>
          <a:ln w="12700">
            <a:solidFill>
              <a:srgbClr val="2E5F84"/>
            </a:solidFill>
            <a:prstDash val="solid"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90" name="Shape 90"/>
          <p:cNvSpPr txBox="true"/>
          <p:nvPr isPhoto="false"/>
        </p:nvSpPr>
        <p:spPr>
          <a:xfrm flipH="false" flipV="false" rot="0">
            <a:off x="4480560" y="5577840"/>
            <a:ext cx="3291840" cy="27432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/>
            <a:r>
              <a:rPr b="true" i="false" sz="1200">
                <a:solidFill>
                  <a:srgbClr val="FFFFFF"/>
                </a:solidFill>
                <a:latin typeface="Arial"/>
                <a:ea typeface="Arial"/>
                <a:cs typeface="Arial"/>
              </a:rPr>
              <a:t>Заказ и чек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91" name="Shape 91"/>
          <p:cNvSpPr txBox="true"/>
          <p:nvPr isPhoto="false"/>
        </p:nvSpPr>
        <p:spPr>
          <a:xfrm flipH="false" flipV="false" rot="0">
            <a:off x="4480560" y="5852160"/>
            <a:ext cx="3291840" cy="2286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/>
            <a:r>
              <a:rPr b="false" i="false" sz="900">
                <a:solidFill>
                  <a:srgbClr val="9FC4DC"/>
                </a:solidFill>
                <a:latin typeface="Arial"/>
                <a:ea typeface="Arial"/>
                <a:cs typeface="Arial"/>
              </a:rPr>
              <a:t>продажа физлицу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92" name="Shape 92"/>
          <p:cNvSpPr txBox="false"/>
          <p:nvPr isPhoto="false"/>
        </p:nvSpPr>
        <p:spPr>
          <a:xfrm flipH="false" flipV="false" rot="0">
            <a:off x="8092440" y="5440680"/>
            <a:ext cx="3566159" cy="685800"/>
          </a:xfrm>
          <a:prstGeom prst="roundRect">
            <a:avLst>
              <a:gd fmla="val 14000" name="adj"/>
            </a:avLst>
          </a:prstGeom>
          <a:solidFill>
            <a:srgbClr val="1B4A6E"/>
          </a:solidFill>
          <a:ln w="12700">
            <a:solidFill>
              <a:srgbClr val="2E5F84"/>
            </a:solidFill>
            <a:prstDash val="solid"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93" name="Shape 93"/>
          <p:cNvSpPr txBox="true"/>
          <p:nvPr isPhoto="false"/>
        </p:nvSpPr>
        <p:spPr>
          <a:xfrm flipH="false" flipV="false" rot="0">
            <a:off x="8275319" y="5577840"/>
            <a:ext cx="3291840" cy="27432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/>
            <a:r>
              <a:rPr b="true" i="false" sz="1200">
                <a:solidFill>
                  <a:srgbClr val="FFFFFF"/>
                </a:solidFill>
                <a:latin typeface="Arial"/>
                <a:ea typeface="Arial"/>
                <a:cs typeface="Arial"/>
              </a:rPr>
              <a:t>КМ → «Выбыл»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94" name="Shape 94"/>
          <p:cNvSpPr txBox="true"/>
          <p:nvPr isPhoto="false"/>
        </p:nvSpPr>
        <p:spPr>
          <a:xfrm flipH="false" flipV="false" rot="0">
            <a:off x="8275319" y="5852160"/>
            <a:ext cx="3291840" cy="2286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/>
            <a:r>
              <a:rPr b="false" i="false" sz="900">
                <a:solidFill>
                  <a:srgbClr val="9FC4DC"/>
                </a:solidFill>
                <a:latin typeface="Arial"/>
                <a:ea typeface="Arial"/>
                <a:cs typeface="Arial"/>
              </a:rPr>
              <a:t>подтверждение ядра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2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95" name="GroupShape 95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96" name="Shape 96"/>
          <p:cNvSpPr txBox="true"/>
          <p:nvPr isPhoto="false"/>
        </p:nvSpPr>
        <p:spPr>
          <a:xfrm flipH="false" flipV="false" rot="0">
            <a:off x="502919" y="292608"/>
            <a:ext cx="8229600" cy="27431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/>
            <a:r>
              <a:rPr b="true" i="false" sz="900">
                <a:solidFill>
                  <a:srgbClr val="67AE70"/>
                </a:solidFill>
                <a:latin typeface="Arial"/>
                <a:ea typeface="Arial"/>
                <a:cs typeface="Arial"/>
              </a:rPr>
              <a:t>ПОЛНЫЙ ЦИКЛ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97" name="Shape 97"/>
          <p:cNvSpPr txBox="true"/>
          <p:nvPr isPhoto="false"/>
        </p:nvSpPr>
        <p:spPr>
          <a:xfrm flipH="false" flipV="false" rot="0">
            <a:off x="502919" y="502919"/>
            <a:ext cx="10515600" cy="54864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/>
            <a:r>
              <a:rPr b="true" i="false" sz="2500">
                <a:solidFill>
                  <a:srgbClr val="163F5C"/>
                </a:solidFill>
                <a:latin typeface="Calibri"/>
                <a:ea typeface="Calibri"/>
                <a:cs typeface="Calibri"/>
              </a:rPr>
              <a:t>2. Процесс от начала до конца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98" name="Shape 98"/>
          <p:cNvSpPr txBox="true"/>
          <p:nvPr isPhoto="false"/>
        </p:nvSpPr>
        <p:spPr>
          <a:xfrm flipH="false" flipV="false" rot="0">
            <a:off x="502919" y="1042414"/>
            <a:ext cx="10881360" cy="365758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/>
            <a:r>
              <a:rPr b="false" i="false" sz="1100">
                <a:solidFill>
                  <a:srgbClr val="677278"/>
                </a:solidFill>
                <a:latin typeface="Arial"/>
                <a:ea typeface="Arial"/>
                <a:cs typeface="Arial"/>
              </a:rPr>
              <a:t>Этапы объединены в одну цепочку; жёлтым выделен участок, где работает группа «Продажа».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99" name="Shape 99"/>
          <p:cNvSpPr txBox="true"/>
          <p:nvPr isPhoto="false"/>
        </p:nvSpPr>
        <p:spPr>
          <a:xfrm flipH="false" flipV="false" rot="0">
            <a:off x="502919" y="6473952"/>
            <a:ext cx="5486400" cy="2286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/>
            <a:r>
              <a:rPr b="false" i="false" sz="800">
                <a:solidFill>
                  <a:srgbClr val="677278"/>
                </a:solidFill>
                <a:latin typeface="Arial"/>
                <a:ea typeface="Arial"/>
                <a:cs typeface="Arial"/>
              </a:rPr>
              <a:t>Продажа товаров • Группа 3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00" name="Shape 100"/>
          <p:cNvSpPr txBox="true"/>
          <p:nvPr isPhoto="false"/>
        </p:nvSpPr>
        <p:spPr>
          <a:xfrm flipH="false" flipV="false" rot="0">
            <a:off x="11247120" y="6455664"/>
            <a:ext cx="457200" cy="274318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r" indent="0" marL="0"/>
            <a:r>
              <a:rPr b="false" i="false" sz="900">
                <a:solidFill>
                  <a:srgbClr val="5C6767"/>
                </a:solidFill>
                <a:latin typeface="Calibri"/>
                <a:ea typeface="Calibri"/>
                <a:cs typeface="Calibri"/>
              </a:rPr>
              <a:t>2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01" name="Shape 101"/>
          <p:cNvSpPr txBox="false"/>
          <p:nvPr isPhoto="false"/>
        </p:nvSpPr>
        <p:spPr>
          <a:xfrm flipH="false" flipV="false" rot="0">
            <a:off x="429768" y="1691640"/>
            <a:ext cx="1197864" cy="1481328"/>
          </a:xfrm>
          <a:prstGeom prst="roundRect">
            <a:avLst>
              <a:gd fmla="val 12000" name="adj"/>
            </a:avLst>
          </a:prstGeom>
          <a:solidFill>
            <a:srgbClr val="E0EEFA"/>
          </a:solidFill>
          <a:ln w="12700">
            <a:solidFill>
              <a:srgbClr val="D5DDE6"/>
            </a:solidFill>
            <a:prstDash val="solid"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02" name="Shape 102"/>
          <p:cNvSpPr txBox="true"/>
          <p:nvPr isPhoto="false"/>
        </p:nvSpPr>
        <p:spPr>
          <a:xfrm flipH="false" flipV="false" rot="0">
            <a:off x="502919" y="1783079"/>
            <a:ext cx="1051560" cy="256032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/>
            <a:r>
              <a:rPr b="true" i="false" sz="1300">
                <a:solidFill>
                  <a:srgbClr val="5B9FD7"/>
                </a:solidFill>
                <a:latin typeface="Arial"/>
                <a:ea typeface="Arial"/>
                <a:cs typeface="Arial"/>
              </a:rPr>
              <a:t>1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03" name="Shape 103"/>
          <p:cNvSpPr txBox="true"/>
          <p:nvPr isPhoto="false"/>
        </p:nvSpPr>
        <p:spPr>
          <a:xfrm flipH="false" flipV="false" rot="0">
            <a:off x="502919" y="2075688"/>
            <a:ext cx="1051560" cy="100583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lnSpc>
                <a:spcPct val="105000"/>
              </a:lnSpc>
            </a:pPr>
            <a:r>
              <a:rPr b="true" i="false" sz="1000">
                <a:solidFill>
                  <a:srgbClr val="133959"/>
                </a:solidFill>
                <a:latin typeface="Arial"/>
                <a:ea typeface="Arial"/>
                <a:cs typeface="Arial"/>
              </a:rPr>
              <a:t>Подготовка импорта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04" name="Shape 104"/>
          <p:cNvSpPr txBox="true"/>
          <p:nvPr isPhoto="false"/>
        </p:nvSpPr>
        <p:spPr>
          <a:xfrm flipH="false" flipV="false" rot="0">
            <a:off x="1591056" y="2258568"/>
            <a:ext cx="146304" cy="27432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/>
            <a:r>
              <a:rPr b="true" i="false" sz="1300">
                <a:solidFill>
                  <a:srgbClr val="677278"/>
                </a:solidFill>
                <a:latin typeface="Arial"/>
                <a:ea typeface="Arial"/>
                <a:cs typeface="Arial"/>
              </a:rPr>
              <a:t>→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05" name="Shape 105"/>
          <p:cNvSpPr txBox="false"/>
          <p:nvPr isPhoto="false"/>
        </p:nvSpPr>
        <p:spPr>
          <a:xfrm flipH="false" flipV="false" rot="0">
            <a:off x="1691640" y="1691640"/>
            <a:ext cx="1197863" cy="1481328"/>
          </a:xfrm>
          <a:prstGeom prst="roundRect">
            <a:avLst>
              <a:gd fmla="val 12000" name="adj"/>
            </a:avLst>
          </a:prstGeom>
          <a:solidFill>
            <a:srgbClr val="E8F5EA"/>
          </a:solidFill>
          <a:ln w="12700">
            <a:solidFill>
              <a:srgbClr val="D5DDE6"/>
            </a:solidFill>
            <a:prstDash val="solid"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06" name="Shape 106"/>
          <p:cNvSpPr txBox="true"/>
          <p:nvPr isPhoto="false"/>
        </p:nvSpPr>
        <p:spPr>
          <a:xfrm flipH="false" flipV="false" rot="0">
            <a:off x="1764792" y="1783079"/>
            <a:ext cx="1051560" cy="256032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/>
            <a:r>
              <a:rPr b="true" i="false" sz="1300">
                <a:solidFill>
                  <a:srgbClr val="5B9FD7"/>
                </a:solidFill>
                <a:latin typeface="Arial"/>
                <a:ea typeface="Arial"/>
                <a:cs typeface="Arial"/>
              </a:rPr>
              <a:t>2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07" name="Shape 107"/>
          <p:cNvSpPr txBox="true"/>
          <p:nvPr isPhoto="false"/>
        </p:nvSpPr>
        <p:spPr>
          <a:xfrm flipH="false" flipV="false" rot="0">
            <a:off x="1764792" y="2075688"/>
            <a:ext cx="1051560" cy="100583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lnSpc>
                <a:spcPct val="105000"/>
              </a:lnSpc>
            </a:pPr>
            <a:r>
              <a:rPr b="true" i="false" sz="1000">
                <a:solidFill>
                  <a:srgbClr val="133959"/>
                </a:solidFill>
                <a:latin typeface="Arial"/>
                <a:ea typeface="Arial"/>
                <a:cs typeface="Arial"/>
              </a:rPr>
              <a:t>Заказ КМ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08" name="Shape 108"/>
          <p:cNvSpPr txBox="true"/>
          <p:nvPr isPhoto="false"/>
        </p:nvSpPr>
        <p:spPr>
          <a:xfrm flipH="false" flipV="false" rot="0">
            <a:off x="2852928" y="2258568"/>
            <a:ext cx="146304" cy="27432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/>
            <a:r>
              <a:rPr b="true" i="false" sz="1300">
                <a:solidFill>
                  <a:srgbClr val="677278"/>
                </a:solidFill>
                <a:latin typeface="Arial"/>
                <a:ea typeface="Arial"/>
                <a:cs typeface="Arial"/>
              </a:rPr>
              <a:t>→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09" name="Shape 109"/>
          <p:cNvSpPr txBox="false"/>
          <p:nvPr isPhoto="false"/>
        </p:nvSpPr>
        <p:spPr>
          <a:xfrm flipH="false" flipV="false" rot="0">
            <a:off x="2953512" y="1691640"/>
            <a:ext cx="1197864" cy="1481328"/>
          </a:xfrm>
          <a:prstGeom prst="roundRect">
            <a:avLst>
              <a:gd fmla="val 12000" name="adj"/>
            </a:avLst>
          </a:prstGeom>
          <a:solidFill>
            <a:srgbClr val="E0EEFA"/>
          </a:solidFill>
          <a:ln w="12700">
            <a:solidFill>
              <a:srgbClr val="D5DDE6"/>
            </a:solidFill>
            <a:prstDash val="solid"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10" name="Shape 110"/>
          <p:cNvSpPr txBox="true"/>
          <p:nvPr isPhoto="false"/>
        </p:nvSpPr>
        <p:spPr>
          <a:xfrm flipH="false" flipV="false" rot="0">
            <a:off x="3026664" y="1783079"/>
            <a:ext cx="1051559" cy="256032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/>
            <a:r>
              <a:rPr b="true" i="false" sz="1300">
                <a:solidFill>
                  <a:srgbClr val="5B9FD7"/>
                </a:solidFill>
                <a:latin typeface="Arial"/>
                <a:ea typeface="Arial"/>
                <a:cs typeface="Arial"/>
              </a:rPr>
              <a:t>3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11" name="Shape 111"/>
          <p:cNvSpPr txBox="true"/>
          <p:nvPr isPhoto="false"/>
        </p:nvSpPr>
        <p:spPr>
          <a:xfrm flipH="false" flipV="false" rot="0">
            <a:off x="3026664" y="2075688"/>
            <a:ext cx="1051559" cy="100583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lnSpc>
                <a:spcPct val="105000"/>
              </a:lnSpc>
            </a:pPr>
            <a:r>
              <a:rPr b="true" i="false" sz="1000">
                <a:solidFill>
                  <a:srgbClr val="133959"/>
                </a:solidFill>
                <a:latin typeface="Arial"/>
                <a:ea typeface="Arial"/>
                <a:cs typeface="Arial"/>
              </a:rPr>
              <a:t>Нанесение и агрегация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12" name="Shape 112"/>
          <p:cNvSpPr txBox="true"/>
          <p:nvPr isPhoto="false"/>
        </p:nvSpPr>
        <p:spPr>
          <a:xfrm flipH="false" flipV="false" rot="0">
            <a:off x="4114800" y="2258568"/>
            <a:ext cx="146303" cy="27432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/>
            <a:r>
              <a:rPr b="true" i="false" sz="1300">
                <a:solidFill>
                  <a:srgbClr val="677278"/>
                </a:solidFill>
                <a:latin typeface="Arial"/>
                <a:ea typeface="Arial"/>
                <a:cs typeface="Arial"/>
              </a:rPr>
              <a:t>→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13" name="Shape 113"/>
          <p:cNvSpPr txBox="false"/>
          <p:nvPr isPhoto="false"/>
        </p:nvSpPr>
        <p:spPr>
          <a:xfrm flipH="false" flipV="false" rot="0">
            <a:off x="4215384" y="1691640"/>
            <a:ext cx="1197864" cy="1481328"/>
          </a:xfrm>
          <a:prstGeom prst="roundRect">
            <a:avLst>
              <a:gd fmla="val 12000" name="adj"/>
            </a:avLst>
          </a:prstGeom>
          <a:solidFill>
            <a:srgbClr val="E8F5EA"/>
          </a:solidFill>
          <a:ln w="12700">
            <a:solidFill>
              <a:srgbClr val="D5DDE6"/>
            </a:solidFill>
            <a:prstDash val="solid"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14" name="Shape 114"/>
          <p:cNvSpPr txBox="true"/>
          <p:nvPr isPhoto="false"/>
        </p:nvSpPr>
        <p:spPr>
          <a:xfrm flipH="false" flipV="false" rot="0">
            <a:off x="4288536" y="1783079"/>
            <a:ext cx="1051559" cy="256032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/>
            <a:r>
              <a:rPr b="true" i="false" sz="1300">
                <a:solidFill>
                  <a:srgbClr val="5B9FD7"/>
                </a:solidFill>
                <a:latin typeface="Arial"/>
                <a:ea typeface="Arial"/>
                <a:cs typeface="Arial"/>
              </a:rPr>
              <a:t>4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15" name="Shape 115"/>
          <p:cNvSpPr txBox="true"/>
          <p:nvPr isPhoto="false"/>
        </p:nvSpPr>
        <p:spPr>
          <a:xfrm flipH="false" flipV="false" rot="0">
            <a:off x="4288536" y="2075688"/>
            <a:ext cx="1051559" cy="100583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lnSpc>
                <a:spcPct val="105000"/>
              </a:lnSpc>
            </a:pPr>
            <a:r>
              <a:rPr b="true" i="false" sz="1000">
                <a:solidFill>
                  <a:srgbClr val="133959"/>
                </a:solidFill>
                <a:latin typeface="Arial"/>
                <a:ea typeface="Arial"/>
                <a:cs typeface="Arial"/>
              </a:rPr>
              <a:t>Таможенное оформление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16" name="Shape 116"/>
          <p:cNvSpPr txBox="true"/>
          <p:nvPr isPhoto="false"/>
        </p:nvSpPr>
        <p:spPr>
          <a:xfrm flipH="false" flipV="false" rot="0">
            <a:off x="5376672" y="2258568"/>
            <a:ext cx="146303" cy="27432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/>
            <a:r>
              <a:rPr b="true" i="false" sz="1300">
                <a:solidFill>
                  <a:srgbClr val="677278"/>
                </a:solidFill>
                <a:latin typeface="Arial"/>
                <a:ea typeface="Arial"/>
                <a:cs typeface="Arial"/>
              </a:rPr>
              <a:t>→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17" name="Shape 117"/>
          <p:cNvSpPr txBox="false"/>
          <p:nvPr isPhoto="false"/>
        </p:nvSpPr>
        <p:spPr>
          <a:xfrm flipH="false" flipV="false" rot="0">
            <a:off x="5477256" y="1691640"/>
            <a:ext cx="1197862" cy="1481328"/>
          </a:xfrm>
          <a:prstGeom prst="roundRect">
            <a:avLst>
              <a:gd fmla="val 12000" name="adj"/>
            </a:avLst>
          </a:prstGeom>
          <a:solidFill>
            <a:srgbClr val="E0EEFA"/>
          </a:solidFill>
          <a:ln w="12700">
            <a:solidFill>
              <a:srgbClr val="D5DDE6"/>
            </a:solidFill>
            <a:prstDash val="solid"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18" name="Shape 118"/>
          <p:cNvSpPr txBox="true"/>
          <p:nvPr isPhoto="false"/>
        </p:nvSpPr>
        <p:spPr>
          <a:xfrm flipH="false" flipV="false" rot="0">
            <a:off x="5550408" y="1783079"/>
            <a:ext cx="1051560" cy="256032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/>
            <a:r>
              <a:rPr b="true" i="false" sz="1300">
                <a:solidFill>
                  <a:srgbClr val="5B9FD7"/>
                </a:solidFill>
                <a:latin typeface="Arial"/>
                <a:ea typeface="Arial"/>
                <a:cs typeface="Arial"/>
              </a:rPr>
              <a:t>5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19" name="Shape 119"/>
          <p:cNvSpPr txBox="true"/>
          <p:nvPr isPhoto="false"/>
        </p:nvSpPr>
        <p:spPr>
          <a:xfrm flipH="false" flipV="false" rot="0">
            <a:off x="5550408" y="2075688"/>
            <a:ext cx="1051560" cy="100583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lnSpc>
                <a:spcPct val="105000"/>
              </a:lnSpc>
            </a:pPr>
            <a:r>
              <a:rPr b="true" i="false" sz="1000">
                <a:solidFill>
                  <a:srgbClr val="133959"/>
                </a:solidFill>
                <a:latin typeface="Arial"/>
                <a:ea typeface="Arial"/>
                <a:cs typeface="Arial"/>
              </a:rPr>
              <a:t>Ввод в оборот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20" name="Shape 120"/>
          <p:cNvSpPr txBox="true"/>
          <p:nvPr isPhoto="false"/>
        </p:nvSpPr>
        <p:spPr>
          <a:xfrm flipH="false" flipV="false" rot="0">
            <a:off x="6638543" y="2258568"/>
            <a:ext cx="146304" cy="27432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/>
            <a:r>
              <a:rPr b="true" i="false" sz="1300">
                <a:solidFill>
                  <a:srgbClr val="677278"/>
                </a:solidFill>
                <a:latin typeface="Arial"/>
                <a:ea typeface="Arial"/>
                <a:cs typeface="Arial"/>
              </a:rPr>
              <a:t>→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21" name="Shape 121"/>
          <p:cNvSpPr txBox="false"/>
          <p:nvPr isPhoto="false"/>
        </p:nvSpPr>
        <p:spPr>
          <a:xfrm flipH="false" flipV="false" rot="0">
            <a:off x="6739128" y="1691640"/>
            <a:ext cx="1197864" cy="1481328"/>
          </a:xfrm>
          <a:prstGeom prst="roundRect">
            <a:avLst>
              <a:gd fmla="val 12000" name="adj"/>
            </a:avLst>
          </a:prstGeom>
          <a:solidFill>
            <a:srgbClr val="FCF5DC"/>
          </a:solidFill>
          <a:ln w="12700">
            <a:solidFill>
              <a:srgbClr val="D5DDE6"/>
            </a:solidFill>
            <a:prstDash val="solid"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22" name="Shape 122"/>
          <p:cNvSpPr txBox="true"/>
          <p:nvPr isPhoto="false"/>
        </p:nvSpPr>
        <p:spPr>
          <a:xfrm flipH="false" flipV="false" rot="0">
            <a:off x="6812280" y="1783079"/>
            <a:ext cx="1051559" cy="256032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/>
            <a:r>
              <a:rPr b="true" i="false" sz="1300">
                <a:solidFill>
                  <a:srgbClr val="DA635A"/>
                </a:solidFill>
                <a:latin typeface="Arial"/>
                <a:ea typeface="Arial"/>
                <a:cs typeface="Arial"/>
              </a:rPr>
              <a:t>6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23" name="Shape 123"/>
          <p:cNvSpPr txBox="true"/>
          <p:nvPr isPhoto="false"/>
        </p:nvSpPr>
        <p:spPr>
          <a:xfrm flipH="false" flipV="false" rot="0">
            <a:off x="6812280" y="2075688"/>
            <a:ext cx="1051559" cy="100583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lnSpc>
                <a:spcPct val="105000"/>
              </a:lnSpc>
            </a:pPr>
            <a:r>
              <a:rPr b="true" i="false" sz="1000">
                <a:solidFill>
                  <a:srgbClr val="133959"/>
                </a:solidFill>
                <a:latin typeface="Arial"/>
                <a:ea typeface="Arial"/>
                <a:cs typeface="Arial"/>
              </a:rPr>
              <a:t>Приёмка на склад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24" name="Shape 124"/>
          <p:cNvSpPr txBox="true"/>
          <p:nvPr isPhoto="false"/>
        </p:nvSpPr>
        <p:spPr>
          <a:xfrm flipH="false" flipV="false" rot="0">
            <a:off x="7900416" y="2258568"/>
            <a:ext cx="146304" cy="27432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/>
            <a:r>
              <a:rPr b="true" i="false" sz="1300">
                <a:solidFill>
                  <a:srgbClr val="677278"/>
                </a:solidFill>
                <a:latin typeface="Arial"/>
                <a:ea typeface="Arial"/>
                <a:cs typeface="Arial"/>
              </a:rPr>
              <a:t>→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25" name="Shape 125"/>
          <p:cNvSpPr txBox="false"/>
          <p:nvPr isPhoto="false"/>
        </p:nvSpPr>
        <p:spPr>
          <a:xfrm flipH="false" flipV="false" rot="0">
            <a:off x="8001000" y="1691640"/>
            <a:ext cx="1197864" cy="1481328"/>
          </a:xfrm>
          <a:prstGeom prst="roundRect">
            <a:avLst>
              <a:gd fmla="val 12000" name="adj"/>
            </a:avLst>
          </a:prstGeom>
          <a:solidFill>
            <a:srgbClr val="FCF5DC"/>
          </a:solidFill>
          <a:ln w="12700">
            <a:solidFill>
              <a:srgbClr val="D5DDE6"/>
            </a:solidFill>
            <a:prstDash val="solid"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26" name="Shape 126"/>
          <p:cNvSpPr txBox="true"/>
          <p:nvPr isPhoto="false"/>
        </p:nvSpPr>
        <p:spPr>
          <a:xfrm flipH="false" flipV="false" rot="0">
            <a:off x="8074152" y="1783079"/>
            <a:ext cx="1051559" cy="256032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/>
            <a:r>
              <a:rPr b="true" i="false" sz="1300">
                <a:solidFill>
                  <a:srgbClr val="DA635A"/>
                </a:solidFill>
                <a:latin typeface="Arial"/>
                <a:ea typeface="Arial"/>
                <a:cs typeface="Arial"/>
              </a:rPr>
              <a:t>7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27" name="Shape 127"/>
          <p:cNvSpPr txBox="true"/>
          <p:nvPr isPhoto="false"/>
        </p:nvSpPr>
        <p:spPr>
          <a:xfrm flipH="false" flipV="false" rot="0">
            <a:off x="8074152" y="2075688"/>
            <a:ext cx="1051559" cy="100583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lnSpc>
                <a:spcPct val="105000"/>
              </a:lnSpc>
            </a:pPr>
            <a:r>
              <a:rPr b="true" i="false" sz="1000">
                <a:solidFill>
                  <a:srgbClr val="133959"/>
                </a:solidFill>
                <a:latin typeface="Arial"/>
                <a:ea typeface="Arial"/>
                <a:cs typeface="Arial"/>
              </a:rPr>
              <a:t>Продажа физлицу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28" name="Shape 128"/>
          <p:cNvSpPr txBox="true"/>
          <p:nvPr isPhoto="false"/>
        </p:nvSpPr>
        <p:spPr>
          <a:xfrm flipH="false" flipV="false" rot="0">
            <a:off x="9162288" y="2258568"/>
            <a:ext cx="146304" cy="27432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/>
            <a:r>
              <a:rPr b="true" i="false" sz="1300">
                <a:solidFill>
                  <a:srgbClr val="677278"/>
                </a:solidFill>
                <a:latin typeface="Arial"/>
                <a:ea typeface="Arial"/>
                <a:cs typeface="Arial"/>
              </a:rPr>
              <a:t>→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29" name="Shape 129"/>
          <p:cNvSpPr txBox="false"/>
          <p:nvPr isPhoto="false"/>
        </p:nvSpPr>
        <p:spPr>
          <a:xfrm flipH="false" flipV="false" rot="0">
            <a:off x="9262872" y="1691640"/>
            <a:ext cx="1197864" cy="1481328"/>
          </a:xfrm>
          <a:prstGeom prst="roundRect">
            <a:avLst>
              <a:gd fmla="val 12000" name="adj"/>
            </a:avLst>
          </a:prstGeom>
          <a:solidFill>
            <a:srgbClr val="FCF5DC"/>
          </a:solidFill>
          <a:ln w="12700">
            <a:solidFill>
              <a:srgbClr val="D5DDE6"/>
            </a:solidFill>
            <a:prstDash val="solid"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30" name="Shape 130"/>
          <p:cNvSpPr txBox="true"/>
          <p:nvPr isPhoto="false"/>
        </p:nvSpPr>
        <p:spPr>
          <a:xfrm flipH="false" flipV="false" rot="0">
            <a:off x="9336024" y="1783079"/>
            <a:ext cx="1051559" cy="256032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/>
            <a:r>
              <a:rPr b="true" i="false" sz="1300">
                <a:solidFill>
                  <a:srgbClr val="DA635A"/>
                </a:solidFill>
                <a:latin typeface="Arial"/>
                <a:ea typeface="Arial"/>
                <a:cs typeface="Arial"/>
              </a:rPr>
              <a:t>8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31" name="Shape 131"/>
          <p:cNvSpPr txBox="true"/>
          <p:nvPr isPhoto="false"/>
        </p:nvSpPr>
        <p:spPr>
          <a:xfrm flipH="false" flipV="false" rot="0">
            <a:off x="9336024" y="2075688"/>
            <a:ext cx="1051559" cy="100583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lnSpc>
                <a:spcPct val="105000"/>
              </a:lnSpc>
            </a:pPr>
            <a:r>
              <a:rPr b="true" i="false" sz="1000">
                <a:solidFill>
                  <a:srgbClr val="133959"/>
                </a:solidFill>
                <a:latin typeface="Arial"/>
                <a:ea typeface="Arial"/>
                <a:cs typeface="Arial"/>
              </a:rPr>
              <a:t>Передача в ядро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32" name="Shape 132"/>
          <p:cNvSpPr txBox="true"/>
          <p:nvPr isPhoto="false"/>
        </p:nvSpPr>
        <p:spPr>
          <a:xfrm flipH="false" flipV="false" rot="0">
            <a:off x="10424160" y="2258568"/>
            <a:ext cx="146304" cy="27432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/>
            <a:r>
              <a:rPr b="true" i="false" sz="1300">
                <a:solidFill>
                  <a:srgbClr val="677278"/>
                </a:solidFill>
                <a:latin typeface="Arial"/>
                <a:ea typeface="Arial"/>
                <a:cs typeface="Arial"/>
              </a:rPr>
              <a:t>→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33" name="Shape 133"/>
          <p:cNvSpPr txBox="false"/>
          <p:nvPr isPhoto="false"/>
        </p:nvSpPr>
        <p:spPr>
          <a:xfrm flipH="false" flipV="false" rot="0">
            <a:off x="10524744" y="1691640"/>
            <a:ext cx="1197864" cy="1481328"/>
          </a:xfrm>
          <a:prstGeom prst="roundRect">
            <a:avLst>
              <a:gd fmla="val 12000" name="adj"/>
            </a:avLst>
          </a:prstGeom>
          <a:solidFill>
            <a:srgbClr val="FCF5DC"/>
          </a:solidFill>
          <a:ln w="12700">
            <a:solidFill>
              <a:srgbClr val="D5DDE6"/>
            </a:solidFill>
            <a:prstDash val="solid"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34" name="Shape 134"/>
          <p:cNvSpPr txBox="true"/>
          <p:nvPr isPhoto="false"/>
        </p:nvSpPr>
        <p:spPr>
          <a:xfrm flipH="false" flipV="false" rot="0">
            <a:off x="10597896" y="1783079"/>
            <a:ext cx="1051559" cy="256032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/>
            <a:r>
              <a:rPr b="true" i="false" sz="1300">
                <a:solidFill>
                  <a:srgbClr val="DA635A"/>
                </a:solidFill>
                <a:latin typeface="Arial"/>
                <a:ea typeface="Arial"/>
                <a:cs typeface="Arial"/>
              </a:rPr>
              <a:t>9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35" name="Shape 135"/>
          <p:cNvSpPr txBox="true"/>
          <p:nvPr isPhoto="false"/>
        </p:nvSpPr>
        <p:spPr>
          <a:xfrm flipH="false" flipV="false" rot="0">
            <a:off x="10597896" y="2075688"/>
            <a:ext cx="1051559" cy="100583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lnSpc>
                <a:spcPct val="105000"/>
              </a:lnSpc>
            </a:pPr>
            <a:r>
              <a:rPr b="true" i="false" sz="1000">
                <a:solidFill>
                  <a:srgbClr val="133959"/>
                </a:solidFill>
                <a:latin typeface="Arial"/>
                <a:ea typeface="Arial"/>
                <a:cs typeface="Arial"/>
              </a:rPr>
              <a:t>КМ → «Выбыл»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36" name="Shape 136"/>
          <p:cNvSpPr txBox="false"/>
          <p:nvPr isPhoto="false"/>
        </p:nvSpPr>
        <p:spPr>
          <a:xfrm flipH="false" flipV="false" rot="0">
            <a:off x="429768" y="3520440"/>
            <a:ext cx="5486400" cy="2377440"/>
          </a:xfrm>
          <a:prstGeom prst="roundRect">
            <a:avLst>
              <a:gd fmla="val 6000" name="adj"/>
            </a:avLst>
          </a:prstGeom>
          <a:solidFill>
            <a:srgbClr val="F4F7FA"/>
          </a:solidFill>
          <a:ln w="12700">
            <a:solidFill>
              <a:srgbClr val="D5DDE6"/>
            </a:solidFill>
            <a:prstDash val="solid"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37" name="Shape 137"/>
          <p:cNvSpPr txBox="true"/>
          <p:nvPr isPhoto="false"/>
        </p:nvSpPr>
        <p:spPr>
          <a:xfrm flipH="false" flipV="false" rot="0">
            <a:off x="658368" y="3703320"/>
            <a:ext cx="5029200" cy="27432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/>
            <a:r>
              <a:rPr b="true" i="false" sz="900">
                <a:solidFill>
                  <a:srgbClr val="67AE70"/>
                </a:solidFill>
                <a:latin typeface="Arial"/>
                <a:ea typeface="Arial"/>
                <a:cs typeface="Arial"/>
              </a:rPr>
              <a:t>ФОКУС ГРУППЫ «ПРОДАЖА»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38" name="Shape 138"/>
          <p:cNvSpPr txBox="true"/>
          <p:nvPr isPhoto="false"/>
        </p:nvSpPr>
        <p:spPr>
          <a:xfrm flipH="false" flipV="false" rot="0">
            <a:off x="658368" y="4005071"/>
            <a:ext cx="5074920" cy="1783078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Aft>
                <a:spcPts val="600"/>
              </a:spcAft>
            </a:pPr>
            <a:r>
              <a:rPr b="false" i="false" sz="1050">
                <a:solidFill>
                  <a:srgbClr val="263034"/>
                </a:solidFill>
                <a:latin typeface="Arial"/>
                <a:ea typeface="Arial"/>
                <a:cs typeface="Arial"/>
              </a:rPr>
              <a:t>6. Приёмка на склад — получение товара от группы импорта, сверка КМ и УПД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spcAft>
                <a:spcPts val="600"/>
              </a:spcAft>
            </a:pPr>
            <a:r>
              <a:rPr b="false" i="false" sz="1050">
                <a:solidFill>
                  <a:srgbClr val="263034"/>
                </a:solidFill>
                <a:latin typeface="Arial"/>
                <a:ea typeface="Arial"/>
                <a:cs typeface="Arial"/>
              </a:rPr>
              <a:t>7. Продажа физлицу — заказ, чек, счёт-фактура; остатки уменьшаются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 indent="0" marL="0">
              <a:spcAft>
                <a:spcPts val="600"/>
              </a:spcAft>
            </a:pPr>
            <a:r>
              <a:rPr b="false" i="false" sz="1050">
                <a:solidFill>
                  <a:srgbClr val="263034"/>
                </a:solidFill>
                <a:latin typeface="Arial"/>
                <a:ea typeface="Arial"/>
                <a:cs typeface="Arial"/>
              </a:rPr>
              <a:t>8. Передача в ядро — «товар передан физлицу»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 indent="0" marL="0"/>
            <a:r>
              <a:rPr b="false" i="false" sz="1050">
                <a:solidFill>
                  <a:srgbClr val="263034"/>
                </a:solidFill>
                <a:latin typeface="Arial"/>
                <a:ea typeface="Arial"/>
                <a:cs typeface="Arial"/>
              </a:rPr>
              <a:t>9. Ядро подтверждает: КМ → «Выбыл», клиент получает товар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39" name="Shape 139"/>
          <p:cNvSpPr txBox="false"/>
          <p:nvPr isPhoto="false"/>
        </p:nvSpPr>
        <p:spPr>
          <a:xfrm flipH="false" flipV="false" rot="0">
            <a:off x="6281928" y="3520440"/>
            <a:ext cx="5486400" cy="2377440"/>
          </a:xfrm>
          <a:prstGeom prst="roundRect">
            <a:avLst>
              <a:gd fmla="val 6000" name="adj"/>
            </a:avLst>
          </a:prstGeom>
          <a:solidFill>
            <a:srgbClr val="FCF5DC"/>
          </a:solidFill>
          <a:ln w="12700">
            <a:solidFill>
              <a:srgbClr val="EADDB0"/>
            </a:solidFill>
            <a:prstDash val="solid"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40" name="Shape 140"/>
          <p:cNvSpPr txBox="true"/>
          <p:nvPr isPhoto="false"/>
        </p:nvSpPr>
        <p:spPr>
          <a:xfrm flipH="false" flipV="false" rot="0">
            <a:off x="6510528" y="3703320"/>
            <a:ext cx="5029200" cy="27432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/>
            <a:r>
              <a:rPr b="true" i="false" sz="900">
                <a:solidFill>
                  <a:srgbClr val="DA635A"/>
                </a:solidFill>
                <a:latin typeface="Arial"/>
                <a:ea typeface="Arial"/>
                <a:cs typeface="Arial"/>
              </a:rPr>
              <a:t>КЛЮЧЕВОЕ ПРАВИЛО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41" name="Shape 141"/>
          <p:cNvSpPr txBox="true"/>
          <p:nvPr isPhoto="false"/>
        </p:nvSpPr>
        <p:spPr>
          <a:xfrm flipH="false" flipV="false" rot="0">
            <a:off x="6510528" y="4005071"/>
            <a:ext cx="5074919" cy="1783078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spcAft>
                <a:spcPts val="800"/>
              </a:spcAft>
            </a:pPr>
            <a:r>
              <a:rPr b="true" i="false" sz="1100">
                <a:solidFill>
                  <a:srgbClr val="133959"/>
                </a:solidFill>
                <a:latin typeface="Arial"/>
                <a:ea typeface="Arial"/>
                <a:cs typeface="Arial"/>
              </a:rPr>
              <a:t>При передаче между юрлицами КМ остаётся в статусе «В обороте».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l" indent="0" marL="0"/>
            <a:r>
              <a:rPr b="false" i="false" sz="1050">
                <a:solidFill>
                  <a:srgbClr val="263034"/>
                </a:solidFill>
                <a:latin typeface="Arial"/>
                <a:ea typeface="Arial"/>
                <a:cs typeface="Arial"/>
              </a:rPr>
              <a:t>Статус «Выбыл» фиксируется только на конечной продаже физическому лицу — по данным чека (ККТ / ОФД), переданным в ядро маркировки.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3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42" name="GroupShape 142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43" name="Shape 143"/>
          <p:cNvSpPr txBox="false"/>
          <p:nvPr isPhoto="false"/>
        </p:nvSpPr>
        <p:spPr>
          <a:xfrm flipH="false" flipV="false" rot="0"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</p:spPr>
        <p:txBody>
          <a:bodyPr anchor="ctr" bIns="18288" lIns="54864" rIns="54864" tIns="18288" wrap="square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44" name="Shape 144"/>
          <p:cNvSpPr txBox="true"/>
          <p:nvPr isPhoto="false"/>
        </p:nvSpPr>
        <p:spPr>
          <a:xfrm flipH="false" flipV="false" rot="0">
            <a:off x="502919" y="274320"/>
            <a:ext cx="5486400" cy="274320"/>
          </a:xfrm>
          <a:prstGeom prst="rect">
            <a:avLst/>
          </a:prstGeom>
          <a:noFill/>
        </p:spPr>
        <p:txBody>
          <a:bodyPr bIns="45720" lIns="91440" rIns="91440" tIns="45720" wrap="none">
            <a:spAutoFit/>
          </a:bodyPr>
          <a:p>
            <a:pPr algn="l" indent="0" marL="0"/>
            <a:r>
              <a:rPr b="true" i="false" sz="1100">
                <a:solidFill>
                  <a:srgbClr val="2F5D5A"/>
                </a:solidFill>
                <a:latin typeface="Segoe UI"/>
                <a:ea typeface="Segoe UI"/>
                <a:cs typeface="Segoe UI"/>
              </a:rPr>
              <a:t>С К В О З Н О Й   П Р О Ц Е С С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45" name="Shape 145"/>
          <p:cNvSpPr txBox="false"/>
          <p:nvPr isPhoto="false"/>
        </p:nvSpPr>
        <p:spPr>
          <a:xfrm flipH="false" flipV="false" rot="0">
            <a:off x="502919" y="566928"/>
            <a:ext cx="777240" cy="41148"/>
          </a:xfrm>
          <a:prstGeom prst="rect">
            <a:avLst/>
          </a:prstGeom>
          <a:solidFill>
            <a:srgbClr val="2F5D5A"/>
          </a:solidFill>
          <a:ln>
            <a:noFill/>
          </a:ln>
        </p:spPr>
        <p:txBody>
          <a:bodyPr anchor="ctr" bIns="18288" lIns="54864" rIns="54864" tIns="18288" wrap="square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46" name="Shape 146"/>
          <p:cNvSpPr txBox="true"/>
          <p:nvPr isPhoto="false"/>
        </p:nvSpPr>
        <p:spPr>
          <a:xfrm flipH="false" flipV="false" rot="0">
            <a:off x="502919" y="658368"/>
            <a:ext cx="10515600" cy="548640"/>
          </a:xfrm>
          <a:prstGeom prst="rect">
            <a:avLst/>
          </a:prstGeom>
          <a:noFill/>
        </p:spPr>
        <p:txBody>
          <a:bodyPr bIns="45720" lIns="91440" rIns="91440" tIns="45720" wrap="none">
            <a:spAutoFit/>
          </a:bodyPr>
          <a:p>
            <a:pPr algn="l" indent="0" marL="0"/>
            <a:r>
              <a:rPr b="true" i="false" sz="2700">
                <a:solidFill>
                  <a:srgbClr val="1F3A38"/>
                </a:solidFill>
                <a:latin typeface="Georgia"/>
                <a:ea typeface="Georgia"/>
                <a:cs typeface="Georgia"/>
              </a:rPr>
              <a:t>Схема процесса: от импорта до продажи физлицу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47" name="Shape 147"/>
          <p:cNvSpPr txBox="true"/>
          <p:nvPr isPhoto="false"/>
        </p:nvSpPr>
        <p:spPr>
          <a:xfrm flipH="false" flipV="false" rot="0">
            <a:off x="521207" y="1097280"/>
            <a:ext cx="11155680" cy="274319"/>
          </a:xfrm>
          <a:prstGeom prst="rect">
            <a:avLst/>
          </a:prstGeom>
          <a:noFill/>
        </p:spPr>
        <p:txBody>
          <a:bodyPr bIns="45720" lIns="91440" rIns="91440" tIns="45720" wrap="none">
            <a:spAutoFit/>
          </a:bodyPr>
          <a:p>
            <a:pPr algn="l" indent="0" marL="0"/>
            <a:r>
              <a:rPr b="false" i="false" sz="1050">
                <a:solidFill>
                  <a:srgbClr val="6E6E6E"/>
                </a:solidFill>
                <a:latin typeface="Segoe UI"/>
                <a:ea typeface="Segoe UI"/>
                <a:cs typeface="Segoe UI"/>
              </a:rPr>
              <a:t>Каждый этап соединён со следующим логической связью. Метки C и U — создание и изменение записи в БД. Триггер — событие перехода товара от группы импорта в БД компании.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48" name="Shape 148"/>
          <p:cNvSpPr txBox="false"/>
          <p:nvPr isPhoto="false"/>
        </p:nvSpPr>
        <p:spPr>
          <a:xfrm flipH="false" flipV="false" rot="0">
            <a:off x="384048" y="1481328"/>
            <a:ext cx="11430000" cy="4370831"/>
          </a:xfrm>
          <a:prstGeom prst="rect">
            <a:avLst/>
          </a:prstGeom>
          <a:solidFill>
            <a:srgbClr val="FFFFFF"/>
          </a:solidFill>
          <a:ln w="15240">
            <a:solidFill>
              <a:srgbClr val="D8D3C8"/>
            </a:solidFill>
            <a:prstDash val="solid"/>
          </a:ln>
        </p:spPr>
        <p:txBody>
          <a:bodyPr anchor="ctr" bIns="18288" lIns="54864" rIns="54864" tIns="18288" wrap="square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49" name="Shape 149"/>
          <p:cNvSpPr txBox="false"/>
          <p:nvPr isPhoto="false"/>
        </p:nvSpPr>
        <p:spPr>
          <a:xfrm flipH="false" flipV="false" rot="0">
            <a:off x="1874518" y="1572768"/>
            <a:ext cx="9921240" cy="859535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txBody>
          <a:bodyPr anchor="ctr" bIns="18288" lIns="54864" rIns="54864" tIns="18288" wrap="square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50" name="Shape 150"/>
          <p:cNvSpPr txBox="false"/>
          <p:nvPr isPhoto="false"/>
        </p:nvSpPr>
        <p:spPr>
          <a:xfrm flipH="false" flipV="false" rot="0">
            <a:off x="502919" y="1572768"/>
            <a:ext cx="1325880" cy="859535"/>
          </a:xfrm>
          <a:prstGeom prst="roundRect">
            <a:avLst>
              <a:gd fmla="val 18000" name="adj"/>
            </a:avLst>
          </a:prstGeom>
          <a:solidFill>
            <a:srgbClr val="2F5D5A"/>
          </a:solidFill>
          <a:ln>
            <a:noFill/>
          </a:ln>
        </p:spPr>
        <p:txBody>
          <a:bodyPr anchor="ctr" bIns="18288" lIns="54864" rIns="54864" tIns="18288" wrap="square"/>
          <a:p>
            <a:pPr algn="ctr" indent="0" marL="0"/>
            <a:r>
              <a:rPr b="true" i="false" sz="95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Группа импорта</a:t>
            </a:r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51" name="Shape 151"/>
          <p:cNvSpPr txBox="false"/>
          <p:nvPr isPhoto="false"/>
        </p:nvSpPr>
        <p:spPr>
          <a:xfrm flipH="false" flipV="false" rot="0">
            <a:off x="1874518" y="2432304"/>
            <a:ext cx="9921240" cy="859536"/>
          </a:xfrm>
          <a:prstGeom prst="rect">
            <a:avLst/>
          </a:prstGeom>
          <a:solidFill>
            <a:srgbClr val="EFEAE2"/>
          </a:solidFill>
          <a:ln>
            <a:noFill/>
          </a:ln>
        </p:spPr>
        <p:txBody>
          <a:bodyPr anchor="ctr" bIns="18288" lIns="54864" rIns="54864" tIns="18288" wrap="square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52" name="Shape 152"/>
          <p:cNvSpPr txBox="false"/>
          <p:nvPr isPhoto="false"/>
        </p:nvSpPr>
        <p:spPr>
          <a:xfrm flipH="false" flipV="false" rot="0">
            <a:off x="502919" y="2432304"/>
            <a:ext cx="1325880" cy="859536"/>
          </a:xfrm>
          <a:prstGeom prst="roundRect">
            <a:avLst>
              <a:gd fmla="val 18000" name="adj"/>
            </a:avLst>
          </a:prstGeom>
          <a:solidFill>
            <a:srgbClr val="4A7C6F"/>
          </a:solidFill>
          <a:ln>
            <a:noFill/>
          </a:ln>
        </p:spPr>
        <p:txBody>
          <a:bodyPr anchor="ctr" bIns="18288" lIns="54864" rIns="54864" tIns="18288" wrap="square"/>
          <a:p>
            <a:pPr algn="ctr" indent="0" marL="0"/>
            <a:r>
              <a:rPr b="true" i="false" sz="95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Логист / склад</a:t>
            </a:r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53" name="Shape 153"/>
          <p:cNvSpPr txBox="false"/>
          <p:nvPr isPhoto="false"/>
        </p:nvSpPr>
        <p:spPr>
          <a:xfrm flipH="false" flipV="false" rot="0">
            <a:off x="1874518" y="3291839"/>
            <a:ext cx="9921240" cy="859535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txBody>
          <a:bodyPr anchor="ctr" bIns="18288" lIns="54864" rIns="54864" tIns="18288" wrap="square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54" name="Shape 154"/>
          <p:cNvSpPr txBox="false"/>
          <p:nvPr isPhoto="false"/>
        </p:nvSpPr>
        <p:spPr>
          <a:xfrm flipH="false" flipV="false" rot="0">
            <a:off x="502919" y="3291839"/>
            <a:ext cx="1325880" cy="859535"/>
          </a:xfrm>
          <a:prstGeom prst="roundRect">
            <a:avLst>
              <a:gd fmla="val 18000" name="adj"/>
            </a:avLst>
          </a:prstGeom>
          <a:solidFill>
            <a:srgbClr val="6B9B77"/>
          </a:solidFill>
          <a:ln>
            <a:noFill/>
          </a:ln>
        </p:spPr>
        <p:txBody>
          <a:bodyPr anchor="ctr" bIns="18288" lIns="54864" rIns="54864" tIns="18288" wrap="square"/>
          <a:p>
            <a:pPr algn="ctr" indent="0" marL="0"/>
            <a:r>
              <a:rPr b="true" i="false" sz="95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Ядро системы / ИТ</a:t>
            </a:r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55" name="Shape 155"/>
          <p:cNvSpPr txBox="false"/>
          <p:nvPr isPhoto="false"/>
        </p:nvSpPr>
        <p:spPr>
          <a:xfrm flipH="false" flipV="false" rot="0">
            <a:off x="1874518" y="4151376"/>
            <a:ext cx="9921240" cy="859535"/>
          </a:xfrm>
          <a:prstGeom prst="rect">
            <a:avLst/>
          </a:prstGeom>
          <a:solidFill>
            <a:srgbClr val="EFEAE2"/>
          </a:solidFill>
          <a:ln>
            <a:noFill/>
          </a:ln>
        </p:spPr>
        <p:txBody>
          <a:bodyPr anchor="ctr" bIns="18288" lIns="54864" rIns="54864" tIns="18288" wrap="square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56" name="Shape 156"/>
          <p:cNvSpPr txBox="false"/>
          <p:nvPr isPhoto="false"/>
        </p:nvSpPr>
        <p:spPr>
          <a:xfrm flipH="false" flipV="false" rot="0">
            <a:off x="502919" y="4151376"/>
            <a:ext cx="1325880" cy="859535"/>
          </a:xfrm>
          <a:prstGeom prst="roundRect">
            <a:avLst>
              <a:gd fmla="val 18000" name="adj"/>
            </a:avLst>
          </a:prstGeom>
          <a:solidFill>
            <a:srgbClr val="5B7B9A"/>
          </a:solidFill>
          <a:ln>
            <a:noFill/>
          </a:ln>
        </p:spPr>
        <p:txBody>
          <a:bodyPr anchor="ctr" bIns="18288" lIns="54864" rIns="54864" tIns="18288" wrap="square"/>
          <a:p>
            <a:pPr algn="ctr" indent="0" marL="0"/>
            <a:r>
              <a:rPr b="true" i="false" sz="95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Ядро маркировки («Честный знак»)</a:t>
            </a:r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57" name="Shape 157"/>
          <p:cNvSpPr txBox="false"/>
          <p:nvPr isPhoto="false"/>
        </p:nvSpPr>
        <p:spPr>
          <a:xfrm flipH="false" flipV="false" rot="0">
            <a:off x="1874518" y="5010912"/>
            <a:ext cx="9921240" cy="859535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txBody>
          <a:bodyPr anchor="ctr" bIns="18288" lIns="54864" rIns="54864" tIns="18288" wrap="square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58" name="Shape 158"/>
          <p:cNvSpPr txBox="false"/>
          <p:nvPr isPhoto="false"/>
        </p:nvSpPr>
        <p:spPr>
          <a:xfrm flipH="false" flipV="false" rot="0">
            <a:off x="502919" y="5010912"/>
            <a:ext cx="1325880" cy="859535"/>
          </a:xfrm>
          <a:prstGeom prst="roundRect">
            <a:avLst>
              <a:gd fmla="val 18000" name="adj"/>
            </a:avLst>
          </a:prstGeom>
          <a:solidFill>
            <a:srgbClr val="8E5D7A"/>
          </a:solidFill>
          <a:ln>
            <a:noFill/>
          </a:ln>
        </p:spPr>
        <p:txBody>
          <a:bodyPr anchor="ctr" bIns="18288" lIns="54864" rIns="54864" tIns="18288" wrap="square"/>
          <a:p>
            <a:pPr algn="ctr" indent="0" marL="0"/>
            <a:r>
              <a:rPr b="true" i="false" sz="95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Клиент — физлицо</a:t>
            </a:r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59" name="Shape 159"/>
          <p:cNvSpPr txBox="false"/>
          <p:nvPr isPhoto="false"/>
        </p:nvSpPr>
        <p:spPr>
          <a:xfrm flipH="false" flipV="false" rot="0">
            <a:off x="1938528" y="1810512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F5D5A"/>
            </a:solidFill>
            <a:prstDash val="solid"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60" name="Shape 160"/>
          <p:cNvSpPr txBox="false"/>
          <p:nvPr isPhoto="false"/>
        </p:nvSpPr>
        <p:spPr>
          <a:xfrm flipH="false" flipV="false" rot="0">
            <a:off x="2487168" y="1700784"/>
            <a:ext cx="2331720" cy="603504"/>
          </a:xfrm>
          <a:prstGeom prst="roundRect">
            <a:avLst>
              <a:gd fmla="val 18000" name="adj"/>
            </a:avLst>
          </a:prstGeom>
          <a:solidFill>
            <a:srgbClr val="FFFFFF"/>
          </a:solidFill>
          <a:ln w="15240">
            <a:solidFill>
              <a:srgbClr val="2F5D5A"/>
            </a:solidFill>
            <a:prstDash val="solid"/>
          </a:ln>
        </p:spPr>
        <p:txBody>
          <a:bodyPr anchor="ctr" bIns="18288" lIns="54864" rIns="54864" tIns="18288" wrap="square"/>
          <a:p>
            <a:pPr algn="ctr" indent="0" marL="0"/>
            <a:r>
              <a:rPr b="true" i="false" sz="950">
                <a:solidFill>
                  <a:srgbClr val="2B2B2B"/>
                </a:solidFill>
                <a:latin typeface="Segoe UI"/>
                <a:ea typeface="Segoe UI"/>
                <a:cs typeface="Segoe UI"/>
              </a:rPr>
              <a:t>Получить товар от группы импорта</a:t>
            </a:r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61" name="Shape 161"/>
          <p:cNvSpPr txBox="false"/>
          <p:nvPr isPhoto="false"/>
        </p:nvSpPr>
        <p:spPr>
          <a:xfrm flipH="false" flipV="false" rot="0">
            <a:off x="4617720" y="1600200"/>
            <a:ext cx="237744" cy="237744"/>
          </a:xfrm>
          <a:prstGeom prst="ellipse">
            <a:avLst/>
          </a:prstGeom>
          <a:solidFill>
            <a:srgbClr val="4472C4"/>
          </a:solidFill>
          <a:ln w="12700">
            <a:solidFill>
              <a:srgbClr val="FFFFFF"/>
            </a:solidFill>
            <a:prstDash val="solid"/>
          </a:ln>
        </p:spPr>
        <p:txBody>
          <a:bodyPr anchor="ctr" bIns="0" lIns="0" rIns="0" tIns="0"/>
          <a:p>
            <a:pPr algn="ctr" indent="0" marL="0"/>
            <a:r>
              <a:rPr b="true" i="false" sz="9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</a:t>
            </a:r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62" name="Shape 162"/>
          <p:cNvSpPr txBox="false"/>
          <p:nvPr isPhoto="false"/>
        </p:nvSpPr>
        <p:spPr>
          <a:xfrm flipH="false" flipV="false" rot="0">
            <a:off x="2322576" y="2002535"/>
            <a:ext cx="164592" cy="0"/>
          </a:xfrm>
          <a:prstGeom prst="line">
            <a:avLst/>
          </a:prstGeom>
          <a:ln w="22225">
            <a:solidFill>
              <a:srgbClr val="2F5D5A"/>
            </a:solidFill>
            <a:prstDash val="solid"/>
            <a:tailEnd len="med" type="triangle" w="med"/>
          </a:ln>
        </p:spPr>
        <p:style>
          <a:lnRef idx="0"/>
          <a:fillRef idx="0">
            <a:schemeClr val="accent1"/>
          </a:fillRef>
          <a:effectRef idx="0"/>
          <a:fontRef idx="none"/>
        </p:style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63" name="Shape 163"/>
          <p:cNvSpPr txBox="false"/>
          <p:nvPr isPhoto="false"/>
        </p:nvSpPr>
        <p:spPr>
          <a:xfrm flipH="false" flipV="false" rot="0">
            <a:off x="2487168" y="2560320"/>
            <a:ext cx="2331720" cy="603504"/>
          </a:xfrm>
          <a:prstGeom prst="roundRect">
            <a:avLst>
              <a:gd fmla="val 18000" name="adj"/>
            </a:avLst>
          </a:prstGeom>
          <a:solidFill>
            <a:srgbClr val="FFFFFF"/>
          </a:solidFill>
          <a:ln w="15240">
            <a:solidFill>
              <a:srgbClr val="2F5D5A"/>
            </a:solidFill>
            <a:prstDash val="solid"/>
          </a:ln>
        </p:spPr>
        <p:txBody>
          <a:bodyPr anchor="ctr" bIns="18288" lIns="54864" rIns="54864" tIns="18288" wrap="square"/>
          <a:p>
            <a:pPr algn="ctr" indent="0" marL="0"/>
            <a:r>
              <a:rPr b="true" i="false" sz="950">
                <a:solidFill>
                  <a:srgbClr val="2B2B2B"/>
                </a:solidFill>
                <a:latin typeface="Segoe UI"/>
                <a:ea typeface="Segoe UI"/>
                <a:cs typeface="Segoe UI"/>
              </a:rPr>
              <a:t>Принять товар на склад и сверить КМ и УПД</a:t>
            </a:r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64" name="Shape 164"/>
          <p:cNvSpPr txBox="false"/>
          <p:nvPr isPhoto="false"/>
        </p:nvSpPr>
        <p:spPr>
          <a:xfrm flipH="false" flipV="false" rot="0">
            <a:off x="4617720" y="2459736"/>
            <a:ext cx="237744" cy="237744"/>
          </a:xfrm>
          <a:prstGeom prst="ellipse">
            <a:avLst/>
          </a:prstGeom>
          <a:solidFill>
            <a:srgbClr val="7030A0"/>
          </a:solidFill>
          <a:ln w="12700">
            <a:solidFill>
              <a:srgbClr val="FFFFFF"/>
            </a:solidFill>
            <a:prstDash val="solid"/>
          </a:ln>
        </p:spPr>
        <p:txBody>
          <a:bodyPr anchor="ctr" bIns="0" lIns="0" rIns="0" tIns="0"/>
          <a:p>
            <a:pPr algn="ctr" indent="0" marL="0"/>
            <a:r>
              <a:rPr b="true" i="false" sz="9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U</a:t>
            </a:r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65" name="Shape 165"/>
          <p:cNvSpPr txBox="false"/>
          <p:nvPr isPhoto="false"/>
        </p:nvSpPr>
        <p:spPr>
          <a:xfrm flipH="false" flipV="false" rot="0">
            <a:off x="3648456" y="2304288"/>
            <a:ext cx="0" cy="256032"/>
          </a:xfrm>
          <a:prstGeom prst="line">
            <a:avLst/>
          </a:prstGeom>
          <a:ln w="22225">
            <a:solidFill>
              <a:srgbClr val="2F5D5A"/>
            </a:solidFill>
            <a:prstDash val="solid"/>
            <a:tailEnd len="med" type="triangle" w="med"/>
          </a:ln>
        </p:spPr>
        <p:style>
          <a:lnRef idx="0"/>
          <a:fillRef idx="0">
            <a:schemeClr val="accent1"/>
          </a:fillRef>
          <a:effectRef idx="0"/>
          <a:fontRef idx="none"/>
        </p:style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66" name="Shape 166"/>
          <p:cNvSpPr txBox="false"/>
          <p:nvPr isPhoto="false"/>
        </p:nvSpPr>
        <p:spPr>
          <a:xfrm flipH="false" flipV="false" rot="0">
            <a:off x="5641848" y="2459736"/>
            <a:ext cx="1426464" cy="804671"/>
          </a:xfrm>
          <a:prstGeom prst="diamond">
            <a:avLst/>
          </a:prstGeom>
          <a:solidFill>
            <a:srgbClr val="FFFFFF"/>
          </a:solidFill>
          <a:ln w="17780">
            <a:solidFill>
              <a:srgbClr val="2F5D5A"/>
            </a:solidFill>
            <a:prstDash val="solid"/>
          </a:ln>
        </p:spPr>
        <p:txBody>
          <a:bodyPr anchor="ctr" bIns="45720" lIns="18288" rIns="18288" tIns="45720" wrap="square"/>
          <a:p>
            <a:pPr algn="ctr" indent="0" marL="0"/>
            <a:r>
              <a:rPr b="true" i="false" sz="850">
                <a:solidFill>
                  <a:srgbClr val="2B2B2B"/>
                </a:solidFill>
                <a:latin typeface="Segoe UI"/>
                <a:ea typeface="Segoe UI"/>
                <a:cs typeface="Segoe UI"/>
              </a:rPr>
              <a:t>КМ и данные корректны?</a:t>
            </a:r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67" name="Shape 167"/>
          <p:cNvSpPr txBox="false"/>
          <p:nvPr isPhoto="false"/>
        </p:nvSpPr>
        <p:spPr>
          <a:xfrm flipH="false" flipV="false" rot="0">
            <a:off x="4818888" y="2862072"/>
            <a:ext cx="822959" cy="0"/>
          </a:xfrm>
          <a:prstGeom prst="line">
            <a:avLst/>
          </a:prstGeom>
          <a:ln w="22225">
            <a:solidFill>
              <a:srgbClr val="2F5D5A"/>
            </a:solidFill>
            <a:prstDash val="solid"/>
            <a:tailEnd len="med" type="triangle" w="med"/>
          </a:ln>
        </p:spPr>
        <p:style>
          <a:lnRef idx="0"/>
          <a:fillRef idx="0">
            <a:schemeClr val="accent1"/>
          </a:fillRef>
          <a:effectRef idx="0"/>
          <a:fontRef idx="none"/>
        </p:style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68" name="Shape 168"/>
          <p:cNvSpPr txBox="false"/>
          <p:nvPr isPhoto="false"/>
        </p:nvSpPr>
        <p:spPr>
          <a:xfrm flipH="false" flipV="false" rot="0">
            <a:off x="5074920" y="1700784"/>
            <a:ext cx="2560320" cy="603504"/>
          </a:xfrm>
          <a:prstGeom prst="roundRect">
            <a:avLst>
              <a:gd fmla="val 18000" name="adj"/>
            </a:avLst>
          </a:prstGeom>
          <a:solidFill>
            <a:srgbClr val="FFFFFF"/>
          </a:solidFill>
          <a:ln w="15240">
            <a:solidFill>
              <a:srgbClr val="2F5D5A"/>
            </a:solidFill>
            <a:prstDash val="solid"/>
          </a:ln>
        </p:spPr>
        <p:txBody>
          <a:bodyPr anchor="ctr" bIns="18288" lIns="54864" rIns="54864" tIns="18288" wrap="square"/>
          <a:p>
            <a:pPr algn="ctr" indent="0" marL="0"/>
            <a:r>
              <a:rPr b="true" i="false" sz="950">
                <a:solidFill>
                  <a:srgbClr val="2B2B2B"/>
                </a:solidFill>
                <a:latin typeface="Segoe UI"/>
                <a:ea typeface="Segoe UI"/>
                <a:cs typeface="Segoe UI"/>
              </a:rPr>
              <a:t>Уточнить расхождения с группой импорта</a:t>
            </a:r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69" name="Shape 169"/>
          <p:cNvSpPr txBox="false"/>
          <p:nvPr isPhoto="false"/>
        </p:nvSpPr>
        <p:spPr>
          <a:xfrm flipH="false" flipV="true" rot="0">
            <a:off x="6355080" y="2304288"/>
            <a:ext cx="0" cy="155448"/>
          </a:xfrm>
          <a:prstGeom prst="line">
            <a:avLst/>
          </a:prstGeom>
          <a:ln w="22225">
            <a:solidFill>
              <a:srgbClr val="2F5D5A"/>
            </a:solidFill>
            <a:prstDash val="solid"/>
            <a:tailEnd len="med" type="triangle" w="med"/>
          </a:ln>
        </p:spPr>
        <p:style>
          <a:lnRef idx="0"/>
          <a:fillRef idx="0">
            <a:schemeClr val="accent1"/>
          </a:fillRef>
          <a:effectRef idx="0"/>
          <a:fontRef idx="none"/>
        </p:style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70" name="Shape 170"/>
          <p:cNvSpPr txBox="true"/>
          <p:nvPr isPhoto="false"/>
        </p:nvSpPr>
        <p:spPr>
          <a:xfrm flipH="false" flipV="false" rot="0">
            <a:off x="6323838" y="2270379"/>
            <a:ext cx="366607" cy="243468"/>
          </a:xfrm>
          <a:prstGeom prst="rect">
            <a:avLst/>
          </a:prstGeom>
          <a:noFill/>
        </p:spPr>
        <p:txBody>
          <a:bodyPr bIns="45720" lIns="91440" rIns="91440" tIns="45720" wrap="none">
            <a:spAutoFit/>
          </a:bodyPr>
          <a:p>
            <a:pPr algn="l" indent="0" marL="0"/>
            <a:r>
              <a:rPr b="true" i="false" sz="900">
                <a:solidFill>
                  <a:srgbClr val="C0504D"/>
                </a:solidFill>
                <a:latin typeface="Segoe UI"/>
                <a:ea typeface="Segoe UI"/>
                <a:cs typeface="Segoe UI"/>
              </a:rPr>
              <a:t>нет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71" name="Shape 171"/>
          <p:cNvSpPr txBox="false"/>
          <p:nvPr isPhoto="false"/>
        </p:nvSpPr>
        <p:spPr>
          <a:xfrm flipH="true" flipV="false" rot="0">
            <a:off x="4818888" y="2002535"/>
            <a:ext cx="256032" cy="0"/>
          </a:xfrm>
          <a:prstGeom prst="line">
            <a:avLst/>
          </a:prstGeom>
          <a:ln w="22225">
            <a:solidFill>
              <a:srgbClr val="2F5D5A"/>
            </a:solidFill>
            <a:prstDash val="solid"/>
            <a:tailEnd len="med" type="triangle" w="med"/>
          </a:ln>
        </p:spPr>
        <p:style>
          <a:lnRef idx="0"/>
          <a:fillRef idx="0">
            <a:schemeClr val="accent1"/>
          </a:fillRef>
          <a:effectRef idx="0"/>
          <a:fontRef idx="none"/>
        </p:style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72" name="Shape 172"/>
          <p:cNvSpPr txBox="false"/>
          <p:nvPr isPhoto="false"/>
        </p:nvSpPr>
        <p:spPr>
          <a:xfrm flipH="false" flipV="false" rot="0">
            <a:off x="7793355" y="2543554"/>
            <a:ext cx="2743200" cy="603503"/>
          </a:xfrm>
          <a:prstGeom prst="roundRect">
            <a:avLst>
              <a:gd fmla="val 18000" name="adj"/>
            </a:avLst>
          </a:prstGeom>
          <a:solidFill>
            <a:srgbClr val="FFFFFF"/>
          </a:solidFill>
          <a:ln w="15240">
            <a:solidFill>
              <a:srgbClr val="2F5D5A"/>
            </a:solidFill>
            <a:prstDash val="solid"/>
          </a:ln>
        </p:spPr>
        <p:txBody>
          <a:bodyPr anchor="ctr" bIns="18288" lIns="54864" rIns="54864" tIns="18288" wrap="square"/>
          <a:p>
            <a:pPr algn="ctr" indent="0" marL="0"/>
            <a:r>
              <a:rPr b="true" i="false" sz="950">
                <a:solidFill>
                  <a:srgbClr val="2B2B2B"/>
                </a:solidFill>
                <a:latin typeface="Segoe UI"/>
                <a:ea typeface="Segoe UI"/>
                <a:cs typeface="Segoe UI"/>
              </a:rPr>
              <a:t>Фиксация поступления в БД: остатки ↑, КМ → «В обороте»</a:t>
            </a:r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73" name="Shape 173"/>
          <p:cNvSpPr txBox="false"/>
          <p:nvPr isPhoto="false"/>
        </p:nvSpPr>
        <p:spPr>
          <a:xfrm flipH="false" flipV="false" rot="0">
            <a:off x="10373487" y="2442971"/>
            <a:ext cx="237742" cy="237744"/>
          </a:xfrm>
          <a:prstGeom prst="ellipse">
            <a:avLst/>
          </a:prstGeom>
          <a:solidFill>
            <a:srgbClr val="7030A0"/>
          </a:solidFill>
          <a:ln w="12700">
            <a:solidFill>
              <a:srgbClr val="FFFFFF"/>
            </a:solidFill>
            <a:prstDash val="solid"/>
          </a:ln>
        </p:spPr>
        <p:txBody>
          <a:bodyPr anchor="ctr" bIns="0" lIns="0" rIns="0" tIns="0"/>
          <a:p>
            <a:pPr algn="ctr" indent="0" marL="0"/>
            <a:r>
              <a:rPr b="true" i="false" sz="9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U</a:t>
            </a:r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74" name="Shape 174"/>
          <p:cNvSpPr txBox="false"/>
          <p:nvPr isPhoto="false"/>
        </p:nvSpPr>
        <p:spPr>
          <a:xfrm flipH="true" flipV="false" rot="0">
            <a:off x="6214910" y="3100387"/>
            <a:ext cx="1628773" cy="266699"/>
          </a:xfrm>
          <a:prstGeom prst="line">
            <a:avLst/>
          </a:prstGeom>
          <a:ln w="22225">
            <a:solidFill>
              <a:srgbClr val="2F5D5A"/>
            </a:solidFill>
            <a:prstDash val="solid"/>
            <a:tailEnd len="med" type="triangle" w="med"/>
          </a:ln>
        </p:spPr>
        <p:style>
          <a:lnRef idx="0"/>
          <a:fillRef idx="0">
            <a:schemeClr val="accent1"/>
          </a:fillRef>
          <a:effectRef idx="0"/>
          <a:fontRef idx="none"/>
        </p:style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75" name="Shape 175"/>
          <p:cNvSpPr txBox="true"/>
          <p:nvPr isPhoto="false"/>
        </p:nvSpPr>
        <p:spPr>
          <a:xfrm flipH="false" flipV="false" rot="0">
            <a:off x="7126604" y="2615184"/>
            <a:ext cx="315207" cy="243465"/>
          </a:xfrm>
          <a:prstGeom prst="rect">
            <a:avLst/>
          </a:prstGeom>
          <a:noFill/>
        </p:spPr>
        <p:txBody>
          <a:bodyPr bIns="45720" lIns="91440" rIns="91440" tIns="45720" wrap="none">
            <a:spAutoFit/>
          </a:bodyPr>
          <a:p>
            <a:pPr algn="l" indent="0" marL="0"/>
            <a:r>
              <a:rPr b="true" i="false" sz="900">
                <a:solidFill>
                  <a:srgbClr val="2F8F5B"/>
                </a:solidFill>
                <a:latin typeface="Segoe UI"/>
                <a:ea typeface="Segoe UI"/>
                <a:cs typeface="Segoe UI"/>
              </a:rPr>
              <a:t>да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76" name="Shape 176"/>
          <p:cNvSpPr txBox="false"/>
          <p:nvPr isPhoto="false"/>
        </p:nvSpPr>
        <p:spPr>
          <a:xfrm flipH="false" flipV="false" rot="0">
            <a:off x="1907667" y="1744217"/>
            <a:ext cx="475487" cy="475487"/>
          </a:xfrm>
          <a:prstGeom prst="ellipse">
            <a:avLst/>
          </a:prstGeom>
          <a:solidFill>
            <a:srgbClr val="E88F2E"/>
          </a:solidFill>
          <a:ln w="19050">
            <a:solidFill>
              <a:srgbClr val="FFFFFF"/>
            </a:solidFill>
            <a:prstDash val="solid"/>
          </a:ln>
        </p:spPr>
        <p:txBody>
          <a:bodyPr anchor="ctr" bIns="0" lIns="0" rIns="0" tIns="0"/>
          <a:p>
            <a:pPr algn="ctr" indent="0" marL="0"/>
            <a:r>
              <a:rPr b="true" i="false" sz="8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старт</a:t>
            </a:r>
            <a:endParaRPr sz="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77" name="Shape 177"/>
          <p:cNvSpPr txBox="false"/>
          <p:nvPr isPhoto="false"/>
        </p:nvSpPr>
        <p:spPr>
          <a:xfrm flipH="false" flipV="false" rot="0">
            <a:off x="8183879" y="3419854"/>
            <a:ext cx="3291840" cy="603503"/>
          </a:xfrm>
          <a:prstGeom prst="roundRect">
            <a:avLst>
              <a:gd fmla="val 18000" name="adj"/>
            </a:avLst>
          </a:prstGeom>
          <a:solidFill>
            <a:srgbClr val="FFFFFF"/>
          </a:solidFill>
          <a:ln w="15240">
            <a:solidFill>
              <a:srgbClr val="2F5D5A"/>
            </a:solidFill>
            <a:prstDash val="solid"/>
          </a:ln>
        </p:spPr>
        <p:txBody>
          <a:bodyPr anchor="ctr" bIns="18288" lIns="54864" rIns="54864" tIns="18288" wrap="square"/>
          <a:p>
            <a:pPr algn="ctr" indent="0" marL="0"/>
            <a:r>
              <a:rPr b="true" i="false" sz="950">
                <a:solidFill>
                  <a:srgbClr val="2B2B2B"/>
                </a:solidFill>
                <a:latin typeface="Segoe UI"/>
                <a:ea typeface="Segoe UI"/>
                <a:cs typeface="Segoe UI"/>
              </a:rPr>
              <a:t>Продать физлицу: создать заказ, чек, счёт-фактуру</a:t>
            </a:r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78" name="Shape 178"/>
          <p:cNvSpPr txBox="false"/>
          <p:nvPr isPhoto="false"/>
        </p:nvSpPr>
        <p:spPr>
          <a:xfrm flipH="false" flipV="false" rot="0">
            <a:off x="11247120" y="3319271"/>
            <a:ext cx="237742" cy="237744"/>
          </a:xfrm>
          <a:prstGeom prst="ellipse">
            <a:avLst/>
          </a:prstGeom>
          <a:solidFill>
            <a:srgbClr val="4472C4"/>
          </a:solidFill>
          <a:ln w="12700">
            <a:solidFill>
              <a:srgbClr val="FFFFFF"/>
            </a:solidFill>
            <a:prstDash val="solid"/>
          </a:ln>
        </p:spPr>
        <p:txBody>
          <a:bodyPr anchor="ctr" bIns="0" lIns="0" rIns="0" tIns="0"/>
          <a:p>
            <a:pPr algn="ctr" indent="0" marL="0"/>
            <a:r>
              <a:rPr b="true" i="false" sz="9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</a:t>
            </a:r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79" name="Shape 179"/>
          <p:cNvSpPr txBox="false"/>
          <p:nvPr isPhoto="false"/>
        </p:nvSpPr>
        <p:spPr>
          <a:xfrm flipH="false" flipV="false" rot="0">
            <a:off x="11000232" y="3319271"/>
            <a:ext cx="237742" cy="237744"/>
          </a:xfrm>
          <a:prstGeom prst="ellipse">
            <a:avLst/>
          </a:prstGeom>
          <a:solidFill>
            <a:srgbClr val="7030A0"/>
          </a:solidFill>
          <a:ln w="12700">
            <a:solidFill>
              <a:srgbClr val="FFFFFF"/>
            </a:solidFill>
            <a:prstDash val="solid"/>
          </a:ln>
        </p:spPr>
        <p:txBody>
          <a:bodyPr anchor="ctr" bIns="0" lIns="0" rIns="0" tIns="0"/>
          <a:p>
            <a:pPr algn="ctr" indent="0" marL="0"/>
            <a:r>
              <a:rPr b="true" i="false" sz="9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U</a:t>
            </a:r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80" name="Shape 180"/>
          <p:cNvSpPr txBox="false"/>
          <p:nvPr isPhoto="false"/>
        </p:nvSpPr>
        <p:spPr>
          <a:xfrm flipH="false" flipV="false" rot="0">
            <a:off x="7738910" y="3690937"/>
            <a:ext cx="457200" cy="0"/>
          </a:xfrm>
          <a:prstGeom prst="line">
            <a:avLst/>
          </a:prstGeom>
          <a:ln w="22225">
            <a:solidFill>
              <a:srgbClr val="2F5D5A"/>
            </a:solidFill>
            <a:prstDash val="solid"/>
            <a:tailEnd len="med" type="triangle" w="med"/>
          </a:ln>
        </p:spPr>
        <p:style>
          <a:lnRef idx="0"/>
          <a:fillRef idx="0">
            <a:schemeClr val="accent1"/>
          </a:fillRef>
          <a:effectRef idx="0"/>
          <a:fontRef idx="none"/>
        </p:style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81" name="Shape 181"/>
          <p:cNvSpPr txBox="false"/>
          <p:nvPr isPhoto="false"/>
        </p:nvSpPr>
        <p:spPr>
          <a:xfrm flipH="false" flipV="false" rot="0">
            <a:off x="8183879" y="4279392"/>
            <a:ext cx="3291840" cy="603503"/>
          </a:xfrm>
          <a:prstGeom prst="roundRect">
            <a:avLst>
              <a:gd fmla="val 18000" name="adj"/>
            </a:avLst>
          </a:prstGeom>
          <a:solidFill>
            <a:srgbClr val="FFFFFF"/>
          </a:solidFill>
          <a:ln w="15240">
            <a:solidFill>
              <a:srgbClr val="2F5D5A"/>
            </a:solidFill>
            <a:prstDash val="solid"/>
          </a:ln>
        </p:spPr>
        <p:txBody>
          <a:bodyPr anchor="ctr" bIns="18288" lIns="54864" rIns="54864" tIns="18288" wrap="square"/>
          <a:p>
            <a:pPr algn="ctr" indent="0" marL="0"/>
            <a:r>
              <a:rPr b="true" i="false" sz="950">
                <a:solidFill>
                  <a:srgbClr val="2B2B2B"/>
                </a:solidFill>
                <a:latin typeface="Segoe UI"/>
                <a:ea typeface="Segoe UI"/>
                <a:cs typeface="Segoe UI"/>
              </a:rPr>
              <a:t>Передать в ядро маркировки: «товар передан физлицу»</a:t>
            </a:r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82" name="Shape 182"/>
          <p:cNvSpPr txBox="false"/>
          <p:nvPr isPhoto="false"/>
        </p:nvSpPr>
        <p:spPr>
          <a:xfrm flipH="false" flipV="false" rot="0">
            <a:off x="11247120" y="4178807"/>
            <a:ext cx="237742" cy="237744"/>
          </a:xfrm>
          <a:prstGeom prst="ellipse">
            <a:avLst/>
          </a:prstGeom>
          <a:solidFill>
            <a:srgbClr val="7030A0"/>
          </a:solidFill>
          <a:ln w="12700">
            <a:solidFill>
              <a:srgbClr val="FFFFFF"/>
            </a:solidFill>
            <a:prstDash val="solid"/>
          </a:ln>
        </p:spPr>
        <p:txBody>
          <a:bodyPr anchor="ctr" bIns="0" lIns="0" rIns="0" tIns="0"/>
          <a:p>
            <a:pPr algn="ctr" indent="0" marL="0"/>
            <a:r>
              <a:rPr b="true" i="false" sz="9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U</a:t>
            </a:r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83" name="Shape 183"/>
          <p:cNvSpPr txBox="false"/>
          <p:nvPr isPhoto="false"/>
        </p:nvSpPr>
        <p:spPr>
          <a:xfrm flipH="false" flipV="false" rot="0">
            <a:off x="9829800" y="4023359"/>
            <a:ext cx="0" cy="256032"/>
          </a:xfrm>
          <a:prstGeom prst="line">
            <a:avLst/>
          </a:prstGeom>
          <a:ln w="22225">
            <a:solidFill>
              <a:srgbClr val="2F5D5A"/>
            </a:solidFill>
            <a:prstDash val="solid"/>
            <a:tailEnd len="med" type="triangle" w="med"/>
          </a:ln>
        </p:spPr>
        <p:style>
          <a:lnRef idx="0"/>
          <a:fillRef idx="0">
            <a:schemeClr val="accent1"/>
          </a:fillRef>
          <a:effectRef idx="0"/>
          <a:fontRef idx="none"/>
        </p:style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84" name="Shape 184"/>
          <p:cNvSpPr txBox="false"/>
          <p:nvPr isPhoto="false"/>
        </p:nvSpPr>
        <p:spPr>
          <a:xfrm flipH="false" flipV="false" rot="0">
            <a:off x="4800600" y="4279392"/>
            <a:ext cx="3017519" cy="603503"/>
          </a:xfrm>
          <a:prstGeom prst="roundRect">
            <a:avLst>
              <a:gd fmla="val 18000" name="adj"/>
            </a:avLst>
          </a:prstGeom>
          <a:solidFill>
            <a:srgbClr val="FFFFFF"/>
          </a:solidFill>
          <a:ln w="15240">
            <a:solidFill>
              <a:srgbClr val="2F5D5A"/>
            </a:solidFill>
            <a:prstDash val="solid"/>
          </a:ln>
        </p:spPr>
        <p:txBody>
          <a:bodyPr anchor="ctr" bIns="18288" lIns="54864" rIns="54864" tIns="18288" wrap="square"/>
          <a:p>
            <a:pPr algn="ctr" indent="0" marL="0"/>
            <a:r>
              <a:rPr b="true" i="false" sz="950">
                <a:solidFill>
                  <a:srgbClr val="2B2B2B"/>
                </a:solidFill>
                <a:latin typeface="Segoe UI"/>
                <a:ea typeface="Segoe UI"/>
                <a:cs typeface="Segoe UI"/>
              </a:rPr>
              <a:t>Ядро маркировки подтверждает: КМ → «Выбыл»</a:t>
            </a:r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85" name="Shape 185"/>
          <p:cNvSpPr txBox="false"/>
          <p:nvPr isPhoto="false"/>
        </p:nvSpPr>
        <p:spPr>
          <a:xfrm flipH="false" flipV="false" rot="0">
            <a:off x="7616952" y="4178807"/>
            <a:ext cx="237742" cy="237744"/>
          </a:xfrm>
          <a:prstGeom prst="ellipse">
            <a:avLst/>
          </a:prstGeom>
          <a:solidFill>
            <a:srgbClr val="7030A0"/>
          </a:solidFill>
          <a:ln w="12700">
            <a:solidFill>
              <a:srgbClr val="FFFFFF"/>
            </a:solidFill>
            <a:prstDash val="solid"/>
          </a:ln>
        </p:spPr>
        <p:txBody>
          <a:bodyPr anchor="ctr" bIns="0" lIns="0" rIns="0" tIns="0"/>
          <a:p>
            <a:pPr algn="ctr" indent="0" marL="0"/>
            <a:r>
              <a:rPr b="true" i="false" sz="9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U</a:t>
            </a:r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86" name="Shape 186"/>
          <p:cNvSpPr txBox="false"/>
          <p:nvPr isPhoto="false"/>
        </p:nvSpPr>
        <p:spPr>
          <a:xfrm flipH="true" flipV="false" rot="0">
            <a:off x="7818119" y="4581144"/>
            <a:ext cx="365759" cy="0"/>
          </a:xfrm>
          <a:prstGeom prst="line">
            <a:avLst/>
          </a:prstGeom>
          <a:ln w="22225">
            <a:solidFill>
              <a:srgbClr val="2F5D5A"/>
            </a:solidFill>
            <a:prstDash val="solid"/>
            <a:tailEnd len="med" type="triangle" w="med"/>
          </a:ln>
        </p:spPr>
        <p:style>
          <a:lnRef idx="0"/>
          <a:fillRef idx="0">
            <a:schemeClr val="accent1"/>
          </a:fillRef>
          <a:effectRef idx="0"/>
          <a:fontRef idx="none"/>
        </p:style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87" name="Shape 187"/>
          <p:cNvSpPr txBox="false"/>
          <p:nvPr isPhoto="false"/>
        </p:nvSpPr>
        <p:spPr>
          <a:xfrm flipH="false" flipV="false" rot="0">
            <a:off x="2487168" y="3419854"/>
            <a:ext cx="2240280" cy="603503"/>
          </a:xfrm>
          <a:prstGeom prst="roundRect">
            <a:avLst>
              <a:gd fmla="val 18000" name="adj"/>
            </a:avLst>
          </a:prstGeom>
          <a:solidFill>
            <a:srgbClr val="FFFFFF"/>
          </a:solidFill>
          <a:ln w="15240">
            <a:solidFill>
              <a:srgbClr val="2F5D5A"/>
            </a:solidFill>
            <a:prstDash val="solid"/>
          </a:ln>
        </p:spPr>
        <p:txBody>
          <a:bodyPr anchor="ctr" bIns="18288" lIns="54864" rIns="54864" tIns="18288" wrap="square"/>
          <a:p>
            <a:pPr algn="ctr" indent="0" marL="0"/>
            <a:r>
              <a:rPr b="true" i="false" sz="950">
                <a:solidFill>
                  <a:srgbClr val="2B2B2B"/>
                </a:solidFill>
                <a:latin typeface="Segoe UI"/>
                <a:ea typeface="Segoe UI"/>
                <a:cs typeface="Segoe UI"/>
              </a:rPr>
              <a:t>Обновить заказ клиенту: «Продано», остаток ↓</a:t>
            </a:r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88" name="Shape 188"/>
          <p:cNvSpPr txBox="false"/>
          <p:nvPr isPhoto="false"/>
        </p:nvSpPr>
        <p:spPr>
          <a:xfrm flipH="false" flipV="false" rot="0">
            <a:off x="4526280" y="3319271"/>
            <a:ext cx="237744" cy="237744"/>
          </a:xfrm>
          <a:prstGeom prst="ellipse">
            <a:avLst/>
          </a:prstGeom>
          <a:solidFill>
            <a:srgbClr val="7030A0"/>
          </a:solidFill>
          <a:ln w="12700">
            <a:solidFill>
              <a:srgbClr val="FFFFFF"/>
            </a:solidFill>
            <a:prstDash val="solid"/>
          </a:ln>
        </p:spPr>
        <p:txBody>
          <a:bodyPr anchor="ctr" bIns="0" lIns="0" rIns="0" tIns="0"/>
          <a:p>
            <a:pPr algn="ctr" indent="0" marL="0"/>
            <a:r>
              <a:rPr b="true" i="false" sz="9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U</a:t>
            </a:r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89" name="Shape 189"/>
          <p:cNvSpPr txBox="false"/>
          <p:nvPr isPhoto="false"/>
        </p:nvSpPr>
        <p:spPr>
          <a:xfrm flipH="false" flipV="true" rot="0">
            <a:off x="6309360" y="4178807"/>
            <a:ext cx="0" cy="100584"/>
          </a:xfrm>
          <a:prstGeom prst="line">
            <a:avLst/>
          </a:prstGeom>
          <a:ln w="22225">
            <a:solidFill>
              <a:srgbClr val="2F5D5A"/>
            </a:solidFill>
            <a:prstDash val="solid"/>
          </a:ln>
        </p:spPr>
        <p:style>
          <a:lnRef idx="0"/>
          <a:fillRef idx="0">
            <a:schemeClr val="accent1"/>
          </a:fillRef>
          <a:effectRef idx="0"/>
          <a:fontRef idx="none"/>
        </p:style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90" name="Shape 190"/>
          <p:cNvSpPr txBox="false"/>
          <p:nvPr isPhoto="false"/>
        </p:nvSpPr>
        <p:spPr>
          <a:xfrm flipH="true" flipV="false" rot="0">
            <a:off x="3602736" y="4178807"/>
            <a:ext cx="2706624" cy="0"/>
          </a:xfrm>
          <a:prstGeom prst="line">
            <a:avLst/>
          </a:prstGeom>
          <a:ln w="22225">
            <a:solidFill>
              <a:srgbClr val="2F5D5A"/>
            </a:solidFill>
            <a:prstDash val="solid"/>
          </a:ln>
        </p:spPr>
        <p:style>
          <a:lnRef idx="0"/>
          <a:fillRef idx="0">
            <a:schemeClr val="accent1"/>
          </a:fillRef>
          <a:effectRef idx="0"/>
          <a:fontRef idx="none"/>
        </p:style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91" name="Shape 191"/>
          <p:cNvSpPr txBox="false"/>
          <p:nvPr isPhoto="false"/>
        </p:nvSpPr>
        <p:spPr>
          <a:xfrm flipH="false" flipV="true" rot="0">
            <a:off x="3602736" y="4023359"/>
            <a:ext cx="0" cy="155447"/>
          </a:xfrm>
          <a:prstGeom prst="line">
            <a:avLst/>
          </a:prstGeom>
          <a:ln w="22225">
            <a:solidFill>
              <a:srgbClr val="2F5D5A"/>
            </a:solidFill>
            <a:prstDash val="solid"/>
            <a:tailEnd len="med" type="triangle" w="med"/>
          </a:ln>
        </p:spPr>
        <p:style>
          <a:lnRef idx="0"/>
          <a:fillRef idx="0">
            <a:schemeClr val="accent1"/>
          </a:fillRef>
          <a:effectRef idx="0"/>
          <a:fontRef idx="none"/>
        </p:style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92" name="Shape 192"/>
          <p:cNvSpPr txBox="false"/>
          <p:nvPr isPhoto="false"/>
        </p:nvSpPr>
        <p:spPr>
          <a:xfrm flipH="false" flipV="false" rot="0">
            <a:off x="2487168" y="5138927"/>
            <a:ext cx="2743200" cy="603503"/>
          </a:xfrm>
          <a:prstGeom prst="roundRect">
            <a:avLst>
              <a:gd fmla="val 18000" name="adj"/>
            </a:avLst>
          </a:prstGeom>
          <a:solidFill>
            <a:srgbClr val="FFFFFF"/>
          </a:solidFill>
          <a:ln w="15240">
            <a:solidFill>
              <a:srgbClr val="2F5D5A"/>
            </a:solidFill>
            <a:prstDash val="solid"/>
          </a:ln>
        </p:spPr>
        <p:txBody>
          <a:bodyPr anchor="ctr" bIns="18288" lIns="54864" rIns="54864" tIns="18288" wrap="square"/>
          <a:p>
            <a:pPr algn="ctr" indent="0" marL="0"/>
            <a:r>
              <a:rPr b="true" i="false" sz="950">
                <a:solidFill>
                  <a:srgbClr val="2B2B2B"/>
                </a:solidFill>
                <a:latin typeface="Segoe UI"/>
                <a:ea typeface="Segoe UI"/>
                <a:cs typeface="Segoe UI"/>
              </a:rPr>
              <a:t>Клиент получает товар, чек и подтверждение</a:t>
            </a:r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93" name="Shape 193"/>
          <p:cNvSpPr txBox="false"/>
          <p:nvPr isPhoto="false"/>
        </p:nvSpPr>
        <p:spPr>
          <a:xfrm flipH="false" flipV="false" rot="0">
            <a:off x="3602736" y="4023359"/>
            <a:ext cx="0" cy="1115568"/>
          </a:xfrm>
          <a:prstGeom prst="line">
            <a:avLst/>
          </a:prstGeom>
          <a:ln w="22225">
            <a:solidFill>
              <a:srgbClr val="2F5D5A"/>
            </a:solidFill>
            <a:prstDash val="solid"/>
            <a:tailEnd len="med" type="triangle" w="med"/>
          </a:ln>
        </p:spPr>
        <p:style>
          <a:lnRef idx="0"/>
          <a:fillRef idx="0">
            <a:schemeClr val="accent1"/>
          </a:fillRef>
          <a:effectRef idx="0"/>
          <a:fontRef idx="none"/>
        </p:style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94" name="Shape 194"/>
          <p:cNvSpPr txBox="false"/>
          <p:nvPr isPhoto="false"/>
        </p:nvSpPr>
        <p:spPr>
          <a:xfrm flipH="false" flipV="false" rot="0">
            <a:off x="5532120" y="5248655"/>
            <a:ext cx="384047" cy="384047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F5D5A"/>
            </a:solidFill>
            <a:prstDash val="solid"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95" name="Shape 195"/>
          <p:cNvSpPr txBox="false"/>
          <p:nvPr isPhoto="false"/>
        </p:nvSpPr>
        <p:spPr>
          <a:xfrm flipH="false" flipV="false" rot="0">
            <a:off x="5230368" y="5440679"/>
            <a:ext cx="301752" cy="0"/>
          </a:xfrm>
          <a:prstGeom prst="line">
            <a:avLst/>
          </a:prstGeom>
          <a:ln w="22225">
            <a:solidFill>
              <a:srgbClr val="2F5D5A"/>
            </a:solidFill>
            <a:prstDash val="solid"/>
            <a:tailEnd len="med" type="triangle" w="med"/>
          </a:ln>
        </p:spPr>
        <p:style>
          <a:lnRef idx="0"/>
          <a:fillRef idx="0">
            <a:schemeClr val="accent1"/>
          </a:fillRef>
          <a:effectRef idx="0"/>
          <a:fontRef idx="none"/>
        </p:style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96" name="Shape 196"/>
          <p:cNvSpPr txBox="false"/>
          <p:nvPr isPhoto="false"/>
        </p:nvSpPr>
        <p:spPr>
          <a:xfrm flipH="false" flipV="false" rot="0">
            <a:off x="502919" y="5989320"/>
            <a:ext cx="11292840" cy="658367"/>
          </a:xfrm>
          <a:prstGeom prst="rect">
            <a:avLst/>
          </a:prstGeom>
          <a:solidFill>
            <a:srgbClr val="F2EFE8"/>
          </a:solidFill>
          <a:ln w="15240">
            <a:solidFill>
              <a:srgbClr val="D8D3C8"/>
            </a:solidFill>
            <a:prstDash val="solid"/>
          </a:ln>
        </p:spPr>
        <p:txBody>
          <a:bodyPr anchor="ctr" bIns="18288" lIns="54864" rIns="54864" tIns="18288" wrap="square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97" name="Shape 197"/>
          <p:cNvSpPr txBox="false"/>
          <p:nvPr isPhoto="false"/>
        </p:nvSpPr>
        <p:spPr>
          <a:xfrm flipH="false" flipV="false" rot="0">
            <a:off x="685800" y="6199632"/>
            <a:ext cx="237744" cy="237744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txBody>
          <a:bodyPr anchor="ctr" bIns="0" lIns="0" rIns="0" tIns="0"/>
          <a:p>
            <a:pPr algn="ctr" indent="0" marL="0"/>
            <a:r>
              <a:rPr b="true" i="false" sz="9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</a:t>
            </a:r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98" name="Shape 198"/>
          <p:cNvSpPr txBox="true"/>
          <p:nvPr isPhoto="false"/>
        </p:nvSpPr>
        <p:spPr>
          <a:xfrm flipH="false" flipV="false" rot="0">
            <a:off x="978408" y="6163056"/>
            <a:ext cx="2651759" cy="274320"/>
          </a:xfrm>
          <a:prstGeom prst="rect">
            <a:avLst/>
          </a:prstGeom>
          <a:noFill/>
        </p:spPr>
        <p:txBody>
          <a:bodyPr bIns="45720" lIns="91440" rIns="91440" tIns="45720" wrap="none">
            <a:spAutoFit/>
          </a:bodyPr>
          <a:p>
            <a:pPr algn="l" indent="0" marL="0"/>
            <a:r>
              <a:rPr b="false" i="false" sz="850">
                <a:solidFill>
                  <a:srgbClr val="2B2B2B"/>
                </a:solidFill>
                <a:latin typeface="Segoe UI"/>
                <a:ea typeface="Segoe UI"/>
                <a:cs typeface="Segoe UI"/>
              </a:rPr>
              <a:t>Создание записи в БД — заказ, чек, счёт-фактура, акт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199" name="Shape 199"/>
          <p:cNvSpPr txBox="false"/>
          <p:nvPr isPhoto="false"/>
        </p:nvSpPr>
        <p:spPr>
          <a:xfrm flipH="false" flipV="false" rot="0">
            <a:off x="3960495" y="6190107"/>
            <a:ext cx="237744" cy="237744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txBody>
          <a:bodyPr anchor="ctr" bIns="0" lIns="0" rIns="0" tIns="0"/>
          <a:p>
            <a:pPr algn="ctr" indent="0" marL="0"/>
            <a:r>
              <a:rPr b="true" i="false" sz="90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U</a:t>
            </a:r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00" name="Shape 200"/>
          <p:cNvSpPr txBox="true"/>
          <p:nvPr isPhoto="false"/>
        </p:nvSpPr>
        <p:spPr>
          <a:xfrm flipH="false" flipV="false" rot="0">
            <a:off x="4253103" y="6153531"/>
            <a:ext cx="2961433" cy="235022"/>
          </a:xfrm>
          <a:prstGeom prst="rect">
            <a:avLst/>
          </a:prstGeom>
          <a:noFill/>
        </p:spPr>
        <p:txBody>
          <a:bodyPr bIns="45720" lIns="91440" rIns="91440" tIns="45720" wrap="none">
            <a:spAutoFit/>
          </a:bodyPr>
          <a:p>
            <a:pPr algn="l" indent="0" marL="0"/>
            <a:r>
              <a:rPr b="false" i="false" sz="850">
                <a:solidFill>
                  <a:srgbClr val="2B2B2B"/>
                </a:solidFill>
                <a:latin typeface="Segoe UI"/>
                <a:ea typeface="Segoe UI"/>
                <a:cs typeface="Segoe UI"/>
              </a:rPr>
              <a:t>Изменение записи — остатки, статусы КМ, статус заказа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01" name="Shape 201"/>
          <p:cNvSpPr txBox="false"/>
          <p:nvPr isPhoto="false"/>
        </p:nvSpPr>
        <p:spPr>
          <a:xfrm flipH="false" flipV="false" rot="0">
            <a:off x="7273290" y="6180582"/>
            <a:ext cx="237742" cy="237744"/>
          </a:xfrm>
          <a:prstGeom prst="ellipse">
            <a:avLst/>
          </a:prstGeom>
          <a:solidFill>
            <a:srgbClr val="E88F2E"/>
          </a:solidFill>
          <a:ln>
            <a:noFill/>
          </a:ln>
        </p:spPr>
        <p:txBody>
          <a:bodyPr anchor="ctr" bIns="0" lIns="0" rIns="0" tIns="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02" name="Shape 202"/>
          <p:cNvSpPr txBox="true"/>
          <p:nvPr isPhoto="false"/>
        </p:nvSpPr>
        <p:spPr>
          <a:xfrm flipH="false" flipV="false" rot="0">
            <a:off x="7565898" y="6144006"/>
            <a:ext cx="2293545" cy="235022"/>
          </a:xfrm>
          <a:prstGeom prst="rect">
            <a:avLst/>
          </a:prstGeom>
          <a:noFill/>
        </p:spPr>
        <p:txBody>
          <a:bodyPr bIns="45720" lIns="91440" rIns="91440" tIns="45720" wrap="none">
            <a:spAutoFit/>
          </a:bodyPr>
          <a:p>
            <a:pPr algn="l" indent="0" marL="0"/>
            <a:r>
              <a:rPr b="false" i="false" sz="850">
                <a:solidFill>
                  <a:srgbClr val="2B2B2B"/>
                </a:solidFill>
                <a:latin typeface="Segoe UI"/>
                <a:ea typeface="Segoe UI"/>
                <a:cs typeface="Segoe UI"/>
              </a:rPr>
              <a:t>Триггер — переход товара в БД компании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03" name="Shape 203"/>
          <p:cNvSpPr txBox="false"/>
          <p:nvPr isPhoto="false"/>
        </p:nvSpPr>
        <p:spPr>
          <a:xfrm flipH="false" flipV="false" rot="0">
            <a:off x="7043585" y="2852737"/>
            <a:ext cx="752475" cy="0"/>
          </a:xfrm>
          <a:prstGeom prst="line">
            <a:avLst/>
          </a:prstGeom>
          <a:ln w="22225">
            <a:solidFill>
              <a:srgbClr val="2F5D5A"/>
            </a:solidFill>
            <a:prstDash val="solid"/>
            <a:tailEnd len="med" type="triangle" w="med"/>
          </a:ln>
        </p:spPr>
        <p:style>
          <a:lnRef idx="0"/>
          <a:fillRef idx="0">
            <a:schemeClr val="accent1"/>
          </a:fillRef>
          <a:effectRef idx="0"/>
          <a:fontRef idx="none"/>
        </p:style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04" name="Shape 204"/>
          <p:cNvSpPr txBox="false"/>
          <p:nvPr isPhoto="false"/>
        </p:nvSpPr>
        <p:spPr>
          <a:xfrm flipH="false" flipV="false" rot="0">
            <a:off x="4953889" y="3371850"/>
            <a:ext cx="1362075" cy="603503"/>
          </a:xfrm>
          <a:prstGeom prst="roundRect">
            <a:avLst>
              <a:gd fmla="val 18000" name="adj"/>
            </a:avLst>
          </a:prstGeom>
          <a:solidFill>
            <a:srgbClr val="FFFFFF"/>
          </a:solidFill>
          <a:ln w="15240">
            <a:solidFill>
              <a:srgbClr val="2F5D5A"/>
            </a:solidFill>
            <a:prstDash val="solid"/>
          </a:ln>
        </p:spPr>
        <p:txBody>
          <a:bodyPr anchor="ctr" bIns="18288" lIns="54864" rIns="54864" tIns="18288" wrap="square"/>
          <a:p>
            <a:pPr algn="ctr" indent="0" marL="0"/>
            <a:r>
              <a:rPr b="true" i="false" sz="950">
                <a:solidFill>
                  <a:srgbClr val="2B2B2B"/>
                </a:solidFill>
                <a:latin typeface="Segoe UI"/>
                <a:ea typeface="Segoe UI"/>
                <a:cs typeface="Segoe UI"/>
              </a:rPr>
              <a:t>Запросить наличие и срок поставки</a:t>
            </a:r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05" name="Shape 205"/>
          <p:cNvSpPr txBox="false"/>
          <p:nvPr isPhoto="false"/>
        </p:nvSpPr>
        <p:spPr>
          <a:xfrm flipH="false" flipV="false" rot="0">
            <a:off x="6621906" y="3357562"/>
            <a:ext cx="1140713" cy="643478"/>
          </a:xfrm>
          <a:prstGeom prst="diamond">
            <a:avLst/>
          </a:prstGeom>
          <a:solidFill>
            <a:srgbClr val="FFFFFF"/>
          </a:solidFill>
          <a:ln w="17780">
            <a:solidFill>
              <a:srgbClr val="2F5D5A"/>
            </a:solidFill>
            <a:prstDash val="solid"/>
          </a:ln>
        </p:spPr>
        <p:txBody>
          <a:bodyPr anchor="ctr" bIns="45720" lIns="18288" rIns="18288" tIns="45720" wrap="square">
            <a:noAutofit/>
          </a:bodyPr>
          <a:p>
            <a:pPr algn="ctr" indent="0" marL="0"/>
            <a:r>
              <a:rPr b="true" i="false" sz="850">
                <a:solidFill>
                  <a:srgbClr val="2B2B2B"/>
                </a:solidFill>
                <a:latin typeface="Segoe UI"/>
                <a:ea typeface="Segoe UI"/>
                <a:cs typeface="Segoe UI"/>
              </a:rPr>
              <a:t>Товар доступен?</a:t>
            </a:r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06" name="Shape 206"/>
          <p:cNvSpPr txBox="true"/>
          <p:nvPr isPhoto="false"/>
        </p:nvSpPr>
        <p:spPr>
          <a:xfrm flipH="false" flipV="false" rot="0">
            <a:off x="7792337" y="3452368"/>
            <a:ext cx="315207" cy="243468"/>
          </a:xfrm>
          <a:prstGeom prst="rect">
            <a:avLst/>
          </a:prstGeom>
          <a:noFill/>
        </p:spPr>
        <p:txBody>
          <a:bodyPr bIns="45720" lIns="91440" rIns="91440" tIns="45720" wrap="none">
            <a:spAutoFit/>
          </a:bodyPr>
          <a:p>
            <a:pPr algn="l" indent="0" marL="0"/>
            <a:r>
              <a:rPr b="true" i="false" sz="900">
                <a:solidFill>
                  <a:srgbClr val="2F8F5B"/>
                </a:solidFill>
                <a:latin typeface="Segoe UI"/>
                <a:ea typeface="Segoe UI"/>
                <a:cs typeface="Segoe UI"/>
              </a:rPr>
              <a:t>да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07" name="Shape 207"/>
          <p:cNvSpPr txBox="false"/>
          <p:nvPr isPhoto="false"/>
        </p:nvSpPr>
        <p:spPr>
          <a:xfrm flipH="false" flipV="false" rot="0">
            <a:off x="6329210" y="3681412"/>
            <a:ext cx="285748" cy="0"/>
          </a:xfrm>
          <a:prstGeom prst="line">
            <a:avLst/>
          </a:prstGeom>
          <a:ln w="22225">
            <a:solidFill>
              <a:srgbClr val="2F5D5A"/>
            </a:solidFill>
            <a:prstDash val="solid"/>
            <a:tailEnd len="med" type="triangle" w="med"/>
          </a:ln>
        </p:spPr>
        <p:style>
          <a:lnRef idx="0"/>
          <a:fillRef idx="0">
            <a:schemeClr val="accent1"/>
          </a:fillRef>
          <a:effectRef idx="0"/>
          <a:fontRef idx="none"/>
        </p:style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08" name="Shape 208"/>
          <p:cNvSpPr txBox="false"/>
          <p:nvPr isPhoto="false"/>
        </p:nvSpPr>
        <p:spPr>
          <a:xfrm flipH="true" flipV="true" rot="0">
            <a:off x="6329210" y="3890962"/>
            <a:ext cx="895348" cy="114300"/>
          </a:xfrm>
          <a:prstGeom prst="line">
            <a:avLst/>
          </a:prstGeom>
          <a:ln w="22225">
            <a:solidFill>
              <a:srgbClr val="2F5D5A"/>
            </a:solidFill>
            <a:prstDash val="solid"/>
            <a:tailEnd len="med" type="triangle" w="med"/>
          </a:ln>
        </p:spPr>
        <p:style>
          <a:lnRef idx="0"/>
          <a:fillRef idx="0">
            <a:schemeClr val="accent1"/>
          </a:fillRef>
          <a:effectRef idx="0"/>
          <a:fontRef idx="none"/>
        </p:style>
        <p:txBody>
          <a:bodyPr bIns="45720" lIns="91440" rIns="91440" tIns="45720"/>
          <a:p>
            <a:pPr algn="l" indent="0" marL="0"/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09" name="Shape 209"/>
          <p:cNvSpPr txBox="true"/>
          <p:nvPr isPhoto="false"/>
        </p:nvSpPr>
        <p:spPr>
          <a:xfrm flipH="false" flipV="false" rot="0">
            <a:off x="6484747" y="3879088"/>
            <a:ext cx="366607" cy="243468"/>
          </a:xfrm>
          <a:prstGeom prst="rect">
            <a:avLst/>
          </a:prstGeom>
          <a:noFill/>
        </p:spPr>
        <p:txBody>
          <a:bodyPr bIns="45720" lIns="91440" rIns="91440" tIns="45720" wrap="none">
            <a:spAutoFit/>
          </a:bodyPr>
          <a:p>
            <a:pPr algn="l" indent="0" marL="0"/>
            <a:r>
              <a:rPr b="true" i="false" sz="900">
                <a:solidFill>
                  <a:srgbClr val="C0504D"/>
                </a:solidFill>
                <a:latin typeface="Segoe UI"/>
                <a:ea typeface="Segoe UI"/>
                <a:cs typeface="Segoe UI"/>
              </a:rPr>
              <a:t>нет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4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210" name="GroupShape 210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211" name="Shape 211"/>
          <p:cNvSpPr txBox="true"/>
          <p:nvPr isPhoto="false"/>
        </p:nvSpPr>
        <p:spPr>
          <a:xfrm flipH="false" flipV="false" rot="0">
            <a:off x="502919" y="292608"/>
            <a:ext cx="8229600" cy="27431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/>
            <a:r>
              <a:rPr b="true" i="false" sz="900">
                <a:solidFill>
                  <a:srgbClr val="67AE70"/>
                </a:solidFill>
                <a:latin typeface="Arial"/>
                <a:ea typeface="Arial"/>
                <a:cs typeface="Arial"/>
              </a:rPr>
              <a:t>ПРОДАЖА ТОВАРОВ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12" name="Shape 212"/>
          <p:cNvSpPr txBox="true"/>
          <p:nvPr isPhoto="false"/>
        </p:nvSpPr>
        <p:spPr>
          <a:xfrm flipH="false" flipV="false" rot="0">
            <a:off x="502919" y="502919"/>
            <a:ext cx="10515600" cy="54864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/>
            <a:r>
              <a:rPr b="true" i="false" sz="2500">
                <a:solidFill>
                  <a:srgbClr val="163F5C"/>
                </a:solidFill>
                <a:latin typeface="Calibri"/>
                <a:ea typeface="Calibri"/>
                <a:cs typeface="Calibri"/>
              </a:rPr>
              <a:t>4. Что происходит внутри группы «Продажа»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13" name="Shape 213"/>
          <p:cNvSpPr txBox="true"/>
          <p:nvPr isPhoto="false"/>
        </p:nvSpPr>
        <p:spPr>
          <a:xfrm flipH="false" flipV="false" rot="0">
            <a:off x="502919" y="1042414"/>
            <a:ext cx="10881360" cy="365758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/>
            <a:r>
              <a:rPr b="false" i="false" sz="1100">
                <a:solidFill>
                  <a:srgbClr val="677278"/>
                </a:solidFill>
                <a:latin typeface="Arial"/>
                <a:ea typeface="Arial"/>
                <a:cs typeface="Arial"/>
              </a:rPr>
              <a:t>Связываем сквозную схему с задачей по базе данных группы «Продажа».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14" name="Shape 214"/>
          <p:cNvSpPr txBox="true"/>
          <p:nvPr isPhoto="false"/>
        </p:nvSpPr>
        <p:spPr>
          <a:xfrm flipH="false" flipV="false" rot="0">
            <a:off x="502919" y="6473952"/>
            <a:ext cx="5486400" cy="2286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/>
            <a:r>
              <a:rPr b="false" i="false" sz="800">
                <a:solidFill>
                  <a:srgbClr val="677278"/>
                </a:solidFill>
                <a:latin typeface="Arial"/>
                <a:ea typeface="Arial"/>
                <a:cs typeface="Arial"/>
              </a:rPr>
              <a:t>Продажа товаров • Группа 3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15" name="Shape 215"/>
          <p:cNvSpPr txBox="true"/>
          <p:nvPr isPhoto="false"/>
        </p:nvSpPr>
        <p:spPr>
          <a:xfrm flipH="false" flipV="false" rot="0">
            <a:off x="11247120" y="6455664"/>
            <a:ext cx="457200" cy="274318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r" indent="0" marL="0"/>
            <a:r>
              <a:rPr b="false" i="false" sz="900">
                <a:solidFill>
                  <a:srgbClr val="5C6767"/>
                </a:solidFill>
                <a:latin typeface="Calibri"/>
                <a:ea typeface="Calibri"/>
                <a:cs typeface="Calibri"/>
              </a:rPr>
              <a:t>4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16" name="Shape 216"/>
          <p:cNvSpPr txBox="false"/>
          <p:nvPr isPhoto="false"/>
        </p:nvSpPr>
        <p:spPr>
          <a:xfrm flipH="false" flipV="false" rot="0">
            <a:off x="429768" y="1600200"/>
            <a:ext cx="2121408" cy="2651759"/>
          </a:xfrm>
          <a:prstGeom prst="roundRect">
            <a:avLst>
              <a:gd fmla="val 8000" name="adj"/>
            </a:avLst>
          </a:prstGeom>
          <a:solidFill>
            <a:srgbClr val="E0EEFA"/>
          </a:solidFill>
          <a:ln w="12700">
            <a:solidFill>
              <a:srgbClr val="D5DDE6"/>
            </a:solidFill>
            <a:prstDash val="solid"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17" name="Shape 217"/>
          <p:cNvSpPr txBox="true"/>
          <p:nvPr isPhoto="false"/>
        </p:nvSpPr>
        <p:spPr>
          <a:xfrm flipH="false" flipV="false" rot="0">
            <a:off x="566928" y="1746504"/>
            <a:ext cx="1847088" cy="27432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/>
            <a:r>
              <a:rPr b="true" i="false" sz="1300">
                <a:solidFill>
                  <a:srgbClr val="5B9FD7"/>
                </a:solidFill>
                <a:latin typeface="Arial"/>
                <a:ea typeface="Arial"/>
                <a:cs typeface="Arial"/>
              </a:rPr>
              <a:t>1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18" name="Shape 218"/>
          <p:cNvSpPr txBox="true"/>
          <p:nvPr isPhoto="false"/>
        </p:nvSpPr>
        <p:spPr>
          <a:xfrm flipH="false" flipV="false" rot="0">
            <a:off x="566928" y="2057400"/>
            <a:ext cx="1847088" cy="50292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lnSpc>
                <a:spcPct val="100000"/>
              </a:lnSpc>
            </a:pPr>
            <a:r>
              <a:rPr b="true" i="false" sz="1250">
                <a:solidFill>
                  <a:srgbClr val="133959"/>
                </a:solidFill>
                <a:latin typeface="Arial"/>
                <a:ea typeface="Arial"/>
                <a:cs typeface="Arial"/>
              </a:rPr>
              <a:t>Приём товара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19" name="Shape 219"/>
          <p:cNvSpPr txBox="true"/>
          <p:nvPr isPhoto="false"/>
        </p:nvSpPr>
        <p:spPr>
          <a:xfrm flipH="false" flipV="false" rot="0">
            <a:off x="566928" y="2606040"/>
            <a:ext cx="1847088" cy="155448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lnSpc>
                <a:spcPct val="112000"/>
              </a:lnSpc>
            </a:pPr>
            <a:r>
              <a:rPr b="false" i="false" sz="950">
                <a:solidFill>
                  <a:srgbClr val="263034"/>
                </a:solidFill>
                <a:latin typeface="Arial"/>
                <a:ea typeface="Arial"/>
                <a:cs typeface="Arial"/>
              </a:rPr>
              <a:t>Получаем товар от группы импорта: УПД + коды маркировки партии.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20" name="Shape 220"/>
          <p:cNvSpPr txBox="false"/>
          <p:nvPr isPhoto="false"/>
        </p:nvSpPr>
        <p:spPr>
          <a:xfrm flipH="false" flipV="false" rot="0">
            <a:off x="2670048" y="1600200"/>
            <a:ext cx="2121408" cy="2651759"/>
          </a:xfrm>
          <a:prstGeom prst="roundRect">
            <a:avLst>
              <a:gd fmla="val 8000" name="adj"/>
            </a:avLst>
          </a:prstGeom>
          <a:solidFill>
            <a:srgbClr val="E0EEFA"/>
          </a:solidFill>
          <a:ln w="12700">
            <a:solidFill>
              <a:srgbClr val="D5DDE6"/>
            </a:solidFill>
            <a:prstDash val="solid"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21" name="Shape 221"/>
          <p:cNvSpPr txBox="true"/>
          <p:nvPr isPhoto="false"/>
        </p:nvSpPr>
        <p:spPr>
          <a:xfrm flipH="false" flipV="false" rot="0">
            <a:off x="2807208" y="1746504"/>
            <a:ext cx="1847087" cy="27432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/>
            <a:r>
              <a:rPr b="true" i="false" sz="1300">
                <a:solidFill>
                  <a:srgbClr val="5B9FD7"/>
                </a:solidFill>
                <a:latin typeface="Arial"/>
                <a:ea typeface="Arial"/>
                <a:cs typeface="Arial"/>
              </a:rPr>
              <a:t>2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22" name="Shape 222"/>
          <p:cNvSpPr txBox="true"/>
          <p:nvPr isPhoto="false"/>
        </p:nvSpPr>
        <p:spPr>
          <a:xfrm flipH="false" flipV="false" rot="0">
            <a:off x="2807208" y="2057400"/>
            <a:ext cx="1847087" cy="50292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lnSpc>
                <a:spcPct val="100000"/>
              </a:lnSpc>
            </a:pPr>
            <a:r>
              <a:rPr b="true" i="false" sz="1250">
                <a:solidFill>
                  <a:srgbClr val="133959"/>
                </a:solidFill>
                <a:latin typeface="Arial"/>
                <a:ea typeface="Arial"/>
                <a:cs typeface="Arial"/>
              </a:rPr>
              <a:t>Сверка КМ и УПД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23" name="Shape 223"/>
          <p:cNvSpPr txBox="true"/>
          <p:nvPr isPhoto="false"/>
        </p:nvSpPr>
        <p:spPr>
          <a:xfrm flipH="false" flipV="false" rot="0">
            <a:off x="2807208" y="2606040"/>
            <a:ext cx="1847087" cy="155448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lnSpc>
                <a:spcPct val="112000"/>
              </a:lnSpc>
            </a:pPr>
            <a:r>
              <a:rPr b="false" i="false" sz="950">
                <a:solidFill>
                  <a:srgbClr val="263034"/>
                </a:solidFill>
                <a:latin typeface="Arial"/>
                <a:ea typeface="Arial"/>
                <a:cs typeface="Arial"/>
              </a:rPr>
              <a:t>Проверяем каждый КМ по документам; расхождения — с группой импорта.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24" name="Shape 224"/>
          <p:cNvSpPr txBox="false"/>
          <p:nvPr isPhoto="false"/>
        </p:nvSpPr>
        <p:spPr>
          <a:xfrm flipH="false" flipV="false" rot="0">
            <a:off x="4910327" y="1600200"/>
            <a:ext cx="2121408" cy="2651759"/>
          </a:xfrm>
          <a:prstGeom prst="roundRect">
            <a:avLst>
              <a:gd fmla="val 8000" name="adj"/>
            </a:avLst>
          </a:prstGeom>
          <a:solidFill>
            <a:srgbClr val="E0EEFA"/>
          </a:solidFill>
          <a:ln w="12700">
            <a:solidFill>
              <a:srgbClr val="D5DDE6"/>
            </a:solidFill>
            <a:prstDash val="solid"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25" name="Shape 225"/>
          <p:cNvSpPr txBox="true"/>
          <p:nvPr isPhoto="false"/>
        </p:nvSpPr>
        <p:spPr>
          <a:xfrm flipH="false" flipV="false" rot="0">
            <a:off x="5047488" y="1746504"/>
            <a:ext cx="1847088" cy="27432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/>
            <a:r>
              <a:rPr b="true" i="false" sz="1300">
                <a:solidFill>
                  <a:srgbClr val="5B9FD7"/>
                </a:solidFill>
                <a:latin typeface="Arial"/>
                <a:ea typeface="Arial"/>
                <a:cs typeface="Arial"/>
              </a:rPr>
              <a:t>3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26" name="Shape 226"/>
          <p:cNvSpPr txBox="true"/>
          <p:nvPr isPhoto="false"/>
        </p:nvSpPr>
        <p:spPr>
          <a:xfrm flipH="false" flipV="false" rot="0">
            <a:off x="5047488" y="2057400"/>
            <a:ext cx="1847088" cy="50292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lnSpc>
                <a:spcPct val="100000"/>
              </a:lnSpc>
            </a:pPr>
            <a:r>
              <a:rPr b="true" i="false" sz="1250">
                <a:solidFill>
                  <a:srgbClr val="133959"/>
                </a:solidFill>
                <a:latin typeface="Arial"/>
                <a:ea typeface="Arial"/>
                <a:cs typeface="Arial"/>
              </a:rPr>
              <a:t>Запись в БД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27" name="Shape 227"/>
          <p:cNvSpPr txBox="true"/>
          <p:nvPr isPhoto="false"/>
        </p:nvSpPr>
        <p:spPr>
          <a:xfrm flipH="false" flipV="false" rot="0">
            <a:off x="5047488" y="2606040"/>
            <a:ext cx="1847088" cy="155448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lnSpc>
                <a:spcPct val="112000"/>
              </a:lnSpc>
            </a:pPr>
            <a:r>
              <a:rPr b="false" i="false" sz="950">
                <a:solidFill>
                  <a:srgbClr val="263034"/>
                </a:solidFill>
                <a:latin typeface="Arial"/>
                <a:ea typeface="Arial"/>
                <a:cs typeface="Arial"/>
              </a:rPr>
              <a:t>import_receipt + import_items; остатки ↑, КМ → «В обороте», запись в журнал.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28" name="Shape 228"/>
          <p:cNvSpPr txBox="false"/>
          <p:nvPr isPhoto="false"/>
        </p:nvSpPr>
        <p:spPr>
          <a:xfrm flipH="false" flipV="false" rot="0">
            <a:off x="7150607" y="1600200"/>
            <a:ext cx="2121407" cy="2651759"/>
          </a:xfrm>
          <a:prstGeom prst="roundRect">
            <a:avLst>
              <a:gd fmla="val 8000" name="adj"/>
            </a:avLst>
          </a:prstGeom>
          <a:solidFill>
            <a:srgbClr val="E8F5EA"/>
          </a:solidFill>
          <a:ln w="12700">
            <a:solidFill>
              <a:srgbClr val="D5DDE6"/>
            </a:solidFill>
            <a:prstDash val="solid"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29" name="Shape 229"/>
          <p:cNvSpPr txBox="true"/>
          <p:nvPr isPhoto="false"/>
        </p:nvSpPr>
        <p:spPr>
          <a:xfrm flipH="false" flipV="false" rot="0">
            <a:off x="7287768" y="1746504"/>
            <a:ext cx="1847088" cy="27432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/>
            <a:r>
              <a:rPr b="true" i="false" sz="1300">
                <a:solidFill>
                  <a:srgbClr val="5B9FD7"/>
                </a:solidFill>
                <a:latin typeface="Arial"/>
                <a:ea typeface="Arial"/>
                <a:cs typeface="Arial"/>
              </a:rPr>
              <a:t>4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30" name="Shape 230"/>
          <p:cNvSpPr txBox="true"/>
          <p:nvPr isPhoto="false"/>
        </p:nvSpPr>
        <p:spPr>
          <a:xfrm flipH="false" flipV="false" rot="0">
            <a:off x="7287768" y="2057400"/>
            <a:ext cx="1847088" cy="50292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lnSpc>
                <a:spcPct val="100000"/>
              </a:lnSpc>
            </a:pPr>
            <a:r>
              <a:rPr b="true" i="false" sz="1250">
                <a:solidFill>
                  <a:srgbClr val="133959"/>
                </a:solidFill>
                <a:latin typeface="Arial"/>
                <a:ea typeface="Arial"/>
                <a:cs typeface="Arial"/>
              </a:rPr>
              <a:t>Продажа физлицу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31" name="Shape 231"/>
          <p:cNvSpPr txBox="true"/>
          <p:nvPr isPhoto="false"/>
        </p:nvSpPr>
        <p:spPr>
          <a:xfrm flipH="false" flipV="false" rot="0">
            <a:off x="7287768" y="2606040"/>
            <a:ext cx="1847088" cy="155448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lnSpc>
                <a:spcPct val="112000"/>
              </a:lnSpc>
            </a:pPr>
            <a:r>
              <a:rPr b="false" i="false" sz="950">
                <a:solidFill>
                  <a:srgbClr val="263034"/>
                </a:solidFill>
                <a:latin typeface="Arial"/>
                <a:ea typeface="Arial"/>
                <a:cs typeface="Arial"/>
              </a:rPr>
              <a:t>Создаём заказ, чек и счёт-фактуру; остатки ↓, заказ → «Продано».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32" name="Shape 232"/>
          <p:cNvSpPr txBox="false"/>
          <p:nvPr isPhoto="false"/>
        </p:nvSpPr>
        <p:spPr>
          <a:xfrm flipH="false" flipV="false" rot="0">
            <a:off x="9390888" y="1600200"/>
            <a:ext cx="2121407" cy="2651759"/>
          </a:xfrm>
          <a:prstGeom prst="roundRect">
            <a:avLst>
              <a:gd fmla="val 8000" name="adj"/>
            </a:avLst>
          </a:prstGeom>
          <a:solidFill>
            <a:srgbClr val="E8F5EA"/>
          </a:solidFill>
          <a:ln w="12700">
            <a:solidFill>
              <a:srgbClr val="D5DDE6"/>
            </a:solidFill>
            <a:prstDash val="solid"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33" name="Shape 233"/>
          <p:cNvSpPr txBox="true"/>
          <p:nvPr isPhoto="false"/>
        </p:nvSpPr>
        <p:spPr>
          <a:xfrm flipH="false" flipV="false" rot="0">
            <a:off x="9528048" y="1746504"/>
            <a:ext cx="1847088" cy="27432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/>
            <a:r>
              <a:rPr b="true" i="false" sz="1300">
                <a:solidFill>
                  <a:srgbClr val="5B9FD7"/>
                </a:solidFill>
                <a:latin typeface="Arial"/>
                <a:ea typeface="Arial"/>
                <a:cs typeface="Arial"/>
              </a:rPr>
              <a:t>5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34" name="Shape 234"/>
          <p:cNvSpPr txBox="true"/>
          <p:nvPr isPhoto="false"/>
        </p:nvSpPr>
        <p:spPr>
          <a:xfrm flipH="false" flipV="false" rot="0">
            <a:off x="9528048" y="2057400"/>
            <a:ext cx="1847088" cy="50292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lnSpc>
                <a:spcPct val="100000"/>
              </a:lnSpc>
            </a:pPr>
            <a:r>
              <a:rPr b="true" i="false" sz="1250">
                <a:solidFill>
                  <a:srgbClr val="133959"/>
                </a:solidFill>
                <a:latin typeface="Arial"/>
                <a:ea typeface="Arial"/>
                <a:cs typeface="Arial"/>
              </a:rPr>
              <a:t>Передача в ядро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35" name="Shape 235"/>
          <p:cNvSpPr txBox="true"/>
          <p:nvPr isPhoto="false"/>
        </p:nvSpPr>
        <p:spPr>
          <a:xfrm flipH="false" flipV="false" rot="0">
            <a:off x="9528048" y="2606040"/>
            <a:ext cx="1847088" cy="155448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lnSpc>
                <a:spcPct val="112000"/>
              </a:lnSpc>
            </a:pPr>
            <a:r>
              <a:rPr b="false" i="false" sz="950">
                <a:solidFill>
                  <a:srgbClr val="263034"/>
                </a:solidFill>
                <a:latin typeface="Arial"/>
                <a:ea typeface="Arial"/>
                <a:cs typeface="Arial"/>
              </a:rPr>
              <a:t>«Товар передан физлицу» → ядро фиксирует КМ → «Выбыл».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36" name="Shape 236"/>
          <p:cNvSpPr txBox="false"/>
          <p:nvPr isPhoto="false"/>
        </p:nvSpPr>
        <p:spPr>
          <a:xfrm flipH="false" flipV="false" rot="0">
            <a:off x="429768" y="4526280"/>
            <a:ext cx="7315200" cy="1417320"/>
          </a:xfrm>
          <a:prstGeom prst="roundRect">
            <a:avLst>
              <a:gd fmla="val 8000" name="adj"/>
            </a:avLst>
          </a:prstGeom>
          <a:solidFill>
            <a:srgbClr val="FCE8E6"/>
          </a:solidFill>
          <a:ln w="12700">
            <a:solidFill>
              <a:srgbClr val="E8C5C0"/>
            </a:solidFill>
            <a:prstDash val="solid"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37" name="Shape 237"/>
          <p:cNvSpPr txBox="true"/>
          <p:nvPr isPhoto="false"/>
        </p:nvSpPr>
        <p:spPr>
          <a:xfrm flipH="false" flipV="false" rot="0">
            <a:off x="658368" y="4681728"/>
            <a:ext cx="6858000" cy="27432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/>
            <a:r>
              <a:rPr b="true" i="false" sz="900">
                <a:solidFill>
                  <a:srgbClr val="DA635A"/>
                </a:solidFill>
                <a:latin typeface="Arial"/>
                <a:ea typeface="Arial"/>
                <a:cs typeface="Arial"/>
              </a:rPr>
              <a:t>ВЕТКА ОШИБКИ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38" name="Shape 238"/>
          <p:cNvSpPr txBox="true"/>
          <p:nvPr isPhoto="false"/>
        </p:nvSpPr>
        <p:spPr>
          <a:xfrm flipH="false" flipV="false" rot="0">
            <a:off x="658368" y="4974336"/>
            <a:ext cx="6903719" cy="9144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lnSpc>
                <a:spcPct val="115000"/>
              </a:lnSpc>
            </a:pPr>
            <a:r>
              <a:rPr b="false" i="false" sz="1050">
                <a:solidFill>
                  <a:srgbClr val="263034"/>
                </a:solidFill>
                <a:latin typeface="Arial"/>
                <a:ea typeface="Arial"/>
                <a:cs typeface="Arial"/>
              </a:rPr>
              <a:t>КМ и данные некорректны → уточнение с группой импорта → акт списания (writeoff_act), статус КМ → «Списан», остатки ↓.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39" name="Shape 239"/>
          <p:cNvSpPr txBox="false"/>
          <p:nvPr isPhoto="false"/>
        </p:nvSpPr>
        <p:spPr>
          <a:xfrm flipH="false" flipV="false" rot="0">
            <a:off x="7927848" y="4526280"/>
            <a:ext cx="3840480" cy="1417320"/>
          </a:xfrm>
          <a:prstGeom prst="roundRect">
            <a:avLst>
              <a:gd fmla="val 8000" name="adj"/>
            </a:avLst>
          </a:prstGeom>
          <a:solidFill>
            <a:srgbClr val="FCF5DC"/>
          </a:solidFill>
          <a:ln w="12700">
            <a:solidFill>
              <a:srgbClr val="EADDB0"/>
            </a:solidFill>
            <a:prstDash val="solid"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40" name="Shape 240"/>
          <p:cNvSpPr txBox="true"/>
          <p:nvPr isPhoto="false"/>
        </p:nvSpPr>
        <p:spPr>
          <a:xfrm flipH="false" flipV="false" rot="0">
            <a:off x="8156448" y="4681728"/>
            <a:ext cx="3383280" cy="27432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/>
            <a:r>
              <a:rPr b="true" i="false" sz="900">
                <a:solidFill>
                  <a:srgbClr val="DA635A"/>
                </a:solidFill>
                <a:latin typeface="Arial"/>
                <a:ea typeface="Arial"/>
                <a:cs typeface="Arial"/>
              </a:rPr>
              <a:t>ВАЖНО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41" name="Shape 241"/>
          <p:cNvSpPr txBox="true"/>
          <p:nvPr isPhoto="false"/>
        </p:nvSpPr>
        <p:spPr>
          <a:xfrm flipH="false" flipV="false" rot="0">
            <a:off x="8156448" y="4974336"/>
            <a:ext cx="3429000" cy="9144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lnSpc>
                <a:spcPct val="115000"/>
              </a:lnSpc>
            </a:pPr>
            <a:r>
              <a:rPr b="false" i="false" sz="1050">
                <a:solidFill>
                  <a:srgbClr val="263034"/>
                </a:solidFill>
                <a:latin typeface="Arial"/>
                <a:ea typeface="Arial"/>
                <a:cs typeface="Arial"/>
              </a:rPr>
              <a:t>Статус КМ меняет ядро — группа «Продажа» только передаёт факт продажи физлицу.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5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242" name="GroupShape 242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243" name="Shape 243"/>
          <p:cNvSpPr txBox="true"/>
          <p:nvPr isPhoto="false"/>
        </p:nvSpPr>
        <p:spPr>
          <a:xfrm flipH="false" flipV="false" rot="0">
            <a:off x="502919" y="292608"/>
            <a:ext cx="8229600" cy="27431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/>
            <a:r>
              <a:rPr b="true" i="false" sz="900">
                <a:solidFill>
                  <a:srgbClr val="67AE70"/>
                </a:solidFill>
                <a:latin typeface="Arial"/>
                <a:ea typeface="Arial"/>
                <a:cs typeface="Arial"/>
              </a:rPr>
              <a:t>СТРУКТУРА ДАННЫХ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44" name="Shape 244"/>
          <p:cNvSpPr txBox="true"/>
          <p:nvPr isPhoto="false"/>
        </p:nvSpPr>
        <p:spPr>
          <a:xfrm flipH="false" flipV="false" rot="0">
            <a:off x="502919" y="502919"/>
            <a:ext cx="10515600" cy="54864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/>
            <a:r>
              <a:rPr b="true" i="false" sz="2500">
                <a:solidFill>
                  <a:srgbClr val="163F5C"/>
                </a:solidFill>
                <a:latin typeface="Calibri"/>
                <a:ea typeface="Calibri"/>
                <a:cs typeface="Calibri"/>
              </a:rPr>
              <a:t>5. База данных группы «Продажа»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45" name="Shape 245"/>
          <p:cNvSpPr txBox="true"/>
          <p:nvPr isPhoto="false"/>
        </p:nvSpPr>
        <p:spPr>
          <a:xfrm flipH="false" flipV="false" rot="0">
            <a:off x="502919" y="1042414"/>
            <a:ext cx="10881360" cy="365758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/>
            <a:r>
              <a:rPr b="false" i="false" sz="1100">
                <a:solidFill>
                  <a:srgbClr val="677278"/>
                </a:solidFill>
                <a:latin typeface="Arial"/>
                <a:ea typeface="Arial"/>
                <a:cs typeface="Arial"/>
              </a:rPr>
              <a:t>Формат таблиц приведён по образцу преподавателя: поле → тип → длина → описание → источник.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46" name="Shape 246"/>
          <p:cNvSpPr txBox="true"/>
          <p:nvPr isPhoto="false"/>
        </p:nvSpPr>
        <p:spPr>
          <a:xfrm flipH="false" flipV="false" rot="0">
            <a:off x="502919" y="6473952"/>
            <a:ext cx="5486400" cy="2286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/>
            <a:r>
              <a:rPr b="false" i="false" sz="800">
                <a:solidFill>
                  <a:srgbClr val="677278"/>
                </a:solidFill>
                <a:latin typeface="Arial"/>
                <a:ea typeface="Arial"/>
                <a:cs typeface="Arial"/>
              </a:rPr>
              <a:t>Продажа товаров • Группа 3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47" name="Shape 247"/>
          <p:cNvSpPr txBox="true"/>
          <p:nvPr isPhoto="false"/>
        </p:nvSpPr>
        <p:spPr>
          <a:xfrm flipH="false" flipV="false" rot="0">
            <a:off x="11247120" y="6455664"/>
            <a:ext cx="457200" cy="274318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r" indent="0" marL="0"/>
            <a:r>
              <a:rPr b="false" i="false" sz="900">
                <a:solidFill>
                  <a:srgbClr val="5C6767"/>
                </a:solidFill>
                <a:latin typeface="Calibri"/>
                <a:ea typeface="Calibri"/>
                <a:cs typeface="Calibri"/>
              </a:rPr>
              <a:t>5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hidden="false" id="248" name="Table 248"/>
          <p:cNvGraphicFramePr/>
          <p:nvPr isPhoto="false"/>
        </p:nvGraphicFramePr>
        <p:xfrm flipH="false" flipV="false" rot="0">
          <a:off x="429768" y="1481328"/>
          <a:ext cx="4663440" cy="1207007"/>
        </p:xfrm>
        <a:graphic>
          <a:graphicData uri="http://schemas.openxmlformats.org/drawingml/2006/table">
            <a:tbl>
              <a:tblPr bandCol="false" bandRow="true" firstCol="false" firstRow="true" lastCol="false" lastRow="false"/>
              <a:tblGrid>
                <a:gridCol w="1115568"/>
                <a:gridCol w="786384"/>
                <a:gridCol w="384048"/>
                <a:gridCol w="1600200"/>
                <a:gridCol w="777240"/>
              </a:tblGrid>
              <a:tr h="256032"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true" sz="7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Поле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163F5C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true" sz="7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Тип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163F5C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true" sz="7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Ключ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163F5C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true" sz="7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Описание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163F5C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true" sz="7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Источник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163F5C"/>
                    </a:solidFill>
                  </a:tcPr>
                </a:tc>
              </a:tr>
              <a:tr h="237743"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true" sz="700">
                          <a:solidFill>
                            <a:srgbClr val="133959"/>
                          </a:solidFill>
                          <a:latin typeface="Arial"/>
                          <a:ea typeface="Arial"/>
                          <a:cs typeface="Arial"/>
                        </a:rPr>
                        <a:t>SALE_ID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FFFFFF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false" sz="700">
                          <a:solidFill>
                            <a:srgbClr val="263034"/>
                          </a:solidFill>
                          <a:latin typeface="Arial"/>
                          <a:ea typeface="Arial"/>
                          <a:cs typeface="Arial"/>
                        </a:rPr>
                        <a:t>CHAR(20)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FFFFFF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true" sz="700">
                          <a:solidFill>
                            <a:srgbClr val="DA635A"/>
                          </a:solidFill>
                          <a:latin typeface="Arial"/>
                          <a:ea typeface="Arial"/>
                          <a:cs typeface="Arial"/>
                        </a:rPr>
                        <a:t>PK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FFFFFF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false" sz="700">
                          <a:solidFill>
                            <a:srgbClr val="263034"/>
                          </a:solidFill>
                          <a:latin typeface="Arial"/>
                          <a:ea typeface="Arial"/>
                          <a:cs typeface="Arial"/>
                        </a:rPr>
                        <a:t>Идентификатор продажи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FFFFFF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false" sz="700">
                          <a:solidFill>
                            <a:srgbClr val="263034"/>
                          </a:solidFill>
                          <a:latin typeface="Arial"/>
                          <a:ea typeface="Arial"/>
                          <a:cs typeface="Arial"/>
                        </a:rPr>
                        <a:t>&lt;saleId&gt;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FFFFFF"/>
                    </a:solidFill>
                  </a:tcPr>
                </a:tc>
              </a:tr>
              <a:tr h="237743"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true" sz="700">
                          <a:solidFill>
                            <a:srgbClr val="133959"/>
                          </a:solidFill>
                          <a:latin typeface="Arial"/>
                          <a:ea typeface="Arial"/>
                          <a:cs typeface="Arial"/>
                        </a:rPr>
                        <a:t>CLIENT_ID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F4F7FA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false" sz="700">
                          <a:solidFill>
                            <a:srgbClr val="263034"/>
                          </a:solidFill>
                          <a:latin typeface="Arial"/>
                          <a:ea typeface="Arial"/>
                          <a:cs typeface="Arial"/>
                        </a:rPr>
                        <a:t>CHAR(20)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F4F7FA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true" sz="700">
                          <a:solidFill>
                            <a:srgbClr val="DA635A"/>
                          </a:solidFill>
                          <a:latin typeface="Arial"/>
                          <a:ea typeface="Arial"/>
                          <a:cs typeface="Arial"/>
                        </a:rPr>
                        <a:t>FK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F4F7FA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false" sz="700">
                          <a:solidFill>
                            <a:srgbClr val="263034"/>
                          </a:solidFill>
                          <a:latin typeface="Arial"/>
                          <a:ea typeface="Arial"/>
                          <a:cs typeface="Arial"/>
                        </a:rPr>
                        <a:t>Покупатель — физлицо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F4F7FA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false" sz="700">
                          <a:solidFill>
                            <a:srgbClr val="263034"/>
                          </a:solidFill>
                          <a:latin typeface="Arial"/>
                          <a:ea typeface="Arial"/>
                          <a:cs typeface="Arial"/>
                        </a:rPr>
                        <a:t>&lt;clientId&gt;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F4F7FA"/>
                    </a:solidFill>
                  </a:tcPr>
                </a:tc>
              </a:tr>
              <a:tr h="237743"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true" sz="700">
                          <a:solidFill>
                            <a:srgbClr val="133959"/>
                          </a:solidFill>
                          <a:latin typeface="Arial"/>
                          <a:ea typeface="Arial"/>
                          <a:cs typeface="Arial"/>
                        </a:rPr>
                        <a:t>SALE_DATE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FFFFFF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false" sz="700">
                          <a:solidFill>
                            <a:srgbClr val="263034"/>
                          </a:solidFill>
                          <a:latin typeface="Arial"/>
                          <a:ea typeface="Arial"/>
                          <a:cs typeface="Arial"/>
                        </a:rPr>
                        <a:t>DATE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FFFFFF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</a:p>
                  </a:txBody>
                  <a:tcPr anchor="t" anchorCtr="false" marB="13716" marL="27432" marR="27432" marT="13716" vert="horz">
                    <a:solidFill>
                      <a:srgbClr val="FFFFFF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false" sz="700">
                          <a:solidFill>
                            <a:srgbClr val="263034"/>
                          </a:solidFill>
                          <a:latin typeface="Arial"/>
                          <a:ea typeface="Arial"/>
                          <a:cs typeface="Arial"/>
                        </a:rPr>
                        <a:t>Дата продажи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FFFFFF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false" sz="700">
                          <a:solidFill>
                            <a:srgbClr val="263034"/>
                          </a:solidFill>
                          <a:latin typeface="Arial"/>
                          <a:ea typeface="Arial"/>
                          <a:cs typeface="Arial"/>
                        </a:rPr>
                        <a:t>&lt;saleDate&gt;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FFFFFF"/>
                    </a:solidFill>
                  </a:tcPr>
                </a:tc>
              </a:tr>
              <a:tr h="237743"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true" sz="700">
                          <a:solidFill>
                            <a:srgbClr val="133959"/>
                          </a:solidFill>
                          <a:latin typeface="Arial"/>
                          <a:ea typeface="Arial"/>
                          <a:cs typeface="Arial"/>
                        </a:rPr>
                        <a:t>TOTAL_AMOUNT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F4F7FA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false" sz="700">
                          <a:solidFill>
                            <a:srgbClr val="263034"/>
                          </a:solidFill>
                          <a:latin typeface="Arial"/>
                          <a:ea typeface="Arial"/>
                          <a:cs typeface="Arial"/>
                        </a:rPr>
                        <a:t>NUMC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F4F7FA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</a:p>
                  </a:txBody>
                  <a:tcPr anchor="t" anchorCtr="false" marB="13716" marL="27432" marR="27432" marT="13716" vert="horz">
                    <a:solidFill>
                      <a:srgbClr val="F4F7FA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false" sz="700">
                          <a:solidFill>
                            <a:srgbClr val="263034"/>
                          </a:solidFill>
                          <a:latin typeface="Arial"/>
                          <a:ea typeface="Arial"/>
                          <a:cs typeface="Arial"/>
                        </a:rPr>
                        <a:t>Сумма чека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F4F7FA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false" sz="700">
                          <a:solidFill>
                            <a:srgbClr val="263034"/>
                          </a:solidFill>
                          <a:latin typeface="Arial"/>
                          <a:ea typeface="Arial"/>
                          <a:cs typeface="Arial"/>
                        </a:rPr>
                        <a:t>&lt;totalAmount&gt;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graphicFrame>
        <p:nvGraphicFramePr>
          <p:cNvPr hidden="false" id="249" name="Table 249"/>
          <p:cNvGraphicFramePr/>
          <p:nvPr isPhoto="false"/>
        </p:nvGraphicFramePr>
        <p:xfrm flipH="false" flipV="false" rot="0">
          <a:off x="4233672" y="1481328"/>
          <a:ext cx="4663440" cy="1207007"/>
        </p:xfrm>
        <a:graphic>
          <a:graphicData uri="http://schemas.openxmlformats.org/drawingml/2006/table">
            <a:tbl>
              <a:tblPr bandCol="false" bandRow="true" firstCol="false" firstRow="true" lastCol="false" lastRow="false"/>
              <a:tblGrid>
                <a:gridCol w="1115568"/>
                <a:gridCol w="786384"/>
                <a:gridCol w="384048"/>
                <a:gridCol w="1600200"/>
                <a:gridCol w="777240"/>
              </a:tblGrid>
              <a:tr h="256032"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true" sz="7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Поле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163F5C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true" sz="7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Тип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163F5C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true" sz="7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Ключ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163F5C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true" sz="7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Описание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163F5C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true" sz="7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Источник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163F5C"/>
                    </a:solidFill>
                  </a:tcPr>
                </a:tc>
              </a:tr>
              <a:tr h="237743"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true" sz="700">
                          <a:solidFill>
                            <a:srgbClr val="133959"/>
                          </a:solidFill>
                          <a:latin typeface="Arial"/>
                          <a:ea typeface="Arial"/>
                          <a:cs typeface="Arial"/>
                        </a:rPr>
                        <a:t>ITEM_ID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FFFFFF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false" sz="700">
                          <a:solidFill>
                            <a:srgbClr val="263034"/>
                          </a:solidFill>
                          <a:latin typeface="Arial"/>
                          <a:ea typeface="Arial"/>
                          <a:cs typeface="Arial"/>
                        </a:rPr>
                        <a:t>CHAR(20)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FFFFFF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true" sz="700">
                          <a:solidFill>
                            <a:srgbClr val="DA635A"/>
                          </a:solidFill>
                          <a:latin typeface="Arial"/>
                          <a:ea typeface="Arial"/>
                          <a:cs typeface="Arial"/>
                        </a:rPr>
                        <a:t>PK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FFFFFF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false" sz="700">
                          <a:solidFill>
                            <a:srgbClr val="263034"/>
                          </a:solidFill>
                          <a:latin typeface="Arial"/>
                          <a:ea typeface="Arial"/>
                          <a:cs typeface="Arial"/>
                        </a:rPr>
                        <a:t>Идентификатор позиции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FFFFFF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false" sz="700">
                          <a:solidFill>
                            <a:srgbClr val="263034"/>
                          </a:solidFill>
                          <a:latin typeface="Arial"/>
                          <a:ea typeface="Arial"/>
                          <a:cs typeface="Arial"/>
                        </a:rPr>
                        <a:t>&lt;itemId&gt;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FFFFFF"/>
                    </a:solidFill>
                  </a:tcPr>
                </a:tc>
              </a:tr>
              <a:tr h="237743"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true" sz="700">
                          <a:solidFill>
                            <a:srgbClr val="133959"/>
                          </a:solidFill>
                          <a:latin typeface="Arial"/>
                          <a:ea typeface="Arial"/>
                          <a:cs typeface="Arial"/>
                        </a:rPr>
                        <a:t>SALE_ID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F4F7FA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false" sz="700">
                          <a:solidFill>
                            <a:srgbClr val="263034"/>
                          </a:solidFill>
                          <a:latin typeface="Arial"/>
                          <a:ea typeface="Arial"/>
                          <a:cs typeface="Arial"/>
                        </a:rPr>
                        <a:t>CHAR(20)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F4F7FA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true" sz="700">
                          <a:solidFill>
                            <a:srgbClr val="DA635A"/>
                          </a:solidFill>
                          <a:latin typeface="Arial"/>
                          <a:ea typeface="Arial"/>
                          <a:cs typeface="Arial"/>
                        </a:rPr>
                        <a:t>FK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F4F7FA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false" sz="700">
                          <a:solidFill>
                            <a:srgbClr val="263034"/>
                          </a:solidFill>
                          <a:latin typeface="Arial"/>
                          <a:ea typeface="Arial"/>
                          <a:cs typeface="Arial"/>
                        </a:rPr>
                        <a:t>Связь с продажей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F4F7FA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false" sz="700">
                          <a:solidFill>
                            <a:srgbClr val="263034"/>
                          </a:solidFill>
                          <a:latin typeface="Arial"/>
                          <a:ea typeface="Arial"/>
                          <a:cs typeface="Arial"/>
                        </a:rPr>
                        <a:t>&lt;saleId&gt;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F4F7FA"/>
                    </a:solidFill>
                  </a:tcPr>
                </a:tc>
              </a:tr>
              <a:tr h="237743"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true" sz="700">
                          <a:solidFill>
                            <a:srgbClr val="133959"/>
                          </a:solidFill>
                          <a:latin typeface="Arial"/>
                          <a:ea typeface="Arial"/>
                          <a:cs typeface="Arial"/>
                        </a:rPr>
                        <a:t>MARKING_CODE_ID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FFFFFF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false" sz="700">
                          <a:solidFill>
                            <a:srgbClr val="263034"/>
                          </a:solidFill>
                          <a:latin typeface="Arial"/>
                          <a:ea typeface="Arial"/>
                          <a:cs typeface="Arial"/>
                        </a:rPr>
                        <a:t>CHAR(255)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FFFFFF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true" sz="700">
                          <a:solidFill>
                            <a:srgbClr val="DA635A"/>
                          </a:solidFill>
                          <a:latin typeface="Arial"/>
                          <a:ea typeface="Arial"/>
                          <a:cs typeface="Arial"/>
                        </a:rPr>
                        <a:t>FK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FFFFFF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false" sz="700">
                          <a:solidFill>
                            <a:srgbClr val="263034"/>
                          </a:solidFill>
                          <a:latin typeface="Arial"/>
                          <a:ea typeface="Arial"/>
                          <a:cs typeface="Arial"/>
                        </a:rPr>
                        <a:t>Код маркировки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FFFFFF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false" sz="700">
                          <a:solidFill>
                            <a:srgbClr val="263034"/>
                          </a:solidFill>
                          <a:latin typeface="Arial"/>
                          <a:ea typeface="Arial"/>
                          <a:cs typeface="Arial"/>
                        </a:rPr>
                        <a:t>&lt;markingCode&gt;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FFFFFF"/>
                    </a:solidFill>
                  </a:tcPr>
                </a:tc>
              </a:tr>
              <a:tr h="237743"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true" sz="700">
                          <a:solidFill>
                            <a:srgbClr val="133959"/>
                          </a:solidFill>
                          <a:latin typeface="Arial"/>
                          <a:ea typeface="Arial"/>
                          <a:cs typeface="Arial"/>
                        </a:rPr>
                        <a:t>PRICE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F4F7FA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false" sz="700">
                          <a:solidFill>
                            <a:srgbClr val="263034"/>
                          </a:solidFill>
                          <a:latin typeface="Arial"/>
                          <a:ea typeface="Arial"/>
                          <a:cs typeface="Arial"/>
                        </a:rPr>
                        <a:t>NUMC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F4F7FA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</a:p>
                  </a:txBody>
                  <a:tcPr anchor="t" anchorCtr="false" marB="13716" marL="27432" marR="27432" marT="13716" vert="horz">
                    <a:solidFill>
                      <a:srgbClr val="F4F7FA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false" sz="700">
                          <a:solidFill>
                            <a:srgbClr val="263034"/>
                          </a:solidFill>
                          <a:latin typeface="Arial"/>
                          <a:ea typeface="Arial"/>
                          <a:cs typeface="Arial"/>
                        </a:rPr>
                        <a:t>Цена продажи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F4F7FA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false" sz="700">
                          <a:solidFill>
                            <a:srgbClr val="263034"/>
                          </a:solidFill>
                          <a:latin typeface="Arial"/>
                          <a:ea typeface="Arial"/>
                          <a:cs typeface="Arial"/>
                        </a:rPr>
                        <a:t>&lt;price&gt;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graphicFrame>
        <p:nvGraphicFramePr>
          <p:cNvPr hidden="false" id="250" name="Table 250"/>
          <p:cNvGraphicFramePr/>
          <p:nvPr isPhoto="false"/>
        </p:nvGraphicFramePr>
        <p:xfrm flipH="false" flipV="false" rot="0">
          <a:off x="8037575" y="1481328"/>
          <a:ext cx="4663440" cy="1207007"/>
        </p:xfrm>
        <a:graphic>
          <a:graphicData uri="http://schemas.openxmlformats.org/drawingml/2006/table">
            <a:tbl>
              <a:tblPr bandCol="false" bandRow="true" firstCol="false" firstRow="true" lastCol="false" lastRow="false"/>
              <a:tblGrid>
                <a:gridCol w="1115568"/>
                <a:gridCol w="786384"/>
                <a:gridCol w="384048"/>
                <a:gridCol w="1600200"/>
                <a:gridCol w="777240"/>
              </a:tblGrid>
              <a:tr h="256032"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true" sz="7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Поле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163F5C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true" sz="7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Тип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163F5C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true" sz="7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Ключ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163F5C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true" sz="7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Описание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163F5C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true" sz="7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Источник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163F5C"/>
                    </a:solidFill>
                  </a:tcPr>
                </a:tc>
              </a:tr>
              <a:tr h="237743"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true" sz="700">
                          <a:solidFill>
                            <a:srgbClr val="133959"/>
                          </a:solidFill>
                          <a:latin typeface="Arial"/>
                          <a:ea typeface="Arial"/>
                          <a:cs typeface="Arial"/>
                        </a:rPr>
                        <a:t>RECEIPT_ID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FFFFFF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false" sz="700">
                          <a:solidFill>
                            <a:srgbClr val="263034"/>
                          </a:solidFill>
                          <a:latin typeface="Arial"/>
                          <a:ea typeface="Arial"/>
                          <a:cs typeface="Arial"/>
                        </a:rPr>
                        <a:t>CHAR(20)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FFFFFF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true" sz="700">
                          <a:solidFill>
                            <a:srgbClr val="DA635A"/>
                          </a:solidFill>
                          <a:latin typeface="Arial"/>
                          <a:ea typeface="Arial"/>
                          <a:cs typeface="Arial"/>
                        </a:rPr>
                        <a:t>PK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FFFFFF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false" sz="700">
                          <a:solidFill>
                            <a:srgbClr val="263034"/>
                          </a:solidFill>
                          <a:latin typeface="Arial"/>
                          <a:ea typeface="Arial"/>
                          <a:cs typeface="Arial"/>
                        </a:rPr>
                        <a:t>Идентификатор чека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FFFFFF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false" sz="700">
                          <a:solidFill>
                            <a:srgbClr val="263034"/>
                          </a:solidFill>
                          <a:latin typeface="Arial"/>
                          <a:ea typeface="Arial"/>
                          <a:cs typeface="Arial"/>
                        </a:rPr>
                        <a:t>&lt;receiptId&gt;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FFFFFF"/>
                    </a:solidFill>
                  </a:tcPr>
                </a:tc>
              </a:tr>
              <a:tr h="237743"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true" sz="700">
                          <a:solidFill>
                            <a:srgbClr val="133959"/>
                          </a:solidFill>
                          <a:latin typeface="Arial"/>
                          <a:ea typeface="Arial"/>
                          <a:cs typeface="Arial"/>
                        </a:rPr>
                        <a:t>SALE_ID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F4F7FA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false" sz="700">
                          <a:solidFill>
                            <a:srgbClr val="263034"/>
                          </a:solidFill>
                          <a:latin typeface="Arial"/>
                          <a:ea typeface="Arial"/>
                          <a:cs typeface="Arial"/>
                        </a:rPr>
                        <a:t>CHAR(20)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F4F7FA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true" sz="700">
                          <a:solidFill>
                            <a:srgbClr val="DA635A"/>
                          </a:solidFill>
                          <a:latin typeface="Arial"/>
                          <a:ea typeface="Arial"/>
                          <a:cs typeface="Arial"/>
                        </a:rPr>
                        <a:t>FK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F4F7FA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false" sz="700">
                          <a:solidFill>
                            <a:srgbClr val="263034"/>
                          </a:solidFill>
                          <a:latin typeface="Arial"/>
                          <a:ea typeface="Arial"/>
                          <a:cs typeface="Arial"/>
                        </a:rPr>
                        <a:t>Связь с продажей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F4F7FA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false" sz="700">
                          <a:solidFill>
                            <a:srgbClr val="263034"/>
                          </a:solidFill>
                          <a:latin typeface="Arial"/>
                          <a:ea typeface="Arial"/>
                          <a:cs typeface="Arial"/>
                        </a:rPr>
                        <a:t>&lt;saleId&gt;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F4F7FA"/>
                    </a:solidFill>
                  </a:tcPr>
                </a:tc>
              </a:tr>
              <a:tr h="237743"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true" sz="700">
                          <a:solidFill>
                            <a:srgbClr val="133959"/>
                          </a:solidFill>
                          <a:latin typeface="Arial"/>
                          <a:ea typeface="Arial"/>
                          <a:cs typeface="Arial"/>
                        </a:rPr>
                        <a:t>FISCAL_SIGN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FFFFFF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false" sz="700">
                          <a:solidFill>
                            <a:srgbClr val="263034"/>
                          </a:solidFill>
                          <a:latin typeface="Arial"/>
                          <a:ea typeface="Arial"/>
                          <a:cs typeface="Arial"/>
                        </a:rPr>
                        <a:t>CHAR(30)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FFFFFF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</a:p>
                  </a:txBody>
                  <a:tcPr anchor="t" anchorCtr="false" marB="13716" marL="27432" marR="27432" marT="13716" vert="horz">
                    <a:solidFill>
                      <a:srgbClr val="FFFFFF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false" sz="700">
                          <a:solidFill>
                            <a:srgbClr val="263034"/>
                          </a:solidFill>
                          <a:latin typeface="Arial"/>
                          <a:ea typeface="Arial"/>
                          <a:cs typeface="Arial"/>
                        </a:rPr>
                        <a:t>Фискальный признак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FFFFFF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false" sz="700">
                          <a:solidFill>
                            <a:srgbClr val="263034"/>
                          </a:solidFill>
                          <a:latin typeface="Arial"/>
                          <a:ea typeface="Arial"/>
                          <a:cs typeface="Arial"/>
                        </a:rPr>
                        <a:t>&lt;fiscalSign&gt;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FFFFFF"/>
                    </a:solidFill>
                  </a:tcPr>
                </a:tc>
              </a:tr>
              <a:tr h="237743"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true" sz="700">
                          <a:solidFill>
                            <a:srgbClr val="133959"/>
                          </a:solidFill>
                          <a:latin typeface="Arial"/>
                          <a:ea typeface="Arial"/>
                          <a:cs typeface="Arial"/>
                        </a:rPr>
                        <a:t>OFD_STATUS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F4F7FA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false" sz="700">
                          <a:solidFill>
                            <a:srgbClr val="263034"/>
                          </a:solidFill>
                          <a:latin typeface="Arial"/>
                          <a:ea typeface="Arial"/>
                          <a:cs typeface="Arial"/>
                        </a:rPr>
                        <a:t>CHAR(20)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F4F7FA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</a:p>
                  </a:txBody>
                  <a:tcPr anchor="t" anchorCtr="false" marB="13716" marL="27432" marR="27432" marT="13716" vert="horz">
                    <a:solidFill>
                      <a:srgbClr val="F4F7FA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false" sz="700">
                          <a:solidFill>
                            <a:srgbClr val="263034"/>
                          </a:solidFill>
                          <a:latin typeface="Arial"/>
                          <a:ea typeface="Arial"/>
                          <a:cs typeface="Arial"/>
                        </a:rPr>
                        <a:t>Статус передачи в ОФД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F4F7FA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false" sz="700">
                          <a:solidFill>
                            <a:srgbClr val="263034"/>
                          </a:solidFill>
                          <a:latin typeface="Arial"/>
                          <a:ea typeface="Arial"/>
                          <a:cs typeface="Arial"/>
                        </a:rPr>
                        <a:t>&lt;ofdStatus&gt;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graphicFrame>
        <p:nvGraphicFramePr>
          <p:cNvPr hidden="false" id="251" name="Table 251"/>
          <p:cNvGraphicFramePr/>
          <p:nvPr isPhoto="false"/>
        </p:nvGraphicFramePr>
        <p:xfrm flipH="false" flipV="false" rot="0">
          <a:off x="429768" y="4041648"/>
          <a:ext cx="4663440" cy="1207008"/>
        </p:xfrm>
        <a:graphic>
          <a:graphicData uri="http://schemas.openxmlformats.org/drawingml/2006/table">
            <a:tbl>
              <a:tblPr bandCol="false" bandRow="true" firstCol="false" firstRow="true" lastCol="false" lastRow="false"/>
              <a:tblGrid>
                <a:gridCol w="1115568"/>
                <a:gridCol w="786384"/>
                <a:gridCol w="384048"/>
                <a:gridCol w="1600200"/>
                <a:gridCol w="777240"/>
              </a:tblGrid>
              <a:tr h="256032"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true" sz="7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Поле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163F5C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true" sz="7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Тип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163F5C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true" sz="7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Ключ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163F5C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true" sz="7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Описание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163F5C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true" sz="7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Источник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163F5C"/>
                    </a:solidFill>
                  </a:tcPr>
                </a:tc>
              </a:tr>
              <a:tr h="237743"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true" sz="700">
                          <a:solidFill>
                            <a:srgbClr val="133959"/>
                          </a:solidFill>
                          <a:latin typeface="Arial"/>
                          <a:ea typeface="Arial"/>
                          <a:cs typeface="Arial"/>
                        </a:rPr>
                        <a:t>BALANCE_ID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FFFFFF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false" sz="700">
                          <a:solidFill>
                            <a:srgbClr val="263034"/>
                          </a:solidFill>
                          <a:latin typeface="Arial"/>
                          <a:ea typeface="Arial"/>
                          <a:cs typeface="Arial"/>
                        </a:rPr>
                        <a:t>CHAR(20)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FFFFFF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true" sz="700">
                          <a:solidFill>
                            <a:srgbClr val="DA635A"/>
                          </a:solidFill>
                          <a:latin typeface="Arial"/>
                          <a:ea typeface="Arial"/>
                          <a:cs typeface="Arial"/>
                        </a:rPr>
                        <a:t>PK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FFFFFF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false" sz="700">
                          <a:solidFill>
                            <a:srgbClr val="263034"/>
                          </a:solidFill>
                          <a:latin typeface="Arial"/>
                          <a:ea typeface="Arial"/>
                          <a:cs typeface="Arial"/>
                        </a:rPr>
                        <a:t>Идентификатор остатка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FFFFFF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false" sz="700">
                          <a:solidFill>
                            <a:srgbClr val="263034"/>
                          </a:solidFill>
                          <a:latin typeface="Arial"/>
                          <a:ea typeface="Arial"/>
                          <a:cs typeface="Arial"/>
                        </a:rPr>
                        <a:t>&lt;balanceId&gt;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FFFFFF"/>
                    </a:solidFill>
                  </a:tcPr>
                </a:tc>
              </a:tr>
              <a:tr h="237743"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true" sz="700">
                          <a:solidFill>
                            <a:srgbClr val="133959"/>
                          </a:solidFill>
                          <a:latin typeface="Arial"/>
                          <a:ea typeface="Arial"/>
                          <a:cs typeface="Arial"/>
                        </a:rPr>
                        <a:t>PRODUCT_ID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F4F7FA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false" sz="700">
                          <a:solidFill>
                            <a:srgbClr val="263034"/>
                          </a:solidFill>
                          <a:latin typeface="Arial"/>
                          <a:ea typeface="Arial"/>
                          <a:cs typeface="Arial"/>
                        </a:rPr>
                        <a:t>CHAR(20)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F4F7FA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true" sz="700">
                          <a:solidFill>
                            <a:srgbClr val="DA635A"/>
                          </a:solidFill>
                          <a:latin typeface="Arial"/>
                          <a:ea typeface="Arial"/>
                          <a:cs typeface="Arial"/>
                        </a:rPr>
                        <a:t>FK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F4F7FA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false" sz="700">
                          <a:solidFill>
                            <a:srgbClr val="263034"/>
                          </a:solidFill>
                          <a:latin typeface="Arial"/>
                          <a:ea typeface="Arial"/>
                          <a:cs typeface="Arial"/>
                        </a:rPr>
                        <a:t>Связь с товаром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F4F7FA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false" sz="700">
                          <a:solidFill>
                            <a:srgbClr val="263034"/>
                          </a:solidFill>
                          <a:latin typeface="Arial"/>
                          <a:ea typeface="Arial"/>
                          <a:cs typeface="Arial"/>
                        </a:rPr>
                        <a:t>&lt;productId&gt;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F4F7FA"/>
                    </a:solidFill>
                  </a:tcPr>
                </a:tc>
              </a:tr>
              <a:tr h="237743"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true" sz="700">
                          <a:solidFill>
                            <a:srgbClr val="133959"/>
                          </a:solidFill>
                          <a:latin typeface="Arial"/>
                          <a:ea typeface="Arial"/>
                          <a:cs typeface="Arial"/>
                        </a:rPr>
                        <a:t>QUANTITY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FFFFFF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false" sz="700">
                          <a:solidFill>
                            <a:srgbClr val="263034"/>
                          </a:solidFill>
                          <a:latin typeface="Arial"/>
                          <a:ea typeface="Arial"/>
                          <a:cs typeface="Arial"/>
                        </a:rPr>
                        <a:t>NUMC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FFFFFF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</a:p>
                  </a:txBody>
                  <a:tcPr anchor="t" anchorCtr="false" marB="13716" marL="27432" marR="27432" marT="13716" vert="horz">
                    <a:solidFill>
                      <a:srgbClr val="FFFFFF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false" sz="700">
                          <a:solidFill>
                            <a:srgbClr val="263034"/>
                          </a:solidFill>
                          <a:latin typeface="Arial"/>
                          <a:ea typeface="Arial"/>
                          <a:cs typeface="Arial"/>
                        </a:rPr>
                        <a:t>Количество на складе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FFFFFF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false" sz="700">
                          <a:solidFill>
                            <a:srgbClr val="263034"/>
                          </a:solidFill>
                          <a:latin typeface="Arial"/>
                          <a:ea typeface="Arial"/>
                          <a:cs typeface="Arial"/>
                        </a:rPr>
                        <a:t>&lt;quantity&gt;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FFFFFF"/>
                    </a:solidFill>
                  </a:tcPr>
                </a:tc>
              </a:tr>
              <a:tr h="237743"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true" sz="700">
                          <a:solidFill>
                            <a:srgbClr val="133959"/>
                          </a:solidFill>
                          <a:latin typeface="Arial"/>
                          <a:ea typeface="Arial"/>
                          <a:cs typeface="Arial"/>
                        </a:rPr>
                        <a:t>UPDATE_DATE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F4F7FA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false" sz="700">
                          <a:solidFill>
                            <a:srgbClr val="263034"/>
                          </a:solidFill>
                          <a:latin typeface="Arial"/>
                          <a:ea typeface="Arial"/>
                          <a:cs typeface="Arial"/>
                        </a:rPr>
                        <a:t>DATE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F4F7FA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</a:p>
                  </a:txBody>
                  <a:tcPr anchor="t" anchorCtr="false" marB="13716" marL="27432" marR="27432" marT="13716" vert="horz">
                    <a:solidFill>
                      <a:srgbClr val="F4F7FA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false" sz="700">
                          <a:solidFill>
                            <a:srgbClr val="263034"/>
                          </a:solidFill>
                          <a:latin typeface="Arial"/>
                          <a:ea typeface="Arial"/>
                          <a:cs typeface="Arial"/>
                        </a:rPr>
                        <a:t>Дата обновления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F4F7FA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false" sz="700">
                          <a:solidFill>
                            <a:srgbClr val="263034"/>
                          </a:solidFill>
                          <a:latin typeface="Arial"/>
                          <a:ea typeface="Arial"/>
                          <a:cs typeface="Arial"/>
                        </a:rPr>
                        <a:t>&lt;updateDate&gt;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graphicFrame>
        <p:nvGraphicFramePr>
          <p:cNvPr hidden="false" id="252" name="Table 252"/>
          <p:cNvGraphicFramePr/>
          <p:nvPr isPhoto="false"/>
        </p:nvGraphicFramePr>
        <p:xfrm flipH="false" flipV="false" rot="0">
          <a:off x="4233672" y="4041648"/>
          <a:ext cx="4663440" cy="969264"/>
        </p:xfrm>
        <a:graphic>
          <a:graphicData uri="http://schemas.openxmlformats.org/drawingml/2006/table">
            <a:tbl>
              <a:tblPr bandCol="false" bandRow="true" firstCol="false" firstRow="true" lastCol="false" lastRow="false"/>
              <a:tblGrid>
                <a:gridCol w="1115568"/>
                <a:gridCol w="786384"/>
                <a:gridCol w="384048"/>
                <a:gridCol w="1600200"/>
                <a:gridCol w="777240"/>
              </a:tblGrid>
              <a:tr h="256032"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true" sz="7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Поле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163F5C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true" sz="7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Тип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163F5C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true" sz="7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Ключ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163F5C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true" sz="7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Описание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163F5C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true" sz="7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Источник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163F5C"/>
                    </a:solidFill>
                  </a:tcPr>
                </a:tc>
              </a:tr>
              <a:tr h="237743"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true" sz="700">
                          <a:solidFill>
                            <a:srgbClr val="133959"/>
                          </a:solidFill>
                          <a:latin typeface="Arial"/>
                          <a:ea typeface="Arial"/>
                          <a:cs typeface="Arial"/>
                        </a:rPr>
                        <a:t>ORDER_ID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FFFFFF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false" sz="700">
                          <a:solidFill>
                            <a:srgbClr val="263034"/>
                          </a:solidFill>
                          <a:latin typeface="Arial"/>
                          <a:ea typeface="Arial"/>
                          <a:cs typeface="Arial"/>
                        </a:rPr>
                        <a:t>CHAR(20)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FFFFFF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true" sz="700">
                          <a:solidFill>
                            <a:srgbClr val="DA635A"/>
                          </a:solidFill>
                          <a:latin typeface="Arial"/>
                          <a:ea typeface="Arial"/>
                          <a:cs typeface="Arial"/>
                        </a:rPr>
                        <a:t>PK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FFFFFF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false" sz="700">
                          <a:solidFill>
                            <a:srgbClr val="263034"/>
                          </a:solidFill>
                          <a:latin typeface="Arial"/>
                          <a:ea typeface="Arial"/>
                          <a:cs typeface="Arial"/>
                        </a:rPr>
                        <a:t>Идентификатор заказа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FFFFFF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false" sz="700">
                          <a:solidFill>
                            <a:srgbClr val="263034"/>
                          </a:solidFill>
                          <a:latin typeface="Arial"/>
                          <a:ea typeface="Arial"/>
                          <a:cs typeface="Arial"/>
                        </a:rPr>
                        <a:t>&lt;orderId&gt;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FFFFFF"/>
                    </a:solidFill>
                  </a:tcPr>
                </a:tc>
              </a:tr>
              <a:tr h="237743"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true" sz="700">
                          <a:solidFill>
                            <a:srgbClr val="133959"/>
                          </a:solidFill>
                          <a:latin typeface="Arial"/>
                          <a:ea typeface="Arial"/>
                          <a:cs typeface="Arial"/>
                        </a:rPr>
                        <a:t>CLIENT_ID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F4F7FA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false" sz="700">
                          <a:solidFill>
                            <a:srgbClr val="263034"/>
                          </a:solidFill>
                          <a:latin typeface="Arial"/>
                          <a:ea typeface="Arial"/>
                          <a:cs typeface="Arial"/>
                        </a:rPr>
                        <a:t>CHAR(20)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F4F7FA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true" sz="700">
                          <a:solidFill>
                            <a:srgbClr val="DA635A"/>
                          </a:solidFill>
                          <a:latin typeface="Arial"/>
                          <a:ea typeface="Arial"/>
                          <a:cs typeface="Arial"/>
                        </a:rPr>
                        <a:t>FK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F4F7FA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false" sz="700">
                          <a:solidFill>
                            <a:srgbClr val="263034"/>
                          </a:solidFill>
                          <a:latin typeface="Arial"/>
                          <a:ea typeface="Arial"/>
                          <a:cs typeface="Arial"/>
                        </a:rPr>
                        <a:t>Покупатель — физлицо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F4F7FA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false" sz="700">
                          <a:solidFill>
                            <a:srgbClr val="263034"/>
                          </a:solidFill>
                          <a:latin typeface="Arial"/>
                          <a:ea typeface="Arial"/>
                          <a:cs typeface="Arial"/>
                        </a:rPr>
                        <a:t>&lt;clientId&gt;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F4F7FA"/>
                    </a:solidFill>
                  </a:tcPr>
                </a:tc>
              </a:tr>
              <a:tr h="237743"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true" sz="700">
                          <a:solidFill>
                            <a:srgbClr val="133959"/>
                          </a:solidFill>
                          <a:latin typeface="Arial"/>
                          <a:ea typeface="Arial"/>
                          <a:cs typeface="Arial"/>
                        </a:rPr>
                        <a:t>STATUS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FFFFFF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false" sz="700">
                          <a:solidFill>
                            <a:srgbClr val="263034"/>
                          </a:solidFill>
                          <a:latin typeface="Arial"/>
                          <a:ea typeface="Arial"/>
                          <a:cs typeface="Arial"/>
                        </a:rPr>
                        <a:t>CHAR(20)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FFFFFF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</a:p>
                  </a:txBody>
                  <a:tcPr anchor="t" anchorCtr="false" marB="13716" marL="27432" marR="27432" marT="13716" vert="horz">
                    <a:solidFill>
                      <a:srgbClr val="FFFFFF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false" sz="700">
                          <a:solidFill>
                            <a:srgbClr val="263034"/>
                          </a:solidFill>
                          <a:latin typeface="Arial"/>
                          <a:ea typeface="Arial"/>
                          <a:cs typeface="Arial"/>
                        </a:rPr>
                        <a:t>Статус заказа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FFFFFF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false" sz="700">
                          <a:solidFill>
                            <a:srgbClr val="263034"/>
                          </a:solidFill>
                          <a:latin typeface="Arial"/>
                          <a:ea typeface="Arial"/>
                          <a:cs typeface="Arial"/>
                        </a:rPr>
                        <a:t>&lt;orderStatus&gt;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hidden="false" id="253" name="Table 253"/>
          <p:cNvGraphicFramePr/>
          <p:nvPr isPhoto="false"/>
        </p:nvGraphicFramePr>
        <p:xfrm flipH="false" flipV="false" rot="0">
          <a:off x="8037575" y="4041648"/>
          <a:ext cx="4663440" cy="1207008"/>
        </p:xfrm>
        <a:graphic>
          <a:graphicData uri="http://schemas.openxmlformats.org/drawingml/2006/table">
            <a:tbl>
              <a:tblPr bandCol="false" bandRow="true" firstCol="false" firstRow="true" lastCol="false" lastRow="false"/>
              <a:tblGrid>
                <a:gridCol w="1115568"/>
                <a:gridCol w="786384"/>
                <a:gridCol w="384048"/>
                <a:gridCol w="1600200"/>
                <a:gridCol w="777240"/>
              </a:tblGrid>
              <a:tr h="256032"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true" sz="7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Поле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163F5C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true" sz="7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Тип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163F5C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true" sz="7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Ключ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163F5C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true" sz="7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Описание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163F5C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true" sz="7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Источник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163F5C"/>
                    </a:solidFill>
                  </a:tcPr>
                </a:tc>
              </a:tr>
              <a:tr h="237743"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true" sz="700">
                          <a:solidFill>
                            <a:srgbClr val="133959"/>
                          </a:solidFill>
                          <a:latin typeface="Arial"/>
                          <a:ea typeface="Arial"/>
                          <a:cs typeface="Arial"/>
                        </a:rPr>
                        <a:t>ACT_ID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FFFFFF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false" sz="700">
                          <a:solidFill>
                            <a:srgbClr val="263034"/>
                          </a:solidFill>
                          <a:latin typeface="Arial"/>
                          <a:ea typeface="Arial"/>
                          <a:cs typeface="Arial"/>
                        </a:rPr>
                        <a:t>CHAR(20)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FFFFFF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true" sz="700">
                          <a:solidFill>
                            <a:srgbClr val="DA635A"/>
                          </a:solidFill>
                          <a:latin typeface="Arial"/>
                          <a:ea typeface="Arial"/>
                          <a:cs typeface="Arial"/>
                        </a:rPr>
                        <a:t>PK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FFFFFF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false" sz="700">
                          <a:solidFill>
                            <a:srgbClr val="263034"/>
                          </a:solidFill>
                          <a:latin typeface="Arial"/>
                          <a:ea typeface="Arial"/>
                          <a:cs typeface="Arial"/>
                        </a:rPr>
                        <a:t>Идентификатор акта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FFFFFF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false" sz="700">
                          <a:solidFill>
                            <a:srgbClr val="263034"/>
                          </a:solidFill>
                          <a:latin typeface="Arial"/>
                          <a:ea typeface="Arial"/>
                          <a:cs typeface="Arial"/>
                        </a:rPr>
                        <a:t>&lt;actId&gt;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FFFFFF"/>
                    </a:solidFill>
                  </a:tcPr>
                </a:tc>
              </a:tr>
              <a:tr h="237743"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true" sz="700">
                          <a:solidFill>
                            <a:srgbClr val="133959"/>
                          </a:solidFill>
                          <a:latin typeface="Arial"/>
                          <a:ea typeface="Arial"/>
                          <a:cs typeface="Arial"/>
                        </a:rPr>
                        <a:t>MARKING_CODE_ID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F4F7FA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false" sz="700">
                          <a:solidFill>
                            <a:srgbClr val="263034"/>
                          </a:solidFill>
                          <a:latin typeface="Arial"/>
                          <a:ea typeface="Arial"/>
                          <a:cs typeface="Arial"/>
                        </a:rPr>
                        <a:t>CHAR(255)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F4F7FA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true" sz="700">
                          <a:solidFill>
                            <a:srgbClr val="DA635A"/>
                          </a:solidFill>
                          <a:latin typeface="Arial"/>
                          <a:ea typeface="Arial"/>
                          <a:cs typeface="Arial"/>
                        </a:rPr>
                        <a:t>FK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F4F7FA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false" sz="700">
                          <a:solidFill>
                            <a:srgbClr val="263034"/>
                          </a:solidFill>
                          <a:latin typeface="Arial"/>
                          <a:ea typeface="Arial"/>
                          <a:cs typeface="Arial"/>
                        </a:rPr>
                        <a:t>Списываемый КМ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F4F7FA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false" sz="700">
                          <a:solidFill>
                            <a:srgbClr val="263034"/>
                          </a:solidFill>
                          <a:latin typeface="Arial"/>
                          <a:ea typeface="Arial"/>
                          <a:cs typeface="Arial"/>
                        </a:rPr>
                        <a:t>&lt;markingCode&gt;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F4F7FA"/>
                    </a:solidFill>
                  </a:tcPr>
                </a:tc>
              </a:tr>
              <a:tr h="237743"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true" sz="700">
                          <a:solidFill>
                            <a:srgbClr val="133959"/>
                          </a:solidFill>
                          <a:latin typeface="Arial"/>
                          <a:ea typeface="Arial"/>
                          <a:cs typeface="Arial"/>
                        </a:rPr>
                        <a:t>REASON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FFFFFF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false" sz="700">
                          <a:solidFill>
                            <a:srgbClr val="263034"/>
                          </a:solidFill>
                          <a:latin typeface="Arial"/>
                          <a:ea typeface="Arial"/>
                          <a:cs typeface="Arial"/>
                        </a:rPr>
                        <a:t>CHAR(100)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FFFFFF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</a:p>
                  </a:txBody>
                  <a:tcPr anchor="t" anchorCtr="false" marB="13716" marL="27432" marR="27432" marT="13716" vert="horz">
                    <a:solidFill>
                      <a:srgbClr val="FFFFFF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false" sz="700">
                          <a:solidFill>
                            <a:srgbClr val="263034"/>
                          </a:solidFill>
                          <a:latin typeface="Arial"/>
                          <a:ea typeface="Arial"/>
                          <a:cs typeface="Arial"/>
                        </a:rPr>
                        <a:t>Причина списания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FFFFFF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false" sz="700">
                          <a:solidFill>
                            <a:srgbClr val="263034"/>
                          </a:solidFill>
                          <a:latin typeface="Arial"/>
                          <a:ea typeface="Arial"/>
                          <a:cs typeface="Arial"/>
                        </a:rPr>
                        <a:t>&lt;reason&gt;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FFFFFF"/>
                    </a:solidFill>
                  </a:tcPr>
                </a:tc>
              </a:tr>
              <a:tr h="237743"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true" sz="700">
                          <a:solidFill>
                            <a:srgbClr val="133959"/>
                          </a:solidFill>
                          <a:latin typeface="Arial"/>
                          <a:ea typeface="Arial"/>
                          <a:cs typeface="Arial"/>
                        </a:rPr>
                        <a:t>ACT_DATE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F4F7FA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false" sz="700">
                          <a:solidFill>
                            <a:srgbClr val="263034"/>
                          </a:solidFill>
                          <a:latin typeface="Arial"/>
                          <a:ea typeface="Arial"/>
                          <a:cs typeface="Arial"/>
                        </a:rPr>
                        <a:t>DATE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F4F7FA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</a:p>
                  </a:txBody>
                  <a:tcPr anchor="t" anchorCtr="false" marB="13716" marL="27432" marR="27432" marT="13716" vert="horz">
                    <a:solidFill>
                      <a:srgbClr val="F4F7FA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false" sz="700">
                          <a:solidFill>
                            <a:srgbClr val="263034"/>
                          </a:solidFill>
                          <a:latin typeface="Arial"/>
                          <a:ea typeface="Arial"/>
                          <a:cs typeface="Arial"/>
                        </a:rPr>
                        <a:t>Дата акта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F4F7FA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false" sz="700">
                          <a:solidFill>
                            <a:srgbClr val="263034"/>
                          </a:solidFill>
                          <a:latin typeface="Arial"/>
                          <a:ea typeface="Arial"/>
                          <a:cs typeface="Arial"/>
                        </a:rPr>
                        <a:t>&lt;actDate&gt;</a:t>
                      </a:r>
                    </a:p>
                  </a:txBody>
                  <a:tcPr anchor="t" anchorCtr="false" marB="13716" marL="27432" marR="27432" marT="13716" vert="horz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hidden="false" id="254" name="Shape 254"/>
          <p:cNvSpPr txBox="true"/>
          <p:nvPr isPhoto="false"/>
        </p:nvSpPr>
        <p:spPr>
          <a:xfrm flipH="false" flipV="false" rot="0">
            <a:off x="429768" y="6053328"/>
            <a:ext cx="11338560" cy="32004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/>
            <a:r>
              <a:rPr b="true" i="false" sz="1100">
                <a:solidFill>
                  <a:srgbClr val="133959"/>
                </a:solidFill>
                <a:latin typeface="Arial"/>
                <a:ea typeface="Arial"/>
                <a:cs typeface="Arial"/>
              </a:rPr>
              <a:t>Связи: SALES 1:N SALES_ITEMS • SALES 1:N RECEIPTS • ORDERS 1:1 SALES • WRITEOFF_ACT N:1 MARKING_CODES (справочник ядра)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6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255" name="GroupShape 255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256" name="Shape 256"/>
          <p:cNvSpPr txBox="true"/>
          <p:nvPr isPhoto="false"/>
        </p:nvSpPr>
        <p:spPr>
          <a:xfrm flipH="false" flipV="false" rot="0">
            <a:off x="502919" y="292608"/>
            <a:ext cx="8229600" cy="27431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/>
            <a:r>
              <a:rPr b="true" i="false" sz="900">
                <a:solidFill>
                  <a:srgbClr val="67AE70"/>
                </a:solidFill>
                <a:latin typeface="Arial"/>
                <a:ea typeface="Arial"/>
                <a:cs typeface="Arial"/>
              </a:rPr>
              <a:t>СТРУКТУРА ДАННЫХ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57" name="Shape 257"/>
          <p:cNvSpPr txBox="true"/>
          <p:nvPr isPhoto="false"/>
        </p:nvSpPr>
        <p:spPr>
          <a:xfrm flipH="false" flipV="false" rot="0">
            <a:off x="502919" y="502919"/>
            <a:ext cx="10515600" cy="54864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/>
            <a:r>
              <a:rPr b="true" i="false" sz="2500">
                <a:solidFill>
                  <a:srgbClr val="163F5C"/>
                </a:solidFill>
                <a:latin typeface="Calibri"/>
                <a:ea typeface="Calibri"/>
                <a:cs typeface="Calibri"/>
              </a:rPr>
              <a:t>6. Изменения в базе данных на каждом этапе схемы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58" name="Shape 258"/>
          <p:cNvSpPr txBox="true"/>
          <p:nvPr isPhoto="false"/>
        </p:nvSpPr>
        <p:spPr>
          <a:xfrm flipH="false" flipV="false" rot="0">
            <a:off x="502919" y="1042414"/>
            <a:ext cx="10881360" cy="365758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/>
            <a:r>
              <a:rPr b="false" i="false" sz="1100">
                <a:solidFill>
                  <a:srgbClr val="677278"/>
                </a:solidFill>
                <a:latin typeface="Arial"/>
                <a:ea typeface="Arial"/>
                <a:cs typeface="Arial"/>
              </a:rPr>
              <a:t>Продажа выполняется физлицу: в БД фиксируется покупатель — физлицо, а передача информации ядру становится основанием для вывода КМ из оборота.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59" name="Shape 259"/>
          <p:cNvSpPr txBox="true"/>
          <p:nvPr isPhoto="false"/>
        </p:nvSpPr>
        <p:spPr>
          <a:xfrm flipH="false" flipV="false" rot="0">
            <a:off x="502919" y="6473952"/>
            <a:ext cx="5486400" cy="2286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/>
            <a:r>
              <a:rPr b="false" i="false" sz="800">
                <a:solidFill>
                  <a:srgbClr val="677278"/>
                </a:solidFill>
                <a:latin typeface="Arial"/>
                <a:ea typeface="Arial"/>
                <a:cs typeface="Arial"/>
              </a:rPr>
              <a:t>Продажа товаров • Группа 3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60" name="Shape 260"/>
          <p:cNvSpPr txBox="true"/>
          <p:nvPr isPhoto="false"/>
        </p:nvSpPr>
        <p:spPr>
          <a:xfrm flipH="false" flipV="false" rot="0">
            <a:off x="11247120" y="6455664"/>
            <a:ext cx="457200" cy="274318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r" indent="0" marL="0"/>
            <a:r>
              <a:rPr b="false" i="false" sz="900">
                <a:solidFill>
                  <a:srgbClr val="5C6767"/>
                </a:solidFill>
                <a:latin typeface="Calibri"/>
                <a:ea typeface="Calibri"/>
                <a:cs typeface="Calibri"/>
              </a:rPr>
              <a:t>6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hidden="false" id="261" name="Table 261"/>
          <p:cNvGraphicFramePr/>
          <p:nvPr isPhoto="false"/>
        </p:nvGraphicFramePr>
        <p:xfrm flipH="false" flipV="false" rot="0">
          <a:off x="429768" y="1600200"/>
          <a:ext cx="11338560" cy="4169664"/>
        </p:xfrm>
        <a:graphic>
          <a:graphicData uri="http://schemas.openxmlformats.org/drawingml/2006/table">
            <a:tbl>
              <a:tblPr bandCol="false" bandRow="true" firstCol="false" firstRow="true" lastCol="false" lastRow="false"/>
              <a:tblGrid>
                <a:gridCol w="2926080"/>
                <a:gridCol w="2651760"/>
                <a:gridCol w="1463040"/>
                <a:gridCol w="4297680"/>
              </a:tblGrid>
              <a:tr h="658368"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true" sz="95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Этап по схеме</a:t>
                      </a:r>
                    </a:p>
                  </a:txBody>
                  <a:tcPr anchor="t" anchorCtr="false" marB="36576" marL="54864" marR="54864" marT="36576" vert="horz">
                    <a:solidFill>
                      <a:srgbClr val="163F5C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true" sz="95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Объект БД</a:t>
                      </a:r>
                    </a:p>
                  </a:txBody>
                  <a:tcPr anchor="t" anchorCtr="false" marB="36576" marL="54864" marR="54864" marT="36576" vert="horz">
                    <a:solidFill>
                      <a:srgbClr val="163F5C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true" sz="95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Операция</a:t>
                      </a:r>
                    </a:p>
                  </a:txBody>
                  <a:tcPr anchor="t" anchorCtr="false" marB="36576" marL="54864" marR="54864" marT="36576" vert="horz">
                    <a:solidFill>
                      <a:srgbClr val="163F5C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true" sz="95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Что меняется в данных</a:t>
                      </a:r>
                    </a:p>
                  </a:txBody>
                  <a:tcPr anchor="t" anchorCtr="false" marB="36576" marL="54864" marR="54864" marT="36576" vert="horz">
                    <a:solidFill>
                      <a:srgbClr val="163F5C"/>
                    </a:solidFill>
                  </a:tcPr>
                </a:tc>
              </a:tr>
              <a:tr h="585216"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true" sz="900">
                          <a:solidFill>
                            <a:srgbClr val="133959"/>
                          </a:solidFill>
                          <a:latin typeface="Arial"/>
                          <a:ea typeface="Arial"/>
                          <a:cs typeface="Arial"/>
                        </a:rPr>
                        <a:t>1. Получение товара от группы импорта</a:t>
                      </a:r>
                    </a:p>
                  </a:txBody>
                  <a:tcPr anchor="t" anchorCtr="false" marB="36576" marL="54864" marR="54864" marT="36576" vert="horz">
                    <a:solidFill>
                      <a:srgbClr val="FFFFFF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false" sz="900">
                          <a:solidFill>
                            <a:srgbClr val="263034"/>
                          </a:solidFill>
                          <a:latin typeface="Arial"/>
                          <a:ea typeface="Arial"/>
                          <a:cs typeface="Arial"/>
                        </a:rPr>
                        <a:t>import_receipt, import_items</a:t>
                      </a:r>
                    </a:p>
                  </a:txBody>
                  <a:tcPr anchor="t" anchorCtr="false" marB="36576" marL="54864" marR="54864" marT="36576" vert="horz">
                    <a:solidFill>
                      <a:srgbClr val="FFFFFF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false" sz="900">
                          <a:solidFill>
                            <a:srgbClr val="133959"/>
                          </a:solidFill>
                          <a:latin typeface="Arial"/>
                          <a:ea typeface="Arial"/>
                          <a:cs typeface="Arial"/>
                        </a:rPr>
                        <a:t>CREATE</a:t>
                      </a:r>
                    </a:p>
                  </a:txBody>
                  <a:tcPr anchor="t" anchorCtr="false" marB="36576" marL="54864" marR="54864" marT="36576" vert="horz">
                    <a:solidFill>
                      <a:srgbClr val="FFFFFF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false" sz="900">
                          <a:solidFill>
                            <a:srgbClr val="263034"/>
                          </a:solidFill>
                          <a:latin typeface="Arial"/>
                          <a:ea typeface="Arial"/>
                          <a:cs typeface="Arial"/>
                        </a:rPr>
                        <a:t>Создаются акт поступления и позиции; КМ фиксируются со статусом «Ожидает проверки»</a:t>
                      </a:r>
                    </a:p>
                  </a:txBody>
                  <a:tcPr anchor="t" anchorCtr="false" marB="36576" marL="54864" marR="54864" marT="36576" vert="horz">
                    <a:solidFill>
                      <a:srgbClr val="FFFFFF"/>
                    </a:solidFill>
                  </a:tcPr>
                </a:tc>
              </a:tr>
              <a:tr h="585216"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true" sz="900">
                          <a:solidFill>
                            <a:srgbClr val="133959"/>
                          </a:solidFill>
                          <a:latin typeface="Arial"/>
                          <a:ea typeface="Arial"/>
                          <a:cs typeface="Arial"/>
                        </a:rPr>
                        <a:t>2. Триггер: поступление зафиксировано в БД</a:t>
                      </a:r>
                    </a:p>
                  </a:txBody>
                  <a:tcPr anchor="t" anchorCtr="false" marB="36576" marL="54864" marR="54864" marT="36576" vert="horz">
                    <a:solidFill>
                      <a:srgbClr val="F4F7FA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false" sz="900">
                          <a:solidFill>
                            <a:srgbClr val="263034"/>
                          </a:solidFill>
                          <a:latin typeface="Arial"/>
                          <a:ea typeface="Arial"/>
                          <a:cs typeface="Arial"/>
                        </a:rPr>
                        <a:t>stock_balance, marking_codes, inventory_log</a:t>
                      </a:r>
                    </a:p>
                  </a:txBody>
                  <a:tcPr anchor="t" anchorCtr="false" marB="36576" marL="54864" marR="54864" marT="36576" vert="horz">
                    <a:solidFill>
                      <a:srgbClr val="F4F7FA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false" sz="900">
                          <a:solidFill>
                            <a:srgbClr val="133959"/>
                          </a:solidFill>
                          <a:latin typeface="Arial"/>
                          <a:ea typeface="Arial"/>
                          <a:cs typeface="Arial"/>
                        </a:rPr>
                        <a:t>UPDATE + CREATE</a:t>
                      </a:r>
                    </a:p>
                  </a:txBody>
                  <a:tcPr anchor="t" anchorCtr="false" marB="36576" marL="54864" marR="54864" marT="36576" vert="horz">
                    <a:solidFill>
                      <a:srgbClr val="F4F7FA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false" sz="900">
                          <a:solidFill>
                            <a:srgbClr val="263034"/>
                          </a:solidFill>
                          <a:latin typeface="Arial"/>
                          <a:ea typeface="Arial"/>
                          <a:cs typeface="Arial"/>
                        </a:rPr>
                        <a:t>Остатки увеличиваются; статусы КМ → «В обороте»; создаётся запись в журнале</a:t>
                      </a:r>
                    </a:p>
                  </a:txBody>
                  <a:tcPr anchor="t" anchorCtr="false" marB="36576" marL="54864" marR="54864" marT="36576" vert="horz">
                    <a:solidFill>
                      <a:srgbClr val="F4F7FA"/>
                    </a:solidFill>
                  </a:tcPr>
                </a:tc>
              </a:tr>
              <a:tr h="585216"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true" sz="900">
                          <a:solidFill>
                            <a:srgbClr val="133959"/>
                          </a:solidFill>
                          <a:latin typeface="Arial"/>
                          <a:ea typeface="Arial"/>
                          <a:cs typeface="Arial"/>
                        </a:rPr>
                        <a:t>3. Продажа физлицу</a:t>
                      </a:r>
                    </a:p>
                  </a:txBody>
                  <a:tcPr anchor="t" anchorCtr="false" marB="36576" marL="54864" marR="54864" marT="36576" vert="horz">
                    <a:solidFill>
                      <a:srgbClr val="FFFFFF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false" sz="900">
                          <a:solidFill>
                            <a:srgbClr val="263034"/>
                          </a:solidFill>
                          <a:latin typeface="Arial"/>
                          <a:ea typeface="Arial"/>
                          <a:cs typeface="Arial"/>
                        </a:rPr>
                        <a:t>sales, sales_items, receipts</a:t>
                      </a:r>
                    </a:p>
                  </a:txBody>
                  <a:tcPr anchor="t" anchorCtr="false" marB="36576" marL="54864" marR="54864" marT="36576" vert="horz">
                    <a:solidFill>
                      <a:srgbClr val="FFFFFF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false" sz="900">
                          <a:solidFill>
                            <a:srgbClr val="133959"/>
                          </a:solidFill>
                          <a:latin typeface="Arial"/>
                          <a:ea typeface="Arial"/>
                          <a:cs typeface="Arial"/>
                        </a:rPr>
                        <a:t>CREATE + UPDATE</a:t>
                      </a:r>
                    </a:p>
                  </a:txBody>
                  <a:tcPr anchor="t" anchorCtr="false" marB="36576" marL="54864" marR="54864" marT="36576" vert="horz">
                    <a:solidFill>
                      <a:srgbClr val="FFFFFF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false" sz="900">
                          <a:solidFill>
                            <a:srgbClr val="263034"/>
                          </a:solidFill>
                          <a:latin typeface="Arial"/>
                          <a:ea typeface="Arial"/>
                          <a:cs typeface="Arial"/>
                        </a:rPr>
                        <a:t>Создаются заказ, чек и счёт-фактура; остатки уменьшаются</a:t>
                      </a:r>
                    </a:p>
                  </a:txBody>
                  <a:tcPr anchor="t" anchorCtr="false" marB="36576" marL="54864" marR="54864" marT="36576" vert="horz">
                    <a:solidFill>
                      <a:srgbClr val="FFFFFF"/>
                    </a:solidFill>
                  </a:tcPr>
                </a:tc>
              </a:tr>
              <a:tr h="585216"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true" sz="900">
                          <a:solidFill>
                            <a:srgbClr val="133959"/>
                          </a:solidFill>
                          <a:latin typeface="Arial"/>
                          <a:ea typeface="Arial"/>
                          <a:cs typeface="Arial"/>
                        </a:rPr>
                        <a:t>4. Передача в ядро маркировки: «товар передан физлицу»</a:t>
                      </a:r>
                    </a:p>
                  </a:txBody>
                  <a:tcPr anchor="t" anchorCtr="false" marB="36576" marL="54864" marR="54864" marT="36576" vert="horz">
                    <a:solidFill>
                      <a:srgbClr val="F4F7FA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false" sz="900">
                          <a:solidFill>
                            <a:srgbClr val="263034"/>
                          </a:solidFill>
                          <a:latin typeface="Arial"/>
                          <a:ea typeface="Arial"/>
                          <a:cs typeface="Arial"/>
                        </a:rPr>
                        <a:t>marking_codes</a:t>
                      </a:r>
                    </a:p>
                  </a:txBody>
                  <a:tcPr anchor="t" anchorCtr="false" marB="36576" marL="54864" marR="54864" marT="36576" vert="horz">
                    <a:solidFill>
                      <a:srgbClr val="F4F7FA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false" sz="900">
                          <a:solidFill>
                            <a:srgbClr val="133959"/>
                          </a:solidFill>
                          <a:latin typeface="Arial"/>
                          <a:ea typeface="Arial"/>
                          <a:cs typeface="Arial"/>
                        </a:rPr>
                        <a:t>UPDATE</a:t>
                      </a:r>
                    </a:p>
                  </a:txBody>
                  <a:tcPr anchor="t" anchorCtr="false" marB="36576" marL="54864" marR="54864" marT="36576" vert="horz">
                    <a:solidFill>
                      <a:srgbClr val="F4F7FA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false" sz="900">
                          <a:solidFill>
                            <a:srgbClr val="263034"/>
                          </a:solidFill>
                          <a:latin typeface="Arial"/>
                          <a:ea typeface="Arial"/>
                          <a:cs typeface="Arial"/>
                        </a:rPr>
                        <a:t>Статус КМ → «Выбыл» (вывод из оборота); ядру передаются данные о покупателе — физлице</a:t>
                      </a:r>
                    </a:p>
                  </a:txBody>
                  <a:tcPr anchor="t" anchorCtr="false" marB="36576" marL="54864" marR="54864" marT="36576" vert="horz">
                    <a:solidFill>
                      <a:srgbClr val="F4F7FA"/>
                    </a:solidFill>
                  </a:tcPr>
                </a:tc>
              </a:tr>
              <a:tr h="585216"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true" sz="900">
                          <a:solidFill>
                            <a:srgbClr val="133959"/>
                          </a:solidFill>
                          <a:latin typeface="Arial"/>
                          <a:ea typeface="Arial"/>
                          <a:cs typeface="Arial"/>
                        </a:rPr>
                        <a:t>5. Обновление заказа клиенту</a:t>
                      </a:r>
                    </a:p>
                  </a:txBody>
                  <a:tcPr anchor="t" anchorCtr="false" marB="36576" marL="54864" marR="54864" marT="36576" vert="horz">
                    <a:solidFill>
                      <a:srgbClr val="FFFFFF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false" sz="900">
                          <a:solidFill>
                            <a:srgbClr val="263034"/>
                          </a:solidFill>
                          <a:latin typeface="Arial"/>
                          <a:ea typeface="Arial"/>
                          <a:cs typeface="Arial"/>
                        </a:rPr>
                        <a:t>orders, notifications</a:t>
                      </a:r>
                    </a:p>
                  </a:txBody>
                  <a:tcPr anchor="t" anchorCtr="false" marB="36576" marL="54864" marR="54864" marT="36576" vert="horz">
                    <a:solidFill>
                      <a:srgbClr val="FFFFFF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false" sz="900">
                          <a:solidFill>
                            <a:srgbClr val="133959"/>
                          </a:solidFill>
                          <a:latin typeface="Arial"/>
                          <a:ea typeface="Arial"/>
                          <a:cs typeface="Arial"/>
                        </a:rPr>
                        <a:t>UPDATE + CREATE</a:t>
                      </a:r>
                    </a:p>
                  </a:txBody>
                  <a:tcPr anchor="t" anchorCtr="false" marB="36576" marL="54864" marR="54864" marT="36576" vert="horz">
                    <a:solidFill>
                      <a:srgbClr val="FFFFFF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false" sz="900">
                          <a:solidFill>
                            <a:srgbClr val="263034"/>
                          </a:solidFill>
                          <a:latin typeface="Arial"/>
                          <a:ea typeface="Arial"/>
                          <a:cs typeface="Arial"/>
                        </a:rPr>
                        <a:t>Статус заказа → «Продано»; клиент получает подтверждение и чек</a:t>
                      </a:r>
                    </a:p>
                  </a:txBody>
                  <a:tcPr anchor="t" anchorCtr="false" marB="36576" marL="54864" marR="54864" marT="36576" vert="horz">
                    <a:solidFill>
                      <a:srgbClr val="FFFFFF"/>
                    </a:solidFill>
                  </a:tcPr>
                </a:tc>
              </a:tr>
              <a:tr h="585216"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true" sz="900">
                          <a:solidFill>
                            <a:srgbClr val="133959"/>
                          </a:solidFill>
                          <a:latin typeface="Arial"/>
                          <a:ea typeface="Arial"/>
                          <a:cs typeface="Arial"/>
                        </a:rPr>
                        <a:t>6. Списание (если КМ некорректны)</a:t>
                      </a:r>
                    </a:p>
                  </a:txBody>
                  <a:tcPr anchor="t" anchorCtr="false" marB="36576" marL="54864" marR="54864" marT="36576" vert="horz">
                    <a:solidFill>
                      <a:srgbClr val="F4F7FA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false" sz="900">
                          <a:solidFill>
                            <a:srgbClr val="263034"/>
                          </a:solidFill>
                          <a:latin typeface="Arial"/>
                          <a:ea typeface="Arial"/>
                          <a:cs typeface="Arial"/>
                        </a:rPr>
                        <a:t>writeoff_act, marking_codes, stock_balance</a:t>
                      </a:r>
                    </a:p>
                  </a:txBody>
                  <a:tcPr anchor="t" anchorCtr="false" marB="36576" marL="54864" marR="54864" marT="36576" vert="horz">
                    <a:solidFill>
                      <a:srgbClr val="F4F7FA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false" sz="900">
                          <a:solidFill>
                            <a:srgbClr val="133959"/>
                          </a:solidFill>
                          <a:latin typeface="Arial"/>
                          <a:ea typeface="Arial"/>
                          <a:cs typeface="Arial"/>
                        </a:rPr>
                        <a:t>CREATE + UPDATE</a:t>
                      </a:r>
                    </a:p>
                  </a:txBody>
                  <a:tcPr anchor="t" anchorCtr="false" marB="36576" marL="54864" marR="54864" marT="36576" vert="horz">
                    <a:solidFill>
                      <a:srgbClr val="F4F7FA"/>
                    </a:solidFill>
                  </a:tcPr>
                </a:tc>
                <a:tc gridSpan="1" hMerge="false" rowSpan="1" vMerge="false">
                  <a:txBody>
                    <a:bodyPr/>
                    <a:lstStyle>
                      <a:defPPr/>
                      <a:lvl1pPr lvl="0"/>
                    </a:lstStyle>
                    <a:p>
                      <a:pPr algn="l" indent="0" marL="0"/>
                      <a:r>
                        <a:rPr b="false" sz="900">
                          <a:solidFill>
                            <a:srgbClr val="263034"/>
                          </a:solidFill>
                          <a:latin typeface="Arial"/>
                          <a:ea typeface="Arial"/>
                          <a:cs typeface="Arial"/>
                        </a:rPr>
                        <a:t>Акт списания; статус КМ → «Списан»; остатки уменьшаются</a:t>
                      </a:r>
                    </a:p>
                  </a:txBody>
                  <a:tcPr anchor="t" anchorCtr="false" marB="36576" marL="54864" marR="54864" marT="36576" vert="horz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hidden="false" id="262" name="Shape 262"/>
          <p:cNvSpPr txBox="false"/>
          <p:nvPr isPhoto="false"/>
        </p:nvSpPr>
        <p:spPr>
          <a:xfrm flipH="false" flipV="false" rot="0">
            <a:off x="429768" y="5943600"/>
            <a:ext cx="11338560" cy="566928"/>
          </a:xfrm>
          <a:prstGeom prst="roundRect">
            <a:avLst>
              <a:gd fmla="val 12000" name="adj"/>
            </a:avLst>
          </a:prstGeom>
          <a:solidFill>
            <a:srgbClr val="FCF5DC"/>
          </a:solidFill>
          <a:ln w="12700">
            <a:solidFill>
              <a:srgbClr val="EADDB0"/>
            </a:solidFill>
            <a:prstDash val="solid"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63" name="Shape 263"/>
          <p:cNvSpPr txBox="true"/>
          <p:nvPr isPhoto="false"/>
        </p:nvSpPr>
        <p:spPr>
          <a:xfrm flipH="false" flipV="false" rot="0">
            <a:off x="658368" y="6062472"/>
            <a:ext cx="10881360" cy="41147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/>
            <a:r>
              <a:rPr b="true" i="false" sz="1050">
                <a:solidFill>
                  <a:srgbClr val="DA635A"/>
                </a:solidFill>
                <a:latin typeface="Arial"/>
                <a:ea typeface="Arial"/>
                <a:cs typeface="Arial"/>
              </a:rPr>
              <a:t>ВАЖНО: </a:t>
            </a:r>
            <a:r>
              <a:rPr b="false" i="false" sz="1050">
                <a:solidFill>
                  <a:srgbClr val="263034"/>
                </a:solidFill>
                <a:latin typeface="Arial"/>
                <a:ea typeface="Arial"/>
                <a:cs typeface="Arial"/>
              </a:rPr>
              <a:t>в схеме продажа совершается физлицу. Именно передача информации «товар передан физлицу» в ядро маркировки переводит КМ в статус «Выбыл».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7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264" name="GroupShape 264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265" name="Shape 265"/>
          <p:cNvSpPr txBox="true"/>
          <p:nvPr isPhoto="false"/>
        </p:nvSpPr>
        <p:spPr>
          <a:xfrm flipH="false" flipV="false" rot="0">
            <a:off x="502919" y="292608"/>
            <a:ext cx="8229600" cy="27431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/>
            <a:r>
              <a:rPr b="true" i="false" sz="900">
                <a:solidFill>
                  <a:srgbClr val="67AE70"/>
                </a:solidFill>
                <a:latin typeface="Arial"/>
                <a:ea typeface="Arial"/>
                <a:cs typeface="Arial"/>
              </a:rPr>
              <a:t>ПРИМЕР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66" name="Shape 266"/>
          <p:cNvSpPr txBox="true"/>
          <p:nvPr isPhoto="false"/>
        </p:nvSpPr>
        <p:spPr>
          <a:xfrm flipH="false" flipV="false" rot="0">
            <a:off x="502919" y="502919"/>
            <a:ext cx="10515600" cy="54864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/>
            <a:r>
              <a:rPr b="true" i="false" sz="2500">
                <a:solidFill>
                  <a:srgbClr val="163F5C"/>
                </a:solidFill>
                <a:latin typeface="Calibri"/>
                <a:ea typeface="Calibri"/>
                <a:cs typeface="Calibri"/>
              </a:rPr>
              <a:t>7. Пример данных и изменение состояния КМ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67" name="Shape 267"/>
          <p:cNvSpPr txBox="true"/>
          <p:nvPr isPhoto="false"/>
        </p:nvSpPr>
        <p:spPr>
          <a:xfrm flipH="false" flipV="false" rot="0">
            <a:off x="502919" y="1042414"/>
            <a:ext cx="10881360" cy="365758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/>
            <a:r>
              <a:rPr b="false" i="false" sz="1100">
                <a:solidFill>
                  <a:srgbClr val="677278"/>
                </a:solidFill>
                <a:latin typeface="Arial"/>
                <a:ea typeface="Arial"/>
                <a:cs typeface="Arial"/>
              </a:rPr>
              <a:t>Условный пример: продажа одной пары обуви физлицу из партии в 120 шт. Значения КМ учебные.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68" name="Shape 268"/>
          <p:cNvSpPr txBox="true"/>
          <p:nvPr isPhoto="false"/>
        </p:nvSpPr>
        <p:spPr>
          <a:xfrm flipH="false" flipV="false" rot="0">
            <a:off x="502919" y="6473952"/>
            <a:ext cx="5486400" cy="2286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/>
            <a:r>
              <a:rPr b="false" i="false" sz="800">
                <a:solidFill>
                  <a:srgbClr val="677278"/>
                </a:solidFill>
                <a:latin typeface="Arial"/>
                <a:ea typeface="Arial"/>
                <a:cs typeface="Arial"/>
              </a:rPr>
              <a:t>Продажа товаров • Группа 3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69" name="Shape 269"/>
          <p:cNvSpPr txBox="true"/>
          <p:nvPr isPhoto="false"/>
        </p:nvSpPr>
        <p:spPr>
          <a:xfrm flipH="false" flipV="false" rot="0">
            <a:off x="11247120" y="6455664"/>
            <a:ext cx="457200" cy="274318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r" indent="0" marL="0"/>
            <a:r>
              <a:rPr b="false" i="false" sz="900">
                <a:solidFill>
                  <a:srgbClr val="5C6767"/>
                </a:solidFill>
                <a:latin typeface="Calibri"/>
                <a:ea typeface="Calibri"/>
                <a:cs typeface="Calibri"/>
              </a:rPr>
              <a:t>7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70" name="Shape 270"/>
          <p:cNvSpPr txBox="false"/>
          <p:nvPr isPhoto="false"/>
        </p:nvSpPr>
        <p:spPr>
          <a:xfrm flipH="false" flipV="false" rot="0">
            <a:off x="429768" y="1554480"/>
            <a:ext cx="5760720" cy="3977639"/>
          </a:xfrm>
          <a:prstGeom prst="roundRect">
            <a:avLst>
              <a:gd fmla="val 6000" name="adj"/>
            </a:avLst>
          </a:prstGeom>
          <a:solidFill>
            <a:srgbClr val="F4F7FA"/>
          </a:solidFill>
          <a:ln w="12700">
            <a:solidFill>
              <a:srgbClr val="D5DDE6"/>
            </a:solidFill>
            <a:prstDash val="solid"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71" name="Shape 271"/>
          <p:cNvSpPr txBox="true"/>
          <p:nvPr isPhoto="false"/>
        </p:nvSpPr>
        <p:spPr>
          <a:xfrm flipH="false" flipV="false" rot="0">
            <a:off x="685800" y="1737360"/>
            <a:ext cx="5212080" cy="32003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/>
            <a:r>
              <a:rPr b="true" i="false" sz="1300">
                <a:solidFill>
                  <a:srgbClr val="133959"/>
                </a:solidFill>
                <a:latin typeface="Arial"/>
                <a:ea typeface="Arial"/>
                <a:cs typeface="Arial"/>
              </a:rPr>
              <a:t>ЗАПИСИ В БД ГРУППЫ «ПРОДАЖА»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72" name="Shape 272"/>
          <p:cNvSpPr txBox="false"/>
          <p:nvPr isPhoto="false"/>
        </p:nvSpPr>
        <p:spPr>
          <a:xfrm flipH="false" flipV="false" rot="0">
            <a:off x="685800" y="2148840"/>
            <a:ext cx="5257800" cy="1188719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73" name="Shape 273"/>
          <p:cNvSpPr txBox="true"/>
          <p:nvPr isPhoto="false"/>
        </p:nvSpPr>
        <p:spPr>
          <a:xfrm flipH="false" flipV="false" rot="0">
            <a:off x="868680" y="2212848"/>
            <a:ext cx="4937760" cy="237744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/>
            <a:r>
              <a:rPr b="true" i="false" sz="1100">
                <a:solidFill>
                  <a:srgbClr val="133959"/>
                </a:solidFill>
                <a:latin typeface="Arial"/>
                <a:ea typeface="Arial"/>
                <a:cs typeface="Arial"/>
              </a:rPr>
              <a:t>SALES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74" name="Shape 274"/>
          <p:cNvSpPr txBox="true"/>
          <p:nvPr isPhoto="false"/>
        </p:nvSpPr>
        <p:spPr>
          <a:xfrm flipH="false" flipV="false" rot="0">
            <a:off x="868680" y="2478024"/>
            <a:ext cx="4937760" cy="219455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/>
            <a:r>
              <a:rPr b="false" i="false" sz="950">
                <a:solidFill>
                  <a:srgbClr val="263034"/>
                </a:solidFill>
                <a:latin typeface="Arial"/>
                <a:ea typeface="Arial"/>
                <a:cs typeface="Arial"/>
              </a:rPr>
              <a:t>SALE_ID = SAL-000041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75" name="Shape 275"/>
          <p:cNvSpPr txBox="true"/>
          <p:nvPr isPhoto="false"/>
        </p:nvSpPr>
        <p:spPr>
          <a:xfrm flipH="false" flipV="false" rot="0">
            <a:off x="868680" y="2692908"/>
            <a:ext cx="4937760" cy="219455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/>
            <a:r>
              <a:rPr b="false" i="false" sz="950">
                <a:solidFill>
                  <a:srgbClr val="263034"/>
                </a:solidFill>
                <a:latin typeface="Arial"/>
                <a:ea typeface="Arial"/>
                <a:cs typeface="Arial"/>
              </a:rPr>
              <a:t>CLIENT_TYPE = Физлицо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76" name="Shape 276"/>
          <p:cNvSpPr txBox="true"/>
          <p:nvPr isPhoto="false"/>
        </p:nvSpPr>
        <p:spPr>
          <a:xfrm flipH="false" flipV="false" rot="0">
            <a:off x="868680" y="2907791"/>
            <a:ext cx="4937760" cy="219455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/>
            <a:r>
              <a:rPr b="false" i="false" sz="950">
                <a:solidFill>
                  <a:srgbClr val="263034"/>
                </a:solidFill>
                <a:latin typeface="Arial"/>
                <a:ea typeface="Arial"/>
                <a:cs typeface="Arial"/>
              </a:rPr>
              <a:t>SALE_DATE = 2026-10-14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77" name="Shape 277"/>
          <p:cNvSpPr txBox="true"/>
          <p:nvPr isPhoto="false"/>
        </p:nvSpPr>
        <p:spPr>
          <a:xfrm flipH="false" flipV="false" rot="0">
            <a:off x="868680" y="3122676"/>
            <a:ext cx="4937760" cy="219454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/>
            <a:r>
              <a:rPr b="false" i="false" sz="950">
                <a:solidFill>
                  <a:srgbClr val="263034"/>
                </a:solidFill>
                <a:latin typeface="Arial"/>
                <a:ea typeface="Arial"/>
                <a:cs typeface="Arial"/>
              </a:rPr>
              <a:t>TOTAL_AMOUNT = 4 990 ₽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78" name="Shape 278"/>
          <p:cNvSpPr txBox="false"/>
          <p:nvPr isPhoto="false"/>
        </p:nvSpPr>
        <p:spPr>
          <a:xfrm flipH="false" flipV="false" rot="0">
            <a:off x="685800" y="3447288"/>
            <a:ext cx="5257800" cy="969264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79" name="Shape 279"/>
          <p:cNvSpPr txBox="true"/>
          <p:nvPr isPhoto="false"/>
        </p:nvSpPr>
        <p:spPr>
          <a:xfrm flipH="false" flipV="false" rot="0">
            <a:off x="868680" y="3511296"/>
            <a:ext cx="4937760" cy="237744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/>
            <a:r>
              <a:rPr b="true" i="false" sz="1100">
                <a:solidFill>
                  <a:srgbClr val="133959"/>
                </a:solidFill>
                <a:latin typeface="Arial"/>
                <a:ea typeface="Arial"/>
                <a:cs typeface="Arial"/>
              </a:rPr>
              <a:t>SALES_ITEMS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80" name="Shape 280"/>
          <p:cNvSpPr txBox="true"/>
          <p:nvPr isPhoto="false"/>
        </p:nvSpPr>
        <p:spPr>
          <a:xfrm flipH="false" flipV="false" rot="0">
            <a:off x="868680" y="3776471"/>
            <a:ext cx="4937760" cy="219454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/>
            <a:r>
              <a:rPr b="false" i="false" sz="950">
                <a:solidFill>
                  <a:srgbClr val="263034"/>
                </a:solidFill>
                <a:latin typeface="Arial"/>
                <a:ea typeface="Arial"/>
                <a:cs typeface="Arial"/>
              </a:rPr>
              <a:t>ITEM_ID = ITM-000112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81" name="Shape 281"/>
          <p:cNvSpPr txBox="true"/>
          <p:nvPr isPhoto="false"/>
        </p:nvSpPr>
        <p:spPr>
          <a:xfrm flipH="false" flipV="false" rot="0">
            <a:off x="868680" y="3991356"/>
            <a:ext cx="4937760" cy="219454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/>
            <a:r>
              <a:rPr b="false" i="false" sz="950">
                <a:solidFill>
                  <a:srgbClr val="263034"/>
                </a:solidFill>
                <a:latin typeface="Arial"/>
                <a:ea typeface="Arial"/>
                <a:cs typeface="Arial"/>
              </a:rPr>
              <a:t>MARKING_CODE_ID = KM-EXAMPLE-000117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82" name="Shape 282"/>
          <p:cNvSpPr txBox="true"/>
          <p:nvPr isPhoto="false"/>
        </p:nvSpPr>
        <p:spPr>
          <a:xfrm flipH="false" flipV="false" rot="0">
            <a:off x="868680" y="4206240"/>
            <a:ext cx="4937760" cy="219454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/>
            <a:r>
              <a:rPr b="false" i="false" sz="950">
                <a:solidFill>
                  <a:srgbClr val="263034"/>
                </a:solidFill>
                <a:latin typeface="Arial"/>
                <a:ea typeface="Arial"/>
                <a:cs typeface="Arial"/>
              </a:rPr>
              <a:t>PRICE = 4 990 ₽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83" name="Shape 283"/>
          <p:cNvSpPr txBox="false"/>
          <p:nvPr isPhoto="false"/>
        </p:nvSpPr>
        <p:spPr>
          <a:xfrm flipH="false" flipV="false" rot="0">
            <a:off x="685800" y="4526280"/>
            <a:ext cx="5257800" cy="969264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84" name="Shape 284"/>
          <p:cNvSpPr txBox="true"/>
          <p:nvPr isPhoto="false"/>
        </p:nvSpPr>
        <p:spPr>
          <a:xfrm flipH="false" flipV="false" rot="0">
            <a:off x="868680" y="4590288"/>
            <a:ext cx="4937760" cy="237744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/>
            <a:r>
              <a:rPr b="true" i="false" sz="1100">
                <a:solidFill>
                  <a:srgbClr val="133959"/>
                </a:solidFill>
                <a:latin typeface="Arial"/>
                <a:ea typeface="Arial"/>
                <a:cs typeface="Arial"/>
              </a:rPr>
              <a:t>RECEIPTS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85" name="Shape 285"/>
          <p:cNvSpPr txBox="true"/>
          <p:nvPr isPhoto="false"/>
        </p:nvSpPr>
        <p:spPr>
          <a:xfrm flipH="false" flipV="false" rot="0">
            <a:off x="868680" y="4855464"/>
            <a:ext cx="4937760" cy="219454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/>
            <a:r>
              <a:rPr b="false" i="false" sz="950">
                <a:solidFill>
                  <a:srgbClr val="263034"/>
                </a:solidFill>
                <a:latin typeface="Arial"/>
                <a:ea typeface="Arial"/>
                <a:cs typeface="Arial"/>
              </a:rPr>
              <a:t>RECEIPT_ID = RCP-000078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86" name="Shape 286"/>
          <p:cNvSpPr txBox="true"/>
          <p:nvPr isPhoto="false"/>
        </p:nvSpPr>
        <p:spPr>
          <a:xfrm flipH="false" flipV="false" rot="0">
            <a:off x="868680" y="5070348"/>
            <a:ext cx="4937760" cy="219454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/>
            <a:r>
              <a:rPr b="false" i="false" sz="950">
                <a:solidFill>
                  <a:srgbClr val="263034"/>
                </a:solidFill>
                <a:latin typeface="Arial"/>
                <a:ea typeface="Arial"/>
                <a:cs typeface="Arial"/>
              </a:rPr>
              <a:t>FISCAL_SIGN = FP-4821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87" name="Shape 287"/>
          <p:cNvSpPr txBox="true"/>
          <p:nvPr isPhoto="false"/>
        </p:nvSpPr>
        <p:spPr>
          <a:xfrm flipH="false" flipV="false" rot="0">
            <a:off x="868680" y="5285232"/>
            <a:ext cx="4937760" cy="219454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/>
            <a:r>
              <a:rPr b="false" i="false" sz="950">
                <a:solidFill>
                  <a:srgbClr val="263034"/>
                </a:solidFill>
                <a:latin typeface="Arial"/>
                <a:ea typeface="Arial"/>
                <a:cs typeface="Arial"/>
              </a:rPr>
              <a:t>OFD_STATUS = OK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88" name="Shape 288"/>
          <p:cNvSpPr txBox="false"/>
          <p:nvPr isPhoto="false"/>
        </p:nvSpPr>
        <p:spPr>
          <a:xfrm flipH="false" flipV="false" rot="0">
            <a:off x="685800" y="5605272"/>
            <a:ext cx="5257800" cy="749808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89" name="Shape 289"/>
          <p:cNvSpPr txBox="true"/>
          <p:nvPr isPhoto="false"/>
        </p:nvSpPr>
        <p:spPr>
          <a:xfrm flipH="false" flipV="false" rot="0">
            <a:off x="868680" y="5669280"/>
            <a:ext cx="4937760" cy="237744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/>
            <a:r>
              <a:rPr b="true" i="false" sz="1100">
                <a:solidFill>
                  <a:srgbClr val="133959"/>
                </a:solidFill>
                <a:latin typeface="Arial"/>
                <a:ea typeface="Arial"/>
                <a:cs typeface="Arial"/>
              </a:rPr>
              <a:t>ORDERS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90" name="Shape 290"/>
          <p:cNvSpPr txBox="true"/>
          <p:nvPr isPhoto="false"/>
        </p:nvSpPr>
        <p:spPr>
          <a:xfrm flipH="false" flipV="false" rot="0">
            <a:off x="868680" y="5934456"/>
            <a:ext cx="4937760" cy="219454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/>
            <a:r>
              <a:rPr b="false" i="false" sz="950">
                <a:solidFill>
                  <a:srgbClr val="263034"/>
                </a:solidFill>
                <a:latin typeface="Arial"/>
                <a:ea typeface="Arial"/>
                <a:cs typeface="Arial"/>
              </a:rPr>
              <a:t>ORDER_ID = ORD-000233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91" name="Shape 291"/>
          <p:cNvSpPr txBox="true"/>
          <p:nvPr isPhoto="false"/>
        </p:nvSpPr>
        <p:spPr>
          <a:xfrm flipH="false" flipV="false" rot="0">
            <a:off x="868680" y="6149340"/>
            <a:ext cx="4937760" cy="219454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/>
            <a:r>
              <a:rPr b="false" i="false" sz="950">
                <a:solidFill>
                  <a:srgbClr val="263034"/>
                </a:solidFill>
                <a:latin typeface="Arial"/>
                <a:ea typeface="Arial"/>
                <a:cs typeface="Arial"/>
              </a:rPr>
              <a:t>STATUS = «Продано»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92" name="Shape 292"/>
          <p:cNvSpPr txBox="false"/>
          <p:nvPr isPhoto="false"/>
        </p:nvSpPr>
        <p:spPr>
          <a:xfrm flipH="false" flipV="false" rot="0">
            <a:off x="6446520" y="1554480"/>
            <a:ext cx="5321808" cy="3977639"/>
          </a:xfrm>
          <a:prstGeom prst="roundRect">
            <a:avLst>
              <a:gd fmla="val 6000" name="adj"/>
            </a:avLst>
          </a:prstGeom>
          <a:solidFill>
            <a:srgbClr val="E8F5EA"/>
          </a:solidFill>
          <a:ln w="12700">
            <a:solidFill>
              <a:srgbClr val="C5E0CB"/>
            </a:solidFill>
            <a:prstDash val="solid"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93" name="Shape 293"/>
          <p:cNvSpPr txBox="true"/>
          <p:nvPr isPhoto="false"/>
        </p:nvSpPr>
        <p:spPr>
          <a:xfrm flipH="false" flipV="false" rot="0">
            <a:off x="6675119" y="1737360"/>
            <a:ext cx="4846319" cy="32003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/>
            <a:r>
              <a:rPr b="true" i="false" sz="1300">
                <a:solidFill>
                  <a:srgbClr val="67AE70"/>
                </a:solidFill>
                <a:latin typeface="Arial"/>
                <a:ea typeface="Arial"/>
                <a:cs typeface="Arial"/>
              </a:rPr>
              <a:t>ЖИЗНЬ ОДНОГО КМ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94" name="Shape 294"/>
          <p:cNvSpPr txBox="false"/>
          <p:nvPr isPhoto="false"/>
        </p:nvSpPr>
        <p:spPr>
          <a:xfrm flipH="false" flipV="false" rot="0">
            <a:off x="6675119" y="2194560"/>
            <a:ext cx="4846319" cy="566928"/>
          </a:xfrm>
          <a:prstGeom prst="roundRect">
            <a:avLst>
              <a:gd fmla="val 14000" name="adj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95" name="Shape 295"/>
          <p:cNvSpPr txBox="true"/>
          <p:nvPr isPhoto="false"/>
        </p:nvSpPr>
        <p:spPr>
          <a:xfrm flipH="false" flipV="false" rot="0">
            <a:off x="6858000" y="2258568"/>
            <a:ext cx="4480560" cy="237744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/>
            <a:r>
              <a:rPr b="true" i="false" sz="1100">
                <a:solidFill>
                  <a:srgbClr val="133959"/>
                </a:solidFill>
                <a:latin typeface="Arial"/>
                <a:ea typeface="Arial"/>
                <a:cs typeface="Arial"/>
              </a:rPr>
              <a:t>В обороте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96" name="Shape 296"/>
          <p:cNvSpPr txBox="true"/>
          <p:nvPr isPhoto="false"/>
        </p:nvSpPr>
        <p:spPr>
          <a:xfrm flipH="false" flipV="false" rot="0">
            <a:off x="6858000" y="2487168"/>
            <a:ext cx="4480560" cy="237744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/>
            <a:r>
              <a:rPr b="false" i="false" sz="900">
                <a:solidFill>
                  <a:srgbClr val="677278"/>
                </a:solidFill>
                <a:latin typeface="Arial"/>
                <a:ea typeface="Arial"/>
                <a:cs typeface="Arial"/>
              </a:rPr>
              <a:t>товар принят на склад и сверен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97" name="Shape 297"/>
          <p:cNvSpPr txBox="true"/>
          <p:nvPr isPhoto="false"/>
        </p:nvSpPr>
        <p:spPr>
          <a:xfrm flipH="false" flipV="false" rot="0">
            <a:off x="6675119" y="2743200"/>
            <a:ext cx="4846319" cy="182878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/>
            <a:r>
              <a:rPr b="true" i="false" sz="1000">
                <a:solidFill>
                  <a:srgbClr val="677278"/>
                </a:solidFill>
                <a:latin typeface="Arial"/>
                <a:ea typeface="Arial"/>
                <a:cs typeface="Arial"/>
              </a:rPr>
              <a:t>↓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98" name="Shape 298"/>
          <p:cNvSpPr txBox="false"/>
          <p:nvPr isPhoto="false"/>
        </p:nvSpPr>
        <p:spPr>
          <a:xfrm flipH="false" flipV="false" rot="0">
            <a:off x="6675119" y="2999232"/>
            <a:ext cx="4846319" cy="566927"/>
          </a:xfrm>
          <a:prstGeom prst="roundRect">
            <a:avLst>
              <a:gd fmla="val 14000" name="adj"/>
            </a:avLst>
          </a:prstGeom>
          <a:solidFill>
            <a:srgbClr val="FCF5DC"/>
          </a:solidFill>
          <a:ln w="12700">
            <a:solidFill>
              <a:srgbClr val="D5DDE6"/>
            </a:solidFill>
            <a:prstDash val="solid"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299" name="Shape 299"/>
          <p:cNvSpPr txBox="true"/>
          <p:nvPr isPhoto="false"/>
        </p:nvSpPr>
        <p:spPr>
          <a:xfrm flipH="false" flipV="false" rot="0">
            <a:off x="6858000" y="3063239"/>
            <a:ext cx="4480560" cy="237744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/>
            <a:r>
              <a:rPr b="true" i="false" sz="1100">
                <a:solidFill>
                  <a:srgbClr val="133959"/>
                </a:solidFill>
                <a:latin typeface="Arial"/>
                <a:ea typeface="Arial"/>
                <a:cs typeface="Arial"/>
              </a:rPr>
              <a:t>Продано физлицу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00" name="Shape 300"/>
          <p:cNvSpPr txBox="true"/>
          <p:nvPr isPhoto="false"/>
        </p:nvSpPr>
        <p:spPr>
          <a:xfrm flipH="false" flipV="false" rot="0">
            <a:off x="6858000" y="3291839"/>
            <a:ext cx="4480560" cy="237744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/>
            <a:r>
              <a:rPr b="false" i="false" sz="900">
                <a:solidFill>
                  <a:srgbClr val="677278"/>
                </a:solidFill>
                <a:latin typeface="Arial"/>
                <a:ea typeface="Arial"/>
                <a:cs typeface="Arial"/>
              </a:rPr>
              <a:t>заказ, чек, счёт-фактура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01" name="Shape 301"/>
          <p:cNvSpPr txBox="true"/>
          <p:nvPr isPhoto="false"/>
        </p:nvSpPr>
        <p:spPr>
          <a:xfrm flipH="false" flipV="false" rot="0">
            <a:off x="6675119" y="3547871"/>
            <a:ext cx="4846319" cy="18287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/>
            <a:r>
              <a:rPr b="true" i="false" sz="1000">
                <a:solidFill>
                  <a:srgbClr val="677278"/>
                </a:solidFill>
                <a:latin typeface="Arial"/>
                <a:ea typeface="Arial"/>
                <a:cs typeface="Arial"/>
              </a:rPr>
              <a:t>↓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02" name="Shape 302"/>
          <p:cNvSpPr txBox="false"/>
          <p:nvPr isPhoto="false"/>
        </p:nvSpPr>
        <p:spPr>
          <a:xfrm flipH="false" flipV="false" rot="0">
            <a:off x="6675119" y="3803903"/>
            <a:ext cx="4846319" cy="566927"/>
          </a:xfrm>
          <a:prstGeom prst="roundRect">
            <a:avLst>
              <a:gd fmla="val 14000" name="adj"/>
            </a:avLst>
          </a:prstGeom>
          <a:solidFill>
            <a:srgbClr val="FCF5DC"/>
          </a:solidFill>
          <a:ln w="12700">
            <a:solidFill>
              <a:srgbClr val="D5DDE6"/>
            </a:solidFill>
            <a:prstDash val="solid"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03" name="Shape 303"/>
          <p:cNvSpPr txBox="true"/>
          <p:nvPr isPhoto="false"/>
        </p:nvSpPr>
        <p:spPr>
          <a:xfrm flipH="false" flipV="false" rot="0">
            <a:off x="6858000" y="3867912"/>
            <a:ext cx="4480560" cy="237744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/>
            <a:r>
              <a:rPr b="true" i="false" sz="1100">
                <a:solidFill>
                  <a:srgbClr val="133959"/>
                </a:solidFill>
                <a:latin typeface="Arial"/>
                <a:ea typeface="Arial"/>
                <a:cs typeface="Arial"/>
              </a:rPr>
              <a:t>Передано в ядро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04" name="Shape 304"/>
          <p:cNvSpPr txBox="true"/>
          <p:nvPr isPhoto="false"/>
        </p:nvSpPr>
        <p:spPr>
          <a:xfrm flipH="false" flipV="false" rot="0">
            <a:off x="6858000" y="4096512"/>
            <a:ext cx="4480560" cy="237744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/>
            <a:r>
              <a:rPr b="false" i="false" sz="900">
                <a:solidFill>
                  <a:srgbClr val="677278"/>
                </a:solidFill>
                <a:latin typeface="Arial"/>
                <a:ea typeface="Arial"/>
                <a:cs typeface="Arial"/>
              </a:rPr>
              <a:t>«товар передан физлицу»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05" name="Shape 305"/>
          <p:cNvSpPr txBox="true"/>
          <p:nvPr isPhoto="false"/>
        </p:nvSpPr>
        <p:spPr>
          <a:xfrm flipH="false" flipV="false" rot="0">
            <a:off x="6675119" y="4352544"/>
            <a:ext cx="4846319" cy="18287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ctr" indent="0" marL="0"/>
            <a:r>
              <a:rPr b="true" i="false" sz="1000">
                <a:solidFill>
                  <a:srgbClr val="677278"/>
                </a:solidFill>
                <a:latin typeface="Arial"/>
                <a:ea typeface="Arial"/>
                <a:cs typeface="Arial"/>
              </a:rPr>
              <a:t>↓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06" name="Shape 306"/>
          <p:cNvSpPr txBox="false"/>
          <p:nvPr isPhoto="false"/>
        </p:nvSpPr>
        <p:spPr>
          <a:xfrm flipH="false" flipV="false" rot="0">
            <a:off x="6675119" y="4608576"/>
            <a:ext cx="4846319" cy="566928"/>
          </a:xfrm>
          <a:prstGeom prst="roundRect">
            <a:avLst>
              <a:gd fmla="val 14000" name="adj"/>
            </a:avLst>
          </a:prstGeom>
          <a:solidFill>
            <a:srgbClr val="FFFFFF"/>
          </a:solidFill>
          <a:ln w="12700">
            <a:solidFill>
              <a:srgbClr val="D5DDE6"/>
            </a:solidFill>
            <a:prstDash val="solid"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07" name="Shape 307"/>
          <p:cNvSpPr txBox="true"/>
          <p:nvPr isPhoto="false"/>
        </p:nvSpPr>
        <p:spPr>
          <a:xfrm flipH="false" flipV="false" rot="0">
            <a:off x="6858000" y="4672584"/>
            <a:ext cx="4480560" cy="237744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/>
            <a:r>
              <a:rPr b="true" i="false" sz="1100">
                <a:solidFill>
                  <a:srgbClr val="133959"/>
                </a:solidFill>
                <a:latin typeface="Arial"/>
                <a:ea typeface="Arial"/>
                <a:cs typeface="Arial"/>
              </a:rPr>
              <a:t>Выбыл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08" name="Shape 308"/>
          <p:cNvSpPr txBox="true"/>
          <p:nvPr isPhoto="false"/>
        </p:nvSpPr>
        <p:spPr>
          <a:xfrm flipH="false" flipV="false" rot="0">
            <a:off x="6858000" y="4901184"/>
            <a:ext cx="4480560" cy="237744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/>
            <a:r>
              <a:rPr b="false" i="false" sz="900">
                <a:solidFill>
                  <a:srgbClr val="677278"/>
                </a:solidFill>
                <a:latin typeface="Arial"/>
                <a:ea typeface="Arial"/>
                <a:cs typeface="Arial"/>
              </a:rPr>
              <a:t>подтверждение ядра — вывод из оборота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09" name="Shape 309"/>
          <p:cNvSpPr txBox="false"/>
          <p:nvPr isPhoto="false"/>
        </p:nvSpPr>
        <p:spPr>
          <a:xfrm flipH="false" flipV="false" rot="0">
            <a:off x="429768" y="5687568"/>
            <a:ext cx="11338560" cy="731520"/>
          </a:xfrm>
          <a:prstGeom prst="roundRect">
            <a:avLst>
              <a:gd fmla="val 10000" name="adj"/>
            </a:avLst>
          </a:prstGeom>
          <a:solidFill>
            <a:srgbClr val="FCF5DC"/>
          </a:solidFill>
          <a:ln w="12700">
            <a:solidFill>
              <a:srgbClr val="EADDB0"/>
            </a:solidFill>
            <a:prstDash val="solid"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10" name="Shape 310"/>
          <p:cNvSpPr txBox="true"/>
          <p:nvPr isPhoto="false"/>
        </p:nvSpPr>
        <p:spPr>
          <a:xfrm flipH="false" flipV="false" rot="0">
            <a:off x="658368" y="5797296"/>
            <a:ext cx="10881360" cy="54864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/>
            <a:r>
              <a:rPr b="true" i="false" sz="1050">
                <a:solidFill>
                  <a:srgbClr val="DA635A"/>
                </a:solidFill>
                <a:latin typeface="Arial"/>
                <a:ea typeface="Arial"/>
                <a:cs typeface="Arial"/>
              </a:rPr>
              <a:t>Критическое правило: </a:t>
            </a:r>
            <a:r>
              <a:rPr b="false" i="false" sz="1050">
                <a:solidFill>
                  <a:srgbClr val="263034"/>
                </a:solidFill>
                <a:latin typeface="Arial"/>
                <a:ea typeface="Arial"/>
                <a:cs typeface="Arial"/>
              </a:rPr>
              <a:t>только продажа физлицу (данные чека ККТ/ОФД, переданные в ядро) выводит КМ из оборота. Передача товара между юрлицами КМ не «выбывает».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slides/slide8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311" name="GroupShape 311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312" name="Shape 312"/>
          <p:cNvSpPr txBox="true"/>
          <p:nvPr isPhoto="false"/>
        </p:nvSpPr>
        <p:spPr>
          <a:xfrm flipH="false" flipV="false" rot="0">
            <a:off x="502919" y="292608"/>
            <a:ext cx="8229600" cy="27431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/>
            <a:r>
              <a:rPr b="true" i="false" sz="900">
                <a:solidFill>
                  <a:srgbClr val="67AE70"/>
                </a:solidFill>
                <a:latin typeface="Arial"/>
                <a:ea typeface="Arial"/>
                <a:cs typeface="Arial"/>
              </a:rPr>
              <a:t>ФИНАЛ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13" name="Shape 313"/>
          <p:cNvSpPr txBox="true"/>
          <p:nvPr isPhoto="false"/>
        </p:nvSpPr>
        <p:spPr>
          <a:xfrm flipH="false" flipV="false" rot="0">
            <a:off x="502919" y="502919"/>
            <a:ext cx="10515600" cy="54864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/>
            <a:r>
              <a:rPr b="true" i="false" sz="2500">
                <a:solidFill>
                  <a:srgbClr val="163F5C"/>
                </a:solidFill>
                <a:latin typeface="Calibri"/>
                <a:ea typeface="Calibri"/>
                <a:cs typeface="Calibri"/>
              </a:rPr>
              <a:t>8. Полный результат: что должна показать наша работа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14" name="Shape 314"/>
          <p:cNvSpPr txBox="true"/>
          <p:nvPr isPhoto="false"/>
        </p:nvSpPr>
        <p:spPr>
          <a:xfrm flipH="false" flipV="false" rot="0">
            <a:off x="502919" y="1042414"/>
            <a:ext cx="10881360" cy="365758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/>
            <a:r>
              <a:rPr b="false" i="false" sz="1100">
                <a:solidFill>
                  <a:srgbClr val="677278"/>
                </a:solidFill>
                <a:latin typeface="Arial"/>
                <a:ea typeface="Arial"/>
                <a:cs typeface="Arial"/>
              </a:rPr>
              <a:t>Теперь одна сквозная история — от импорта до конечной продажи физлицу.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15" name="Shape 315"/>
          <p:cNvSpPr txBox="true"/>
          <p:nvPr isPhoto="false"/>
        </p:nvSpPr>
        <p:spPr>
          <a:xfrm flipH="false" flipV="false" rot="0">
            <a:off x="502919" y="6473952"/>
            <a:ext cx="5486400" cy="2286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/>
            <a:r>
              <a:rPr b="false" i="false" sz="800">
                <a:solidFill>
                  <a:srgbClr val="677278"/>
                </a:solidFill>
                <a:latin typeface="Arial"/>
                <a:ea typeface="Arial"/>
                <a:cs typeface="Arial"/>
              </a:rPr>
              <a:t>Продажа товаров • Группа 3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16" name="Shape 316"/>
          <p:cNvSpPr txBox="true"/>
          <p:nvPr isPhoto="false"/>
        </p:nvSpPr>
        <p:spPr>
          <a:xfrm flipH="false" flipV="false" rot="0">
            <a:off x="11247120" y="6455664"/>
            <a:ext cx="457200" cy="274318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r" indent="0" marL="0"/>
            <a:r>
              <a:rPr b="false" i="false" sz="900">
                <a:solidFill>
                  <a:srgbClr val="5C6767"/>
                </a:solidFill>
                <a:latin typeface="Calibri"/>
                <a:ea typeface="Calibri"/>
                <a:cs typeface="Calibri"/>
              </a:rPr>
              <a:t>8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17" name="Shape 317"/>
          <p:cNvSpPr txBox="false"/>
          <p:nvPr isPhoto="false"/>
        </p:nvSpPr>
        <p:spPr>
          <a:xfrm flipH="false" flipV="false" rot="0">
            <a:off x="429768" y="1600200"/>
            <a:ext cx="5760720" cy="4160520"/>
          </a:xfrm>
          <a:prstGeom prst="roundRect">
            <a:avLst>
              <a:gd fmla="val 6000" name="adj"/>
            </a:avLst>
          </a:prstGeom>
          <a:solidFill>
            <a:srgbClr val="E8F5EA"/>
          </a:solidFill>
          <a:ln w="12700">
            <a:solidFill>
              <a:srgbClr val="C5E0CB"/>
            </a:solidFill>
            <a:prstDash val="solid"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18" name="Shape 318"/>
          <p:cNvSpPr txBox="true"/>
          <p:nvPr isPhoto="false"/>
        </p:nvSpPr>
        <p:spPr>
          <a:xfrm flipH="false" flipV="false" rot="0">
            <a:off x="658368" y="1783079"/>
            <a:ext cx="5303520" cy="32003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/>
            <a:r>
              <a:rPr b="true" i="false" sz="1500">
                <a:solidFill>
                  <a:srgbClr val="133959"/>
                </a:solidFill>
                <a:latin typeface="Arial"/>
                <a:ea typeface="Arial"/>
                <a:cs typeface="Arial"/>
              </a:rPr>
              <a:t>Что закрыто в объединённом ДЗ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19" name="Shape 319"/>
          <p:cNvSpPr txBox="true"/>
          <p:nvPr isPhoto="false"/>
        </p:nvSpPr>
        <p:spPr>
          <a:xfrm flipH="false" flipV="false" rot="0">
            <a:off x="713232" y="2240280"/>
            <a:ext cx="320040" cy="27432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/>
            <a:r>
              <a:rPr b="true" i="false" sz="1100">
                <a:solidFill>
                  <a:srgbClr val="67AE70"/>
                </a:solidFill>
                <a:latin typeface="Segoe UI Symbol"/>
                <a:ea typeface="Segoe UI Symbol"/>
                <a:cs typeface="Segoe UI Symbol"/>
              </a:rPr>
              <a:t>✓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20" name="Shape 320"/>
          <p:cNvSpPr txBox="true"/>
          <p:nvPr isPhoto="false"/>
        </p:nvSpPr>
        <p:spPr>
          <a:xfrm flipH="false" flipV="false" rot="0">
            <a:off x="1051560" y="2240280"/>
            <a:ext cx="4937760" cy="54863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lnSpc>
                <a:spcPct val="110000"/>
              </a:lnSpc>
            </a:pPr>
            <a:r>
              <a:rPr b="false" i="false" sz="1060">
                <a:solidFill>
                  <a:srgbClr val="263034"/>
                </a:solidFill>
                <a:latin typeface="Arial"/>
                <a:ea typeface="Arial"/>
                <a:cs typeface="Arial"/>
              </a:rPr>
              <a:t>Показан весь процесс от группы импорта до группы продаж.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21" name="Shape 321"/>
          <p:cNvSpPr txBox="true"/>
          <p:nvPr isPhoto="false"/>
        </p:nvSpPr>
        <p:spPr>
          <a:xfrm flipH="false" flipV="false" rot="0">
            <a:off x="713232" y="2807208"/>
            <a:ext cx="320040" cy="27432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/>
            <a:r>
              <a:rPr b="true" i="false" sz="1100">
                <a:solidFill>
                  <a:srgbClr val="67AE70"/>
                </a:solidFill>
                <a:latin typeface="Segoe UI Symbol"/>
                <a:ea typeface="Segoe UI Symbol"/>
                <a:cs typeface="Segoe UI Symbol"/>
              </a:rPr>
              <a:t>✓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22" name="Shape 322"/>
          <p:cNvSpPr txBox="true"/>
          <p:nvPr isPhoto="false"/>
        </p:nvSpPr>
        <p:spPr>
          <a:xfrm flipH="false" flipV="false" rot="0">
            <a:off x="1051560" y="2807208"/>
            <a:ext cx="4937760" cy="54863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lnSpc>
                <a:spcPct val="110000"/>
              </a:lnSpc>
            </a:pPr>
            <a:r>
              <a:rPr b="false" i="false" sz="1060">
                <a:solidFill>
                  <a:srgbClr val="263034"/>
                </a:solidFill>
                <a:latin typeface="Arial"/>
                <a:ea typeface="Arial"/>
                <a:cs typeface="Arial"/>
              </a:rPr>
              <a:t>Группа «Продажа» выделена с собственной базой данных.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23" name="Shape 323"/>
          <p:cNvSpPr txBox="true"/>
          <p:nvPr isPhoto="false"/>
        </p:nvSpPr>
        <p:spPr>
          <a:xfrm flipH="false" flipV="false" rot="0">
            <a:off x="713232" y="3374136"/>
            <a:ext cx="320040" cy="27432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/>
            <a:r>
              <a:rPr b="true" i="false" sz="1100">
                <a:solidFill>
                  <a:srgbClr val="67AE70"/>
                </a:solidFill>
                <a:latin typeface="Segoe UI Symbol"/>
                <a:ea typeface="Segoe UI Symbol"/>
                <a:cs typeface="Segoe UI Symbol"/>
              </a:rPr>
              <a:t>✓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24" name="Shape 324"/>
          <p:cNvSpPr txBox="true"/>
          <p:nvPr isPhoto="false"/>
        </p:nvSpPr>
        <p:spPr>
          <a:xfrm flipH="false" flipV="false" rot="0">
            <a:off x="1051560" y="3374136"/>
            <a:ext cx="4937760" cy="54864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lnSpc>
                <a:spcPct val="110000"/>
              </a:lnSpc>
            </a:pPr>
            <a:r>
              <a:rPr b="false" i="false" sz="1060">
                <a:solidFill>
                  <a:srgbClr val="263034"/>
                </a:solidFill>
                <a:latin typeface="Arial"/>
                <a:ea typeface="Arial"/>
                <a:cs typeface="Arial"/>
              </a:rPr>
              <a:t>Продажа физлицу фиксируется заказом, чеком и счёт-фактурой.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25" name="Shape 325"/>
          <p:cNvSpPr txBox="true"/>
          <p:nvPr isPhoto="false"/>
        </p:nvSpPr>
        <p:spPr>
          <a:xfrm flipH="false" flipV="false" rot="0">
            <a:off x="713232" y="3941064"/>
            <a:ext cx="320040" cy="27432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/>
            <a:r>
              <a:rPr b="true" i="false" sz="1100">
                <a:solidFill>
                  <a:srgbClr val="67AE70"/>
                </a:solidFill>
                <a:latin typeface="Segoe UI Symbol"/>
                <a:ea typeface="Segoe UI Symbol"/>
                <a:cs typeface="Segoe UI Symbol"/>
              </a:rPr>
              <a:t>✓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26" name="Shape 326"/>
          <p:cNvSpPr txBox="true"/>
          <p:nvPr isPhoto="false"/>
        </p:nvSpPr>
        <p:spPr>
          <a:xfrm flipH="false" flipV="false" rot="0">
            <a:off x="1051560" y="3941064"/>
            <a:ext cx="4937760" cy="54864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lnSpc>
                <a:spcPct val="110000"/>
              </a:lnSpc>
            </a:pPr>
            <a:r>
              <a:rPr b="false" i="false" sz="1060">
                <a:solidFill>
                  <a:srgbClr val="263034"/>
                </a:solidFill>
                <a:latin typeface="Arial"/>
                <a:ea typeface="Arial"/>
                <a:cs typeface="Arial"/>
              </a:rPr>
              <a:t>Показаны данные, статусы и триггеры между системами.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27" name="Shape 327"/>
          <p:cNvSpPr txBox="true"/>
          <p:nvPr isPhoto="false"/>
        </p:nvSpPr>
        <p:spPr>
          <a:xfrm flipH="false" flipV="false" rot="0">
            <a:off x="713232" y="4507992"/>
            <a:ext cx="320040" cy="27432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/>
            <a:r>
              <a:rPr b="true" i="false" sz="1100">
                <a:solidFill>
                  <a:srgbClr val="67AE70"/>
                </a:solidFill>
                <a:latin typeface="Segoe UI Symbol"/>
                <a:ea typeface="Segoe UI Symbol"/>
                <a:cs typeface="Segoe UI Symbol"/>
              </a:rPr>
              <a:t>✓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28" name="Shape 328"/>
          <p:cNvSpPr txBox="true"/>
          <p:nvPr isPhoto="false"/>
        </p:nvSpPr>
        <p:spPr>
          <a:xfrm flipH="false" flipV="false" rot="0">
            <a:off x="1051560" y="4507992"/>
            <a:ext cx="4937760" cy="54864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lnSpc>
                <a:spcPct val="110000"/>
              </a:lnSpc>
            </a:pPr>
            <a:r>
              <a:rPr b="false" i="false" sz="1060">
                <a:solidFill>
                  <a:srgbClr val="263034"/>
                </a:solidFill>
                <a:latin typeface="Arial"/>
                <a:ea typeface="Arial"/>
                <a:cs typeface="Arial"/>
              </a:rPr>
              <a:t>УПД/ЭДО и передача между юрлицами не делают КМ «Выбывшим».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29" name="Shape 329"/>
          <p:cNvSpPr txBox="true"/>
          <p:nvPr isPhoto="false"/>
        </p:nvSpPr>
        <p:spPr>
          <a:xfrm flipH="false" flipV="false" rot="0">
            <a:off x="713232" y="5074920"/>
            <a:ext cx="320040" cy="27432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/>
            <a:r>
              <a:rPr b="true" i="false" sz="1100">
                <a:solidFill>
                  <a:srgbClr val="67AE70"/>
                </a:solidFill>
                <a:latin typeface="Segoe UI Symbol"/>
                <a:ea typeface="Segoe UI Symbol"/>
                <a:cs typeface="Segoe UI Symbol"/>
              </a:rPr>
              <a:t>✓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30" name="Shape 330"/>
          <p:cNvSpPr txBox="true"/>
          <p:nvPr isPhoto="false"/>
        </p:nvSpPr>
        <p:spPr>
          <a:xfrm flipH="false" flipV="false" rot="0">
            <a:off x="1051560" y="5074920"/>
            <a:ext cx="4937760" cy="54864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lnSpc>
                <a:spcPct val="110000"/>
              </a:lnSpc>
            </a:pPr>
            <a:r>
              <a:rPr b="false" i="false" sz="1060">
                <a:solidFill>
                  <a:srgbClr val="263034"/>
                </a:solidFill>
                <a:latin typeface="Arial"/>
                <a:ea typeface="Arial"/>
                <a:cs typeface="Arial"/>
              </a:rPr>
              <a:t>Конечная продажа через ККТ/ОФД приводит КМ к статусу «Выбыл».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31" name="Shape 331"/>
          <p:cNvSpPr txBox="false"/>
          <p:nvPr isPhoto="false"/>
        </p:nvSpPr>
        <p:spPr>
          <a:xfrm flipH="false" flipV="false" rot="0">
            <a:off x="6446520" y="1600200"/>
            <a:ext cx="5321808" cy="4160520"/>
          </a:xfrm>
          <a:prstGeom prst="roundRect">
            <a:avLst>
              <a:gd fmla="val 6000" name="adj"/>
            </a:avLst>
          </a:prstGeom>
          <a:solidFill>
            <a:srgbClr val="F4F7FA"/>
          </a:solidFill>
          <a:ln w="12700">
            <a:solidFill>
              <a:srgbClr val="D5DDE6"/>
            </a:solidFill>
            <a:prstDash val="solid"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32" name="Shape 332"/>
          <p:cNvSpPr txBox="true"/>
          <p:nvPr isPhoto="false"/>
        </p:nvSpPr>
        <p:spPr>
          <a:xfrm flipH="false" flipV="false" rot="0">
            <a:off x="6675119" y="1783079"/>
            <a:ext cx="4846319" cy="32003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/>
            <a:r>
              <a:rPr b="true" i="false" sz="1500">
                <a:solidFill>
                  <a:srgbClr val="DA635A"/>
                </a:solidFill>
                <a:latin typeface="Arial"/>
                <a:ea typeface="Arial"/>
                <a:cs typeface="Arial"/>
              </a:rPr>
              <a:t>Ветки ошибок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33" name="Shape 333"/>
          <p:cNvSpPr txBox="true"/>
          <p:nvPr isPhoto="false"/>
        </p:nvSpPr>
        <p:spPr>
          <a:xfrm flipH="false" flipV="false" rot="0">
            <a:off x="6693407" y="2240280"/>
            <a:ext cx="4892040" cy="640078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lnSpc>
                <a:spcPct val="115000"/>
              </a:lnSpc>
            </a:pPr>
            <a:r>
              <a:rPr b="false" i="false" sz="960">
                <a:solidFill>
                  <a:srgbClr val="263034"/>
                </a:solidFill>
                <a:latin typeface="Arial"/>
                <a:ea typeface="Arial"/>
                <a:cs typeface="Arial"/>
              </a:rPr>
              <a:t>• КМ некорректен при приёмке → уточнение с группой импорта / списание.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34" name="Shape 334"/>
          <p:cNvSpPr txBox="true"/>
          <p:nvPr isPhoto="false"/>
        </p:nvSpPr>
        <p:spPr>
          <a:xfrm flipH="false" flipV="false" rot="0">
            <a:off x="6693407" y="2990088"/>
            <a:ext cx="4892040" cy="64007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lnSpc>
                <a:spcPct val="115000"/>
              </a:lnSpc>
            </a:pPr>
            <a:r>
              <a:rPr b="false" i="false" sz="960">
                <a:solidFill>
                  <a:srgbClr val="263034"/>
                </a:solidFill>
                <a:latin typeface="Arial"/>
                <a:ea typeface="Arial"/>
                <a:cs typeface="Arial"/>
              </a:rPr>
              <a:t>• Товара нет на складе → запрос наличия и срока поставки.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35" name="Shape 335"/>
          <p:cNvSpPr txBox="true"/>
          <p:nvPr isPhoto="false"/>
        </p:nvSpPr>
        <p:spPr>
          <a:xfrm flipH="false" flipV="false" rot="0">
            <a:off x="6693407" y="3739896"/>
            <a:ext cx="4892040" cy="64007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lnSpc>
                <a:spcPct val="115000"/>
              </a:lnSpc>
            </a:pPr>
            <a:r>
              <a:rPr b="false" i="false" sz="960">
                <a:solidFill>
                  <a:srgbClr val="263034"/>
                </a:solidFill>
                <a:latin typeface="Arial"/>
                <a:ea typeface="Arial"/>
                <a:cs typeface="Arial"/>
              </a:rPr>
              <a:t>• Ошибка передачи чека в ОФД → повторная отправка данных.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36" name="Shape 336"/>
          <p:cNvSpPr txBox="true"/>
          <p:nvPr isPhoto="false"/>
        </p:nvSpPr>
        <p:spPr>
          <a:xfrm flipH="false" flipV="false" rot="0">
            <a:off x="6693407" y="4489704"/>
            <a:ext cx="4892040" cy="640079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>
              <a:lnSpc>
                <a:spcPct val="115000"/>
              </a:lnSpc>
            </a:pPr>
            <a:r>
              <a:rPr b="false" i="false" sz="960">
                <a:solidFill>
                  <a:srgbClr val="263034"/>
                </a:solidFill>
                <a:latin typeface="Arial"/>
                <a:ea typeface="Arial"/>
                <a:cs typeface="Arial"/>
              </a:rPr>
              <a:t>• Ядро не подтвердило выбытие → повторная передача сведений о продаже.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37" name="Shape 337"/>
          <p:cNvSpPr txBox="false"/>
          <p:nvPr isPhoto="false"/>
        </p:nvSpPr>
        <p:spPr>
          <a:xfrm flipH="false" flipV="false" rot="0">
            <a:off x="429768" y="5897880"/>
            <a:ext cx="11338560" cy="685800"/>
          </a:xfrm>
          <a:prstGeom prst="roundRect">
            <a:avLst>
              <a:gd fmla="val 10000" name="adj"/>
            </a:avLst>
          </a:prstGeom>
          <a:solidFill>
            <a:srgbClr val="E0EEFA"/>
          </a:solidFill>
          <a:ln w="12700">
            <a:solidFill>
              <a:srgbClr val="C2D9EE"/>
            </a:solidFill>
            <a:prstDash val="solid"/>
          </a:ln>
        </p:spPr>
        <p:txBody>
          <a:bodyPr anchor="ctr" bIns="45720" lIns="91440" rIns="91440" tIns="45720"/>
          <a:p>
            <a:pPr algn="ctr" indent="0" marL="0"/>
            <a:endParaRPr sz="18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hidden="false" id="338" name="Shape 338"/>
          <p:cNvSpPr txBox="true"/>
          <p:nvPr isPhoto="false"/>
        </p:nvSpPr>
        <p:spPr>
          <a:xfrm flipH="false" flipV="false" rot="0">
            <a:off x="658368" y="6016752"/>
            <a:ext cx="10881360" cy="457200"/>
          </a:xfrm>
          <a:prstGeom prst="rect">
            <a:avLst/>
          </a:prstGeom>
          <a:noFill/>
        </p:spPr>
        <p:txBody>
          <a:bodyPr anchor="t" bIns="0" lIns="0" rIns="0" tIns="0" wrap="square">
            <a:spAutoFit/>
          </a:bodyPr>
          <a:p>
            <a:pPr algn="l" indent="0" marL="0"/>
            <a:r>
              <a:rPr b="true" i="false" sz="1100">
                <a:solidFill>
                  <a:srgbClr val="133959"/>
                </a:solidFill>
                <a:latin typeface="Arial"/>
                <a:ea typeface="Arial"/>
                <a:cs typeface="Arial"/>
              </a:rPr>
              <a:t>Итоговый объект проекта: </a:t>
            </a:r>
            <a:r>
              <a:rPr b="false" i="false" sz="1100">
                <a:solidFill>
                  <a:srgbClr val="263034"/>
                </a:solidFill>
                <a:latin typeface="Arial"/>
                <a:ea typeface="Arial"/>
                <a:cs typeface="Arial"/>
              </a:rPr>
              <a:t>не «движение обуви», а согласованный информационный процесс продажи и структура данных, на которой он работает.</a:t>
            </a:r>
            <a:endParaRPr sz="18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</p:sld>
</file>

<file path=ppt/theme/theme1.xml><?xml version="1.0" encoding="utf-8"?>
<a:theme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>
              <a:srgbClr val="000000">
                <a:alpha val="38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</a:gradFill>
      </a:bgFillStyleLst>
    </a:fmtScheme>
  </a:themeElements>
</a:theme>
</file>

<file path=docProps/app.xml><?xml version="1.0" encoding="utf-8"?>
<Properties xmlns="http://schemas.openxmlformats.org/officeDocument/2006/extended-properties">
  <Template>Normal.dotm</Template>
  <TotalTime>0</TotalTime>
  <DocSecurity>0</DocSecurity>
  <ScaleCrop>false</ScaleCrop>
  <Application>MyOffice-CoreFramework-Windows/38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terms:modified xsi:type="dcterms:W3CDTF">2013-01-27T09:15:58Z</dcterms:modified>
</cp:coreProperties>
</file>