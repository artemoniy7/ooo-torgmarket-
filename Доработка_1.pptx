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B4D8"/>
                </a:solidFill>
                <a:latin typeface="Segoe UI"/>
              </a:rPr>
              <a:t>ИНФОРМАЦИОННЫЙ 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Реализация операции продажи и построение базы данных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108960"/>
            <a:ext cx="18288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ООО «ТоргМаркет»  •  Группа №5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8EEF7"/>
                </a:solidFill>
                <a:latin typeface="Segoe UI"/>
              </a:rPr>
              <a:t>Как реализовать информационный продукт: продажа, остатки, «Честный знак» и устройство базы данных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7855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7855" y="493776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Продажа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2143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2143" y="493776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Счёт-фактура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431" y="493776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Честный знак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0719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719" y="493776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База данных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Пять шагов к реализации продукта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От проектирования базы данных до операции продажи через «Честный знак».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711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711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031" y="22860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B4D8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031" y="3017520"/>
            <a:ext cx="1554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E3C"/>
                </a:solidFill>
                <a:latin typeface="Segoe UI"/>
              </a:rPr>
              <a:t>База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031" y="420624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Segoe UI"/>
              </a:rPr>
              <a:t>Проектируем структуру: товары, остатки, коды маркировки, документы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9999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39999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4319" y="22860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B4D8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4319" y="3017520"/>
            <a:ext cx="1554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E3C"/>
                </a:solidFill>
                <a:latin typeface="Segoe UI"/>
              </a:rPr>
              <a:t>Ввод в оборот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4319" y="420624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Segoe UI"/>
              </a:rPr>
              <a:t>Регистрируем КМ в «Честном знаке», отражаем поступление на склад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4287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4287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8607" y="22860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B4D8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8607" y="3017520"/>
            <a:ext cx="1554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E3C"/>
                </a:solidFill>
                <a:latin typeface="Segoe UI"/>
              </a:rPr>
              <a:t>Продажа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607" y="420624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Segoe UI"/>
              </a:rPr>
              <a:t>Формируем счёт-фактуру, списываем товар, переводим КМ в «Выбыл»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8575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48575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2895" y="22860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B4D8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2895" y="3017520"/>
            <a:ext cx="1554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E3C"/>
                </a:solidFill>
                <a:latin typeface="Segoe UI"/>
              </a:rPr>
              <a:t>Списание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2895" y="420624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Segoe UI"/>
              </a:rPr>
              <a:t>Списываем брак и некорректные коды, фиксируем причины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2863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2863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7183" y="228600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B4D8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7183" y="3017520"/>
            <a:ext cx="1554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E3C"/>
                </a:solidFill>
                <a:latin typeface="Segoe UI"/>
              </a:rPr>
              <a:t>Контроль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7183" y="420624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44444"/>
                </a:solidFill>
                <a:latin typeface="Segoe UI"/>
              </a:rPr>
              <a:t>Проверяем остатки, суммы, статусы КМ и целостность данных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538831" y="3647808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843119" y="3647808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147407" y="3647808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9451695" y="3647808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Как формируется операция продажи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От товара на складе до передачи покупателю и фиксации в «Честном знаке».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4311" y="2011680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4311" y="2011680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311" y="2103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471" y="301752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Товар в системе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471" y="37490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Segoe UI"/>
              </a:rPr>
              <a:t>Номенклатура, остаток, КМ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7159" y="2011680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7159" y="2011680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7159" y="2103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4319" y="301752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Покупатель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4319" y="37490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Segoe UI"/>
              </a:rPr>
              <a:t>Контрагент, договор, юр. лицо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0007" y="2011680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90007" y="2011680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0007" y="2103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167" y="301752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Строка продажи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7167" y="37490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Segoe UI"/>
              </a:rPr>
              <a:t>Кол-во, цена, НДС, сумма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2855" y="2011680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02855" y="2011680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2855" y="2103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0015" y="301752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Счёт-фактура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0015" y="37490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Segoe UI"/>
              </a:rPr>
              <a:t>Продажный документ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15703" y="2011680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15703" y="2011680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703" y="210312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2863" y="301752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Честный знак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2863" y="37490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Segoe UI"/>
              </a:rPr>
              <a:t>КМ переводится в «Выбыл»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675991" y="3474720"/>
            <a:ext cx="201168" cy="201168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888839" y="3474720"/>
            <a:ext cx="201168" cy="201168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101687" y="3474720"/>
            <a:ext cx="201168" cy="201168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9314535" y="3474720"/>
            <a:ext cx="201168" cy="201168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Счёт-фактура как продажный документ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Пример: реализация сапог и тапок — какие данные формируются и где фиксируются.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645920"/>
                <a:gridCol w="1645920"/>
                <a:gridCol w="1645920"/>
                <a:gridCol w="146304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Товар</a:t>
                      </a:r>
                    </a:p>
                  </a:txBody>
                  <a:tcPr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КМ (код маркировки)</a:t>
                      </a:r>
                    </a:p>
                  </a:txBody>
                  <a:tcPr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Кол-во</a:t>
                      </a:r>
                    </a:p>
                  </a:txBody>
                  <a:tcPr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Цена</a:t>
                      </a:r>
                    </a:p>
                  </a:txBody>
                  <a:tcPr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НДС 20%</a:t>
                      </a:r>
                    </a:p>
                  </a:txBody>
                  <a:tcPr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Сумма с НДС</a:t>
                      </a:r>
                    </a:p>
                  </a:txBody>
                  <a:tcPr>
                    <a:solidFill>
                      <a:srgbClr val="1F4E9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Сапоги зимние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0104310123456789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3 500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3 500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21 000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Тапки домашние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0104310234567890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1 600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9 600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Сапоги демисез.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0104310345678901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2 800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1 680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</a:rPr>
                        <a:t>10 080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E3C"/>
                          </a:solidFill>
                          <a:latin typeface="Segoe UI"/>
                        </a:rPr>
                        <a:t>ИТОГО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E3C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E3C"/>
                          </a:solidFill>
                          <a:latin typeface="Segoe UI"/>
                        </a:rPr>
                        <a:t>6 780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E3C"/>
                          </a:solidFill>
                          <a:latin typeface="Segoe UI"/>
                        </a:rPr>
                        <a:t>40 680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829360"/>
            <a:ext cx="10972800" cy="73152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829360"/>
            <a:ext cx="13716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66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Счёт-фактура фиксирует: что продано, кому, по какой цене и с каким НДС. КМ каждого товара связан со строкой документа.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Структура базы данных: ключевые таблицы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Восемь таблиц, которые описывают товар, движение и документы.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455" y="20116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3455" y="20116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335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Товары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335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335" y="3017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название, артикул, категория, цена, ставка НДС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4943" y="20116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4943" y="20116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7823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Остатки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7823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stock_balance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7823" y="3017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 товара, склад, кол-во доступное, кол-во зарезерв.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20116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20116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Коды маркир.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9311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marking_codes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3017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код КМ, id товара, статус, дата изменения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7919" y="20116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7919" y="20116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0799" y="21945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Контрагенты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0799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counterparties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0799" y="30175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название, ИНН, КПП, юр. адрес, договор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455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3455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335" y="4023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Документы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335" y="4480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invoices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335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номер, дата, продавец, покупатель, сумма, НДС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34943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4943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7823" y="4023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Строки док.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7823" y="4480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invoice_items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7823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id документа, id товара, кол-во, цена, КМ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6431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6431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9311" y="4023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Журнал движ.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9311" y="4480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inventory_log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9311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дата, тип операции, id товара, кол-во, причина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57919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57919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0799" y="4023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E3C"/>
                </a:solidFill>
                <a:latin typeface="Segoe UI"/>
              </a:rPr>
              <a:t>Акты списания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0799" y="4480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B4D8"/>
                </a:solidFill>
                <a:latin typeface="Segoe UI"/>
              </a:rPr>
              <a:t>writeoff_acts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0799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id, дата, причина, id товара, кол-во, коды КМ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Связи между таблицами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Как таблицы связаны между собой и какие данные передаются по связям.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1367" y="201168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1367" y="201168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4247" y="21945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727" y="2194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4567" y="21945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stock_balance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87" y="219456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товар — много записей остатка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01168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7287" y="201168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1945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2194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0487" y="21945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marking_codes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9207" y="219456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товар — много кодов маркировки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67" y="310896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1367" y="310896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47" y="32918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727" y="32918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567" y="32918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invoice_items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87" y="32918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товар — много строк в документах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310896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7287" y="310896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167" y="32918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invoices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4647" y="32918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0487" y="32918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invoice_items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9207" y="32918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документ — много строк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1367" y="420624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1367" y="420624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47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counterparties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8727" y="43891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4567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invoices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3287" y="43891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контрагент — много документов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7287" y="420624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7287" y="420624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0167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marking_codes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647" y="43891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0487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invoice_items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79207" y="43891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КМ — одна строка продажи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1367" y="530352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1367" y="530352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4247" y="54864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inventory_log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38727" y="5486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N :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44567" y="54864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products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3287" y="548640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записи журнала ссылаются на товар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7287" y="530352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7287" y="530352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0167" y="54864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writeoff_acts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4647" y="5486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4D8"/>
                </a:solidFill>
                <a:latin typeface="Segoe UI"/>
              </a:rPr>
              <a:t>1 : 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30487" y="54864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9C"/>
                </a:solidFill>
                <a:latin typeface="Segoe UI"/>
              </a:rPr>
              <a:t>marking_codes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79207" y="548640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один акт — много списанных КМ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Что меняется в базе данных при продаже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8EEF7"/>
                </a:solidFill>
                <a:latin typeface="Segoe UI"/>
              </a:rPr>
              <a:t>Одна транзакция затрагивает пять таблиц — все изменения происходят атомарно.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311" y="2011680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311" y="2011680"/>
            <a:ext cx="20116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311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471" y="28346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invoice_items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471" y="3383280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Добавляются строки: товар, количество, цена, привязка КМ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7159" y="2011680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7159" y="2011680"/>
            <a:ext cx="20116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7159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4319" y="28346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invoices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4319" y="3383280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Создаётся счёт-фактура: сумма, НДС, продавец, покупатель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0007" y="2011680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0007" y="2011680"/>
            <a:ext cx="20116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0007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7167" y="28346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stock_balance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167" y="3383280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Уменьшается доступное количество, растёт резерв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2855" y="2011680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2855" y="2011680"/>
            <a:ext cx="20116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02855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0015" y="28346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marking_codes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0015" y="3383280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Статус КМ меняется: «В обороте» → «Выбыл»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15703" y="2011680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15703" y="2011680"/>
            <a:ext cx="20116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15703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2863" y="28346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inventory_log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2863" y="3383280"/>
            <a:ext cx="1737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Записывается факт: тип «Продажа», количество, дата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675991" y="3291840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4888839" y="3291840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101687" y="3291840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9314535" y="3291840"/>
            <a:ext cx="201168" cy="20116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029200"/>
            <a:ext cx="10972800" cy="118872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029200"/>
            <a:ext cx="137160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B4D8"/>
                </a:solidFill>
                <a:latin typeface="Segoe UI"/>
              </a:rPr>
              <a:t>Главное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75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Если на любом шаге происходит сбой — все изменения откатываются. База остается в согласованном состоянии: остатки, коды и документы не расходятся.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Ввод и вывод из оборота: что меняется в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Две зеркальные операции — каждая по-своему влияет на базу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767" y="2011680"/>
            <a:ext cx="5303040" cy="42062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2767" y="2011680"/>
            <a:ext cx="5303040" cy="9144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087" y="2194560"/>
            <a:ext cx="475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A06E"/>
                </a:solidFill>
                <a:latin typeface="Segoe UI"/>
              </a:rPr>
              <a:t>ВВОД В ОБОРОТ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87" y="2834640"/>
            <a:ext cx="4754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products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Товар зарегистрирован в системе, получены коды маркировки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F1E3C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marking_codes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Добавляются новые КМ, статус — «В обороте»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F1E3C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stock_balance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Доступное количество увеличивается на принятое число единиц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F1E3C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inventory_log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Записывается операция «Приёмка»: дата, количество, поставщик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5887" y="2011680"/>
            <a:ext cx="5303040" cy="42062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15887" y="2011680"/>
            <a:ext cx="530304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0207" y="2194560"/>
            <a:ext cx="475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74C3C"/>
                </a:solidFill>
                <a:latin typeface="Segoe UI"/>
              </a:rPr>
              <a:t>ВЫВЕДЕНИЕ ИЗ ОБОРОТА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207" y="2834640"/>
            <a:ext cx="4754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marking_codes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Статус КМ меняется: «В обороте» → «Выбыл»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F1E3C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stock_balance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Доступное количество уменьшается на проданное число единиц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F1E3C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invoices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Формируется документ продажи с привязкой КМ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F1E3C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inventory_log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Записывается операция «Продажа»: дата, количество, документ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Списание со склада: изменения в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8EEF7"/>
                </a:solidFill>
                <a:latin typeface="Segoe UI"/>
              </a:rPr>
              <a:t>Брак, некорректные коды, истечение срока — товар убирается из оборота с документальным подтверждением.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471" y="2011680"/>
            <a:ext cx="2468880" cy="23774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1471" y="2011680"/>
            <a:ext cx="24688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471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631" y="2834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writeoff_acts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8631" y="33832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Создаётся акт списания: дата, причина, ответственный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8095" y="2011680"/>
            <a:ext cx="2468880" cy="23774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8095" y="2011680"/>
            <a:ext cx="24688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8095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5255" y="2834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marking_codes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5255" y="33832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Каждый КМ переводится в статус «Списан»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2011680"/>
            <a:ext cx="2468880" cy="23774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4719" y="2011680"/>
            <a:ext cx="24688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4719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2834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stock_balance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33832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Доступное количество уменьшается на списанные единицы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1343" y="2011680"/>
            <a:ext cx="2468880" cy="23774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1343" y="2011680"/>
            <a:ext cx="246888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1343" y="21945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B4D8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8503" y="28346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inventory_log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8503" y="338328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Записывается операция «Списание»: причина, кол-во, КМ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270351" y="3108960"/>
            <a:ext cx="237744" cy="237744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976975" y="3108960"/>
            <a:ext cx="237744" cy="237744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683599" y="3108960"/>
            <a:ext cx="237744" cy="237744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663440"/>
            <a:ext cx="10972800" cy="155448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663440"/>
            <a:ext cx="137160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00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B4D8"/>
                </a:solidFill>
                <a:latin typeface="Segoe UI"/>
              </a:rPr>
              <a:t>Что важно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10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Списанный код маркировки нельзя вернуть в оборот — это необратимая операция.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8EEF7"/>
                </a:solidFill>
                <a:latin typeface="Segoe UI"/>
              </a:rPr>
              <a:t>Акт списания хранится как документ и связан с конкретными КМ, поэтому всегда можно проследить, почему и когда товар был списан.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Жизненный цикл кода маркировки в базе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Как меняется статус КМ от создания до выбытия или списания.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471" y="2011680"/>
            <a:ext cx="2468880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1471" y="2011680"/>
            <a:ext cx="2468880" cy="10972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8711" y="2377440"/>
            <a:ext cx="914400" cy="9144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471" y="256032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631" y="3474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E3C"/>
                </a:solidFill>
                <a:latin typeface="Segoe UI"/>
              </a:rPr>
              <a:t>Создан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631" y="42050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КМ получен от «Честного знака»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8095" y="2011680"/>
            <a:ext cx="2468880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8095" y="2011680"/>
            <a:ext cx="2468880" cy="109728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85335" y="2377440"/>
            <a:ext cx="914400" cy="914400"/>
          </a:xfrm>
          <a:prstGeom prst="ellipse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8095" y="256032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3474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E3C"/>
                </a:solidFill>
                <a:latin typeface="Segoe UI"/>
              </a:rPr>
              <a:t>В обороте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5255" y="42050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Товар на складе, готов к продаже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4719" y="2011680"/>
            <a:ext cx="2468880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719" y="2011680"/>
            <a:ext cx="246888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91959" y="237744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719" y="256032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3474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E3C"/>
                </a:solidFill>
                <a:latin typeface="Segoe UI"/>
              </a:rPr>
              <a:t>Выбыл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42050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Конечная продажа покупателю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1343" y="2011680"/>
            <a:ext cx="2468880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21343" y="2011680"/>
            <a:ext cx="246888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8583" y="2377440"/>
            <a:ext cx="914400" cy="9144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21343" y="256032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8503" y="34747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E3C"/>
                </a:solidFill>
                <a:latin typeface="Segoe UI"/>
              </a:rPr>
              <a:t>Списан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8503" y="42050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Segoe UI"/>
              </a:rPr>
              <a:t>Брак, истечение срока, ошибка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270351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976975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8683599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392680"/>
            <a:ext cx="10972800" cy="109728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392680"/>
            <a:ext cx="9144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529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F1E3C"/>
                </a:solidFill>
                <a:latin typeface="Segoe UI"/>
              </a:rPr>
              <a:t>Поле status в таблице marking_codes — ключевое поле для контроля. По нему система в любой момент знает, где находится товар: на складе, продан или списан.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E3C"/>
                </a:solidFill>
                <a:latin typeface="Segoe UI"/>
              </a:rPr>
              <a:t>Как обеспечить целостность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371600" cy="54864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Segoe UI"/>
              </a:rPr>
              <a:t>Правила и ограничения, которые не дают базе «развалиться» при операциях.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6919" y="20116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6919" y="20116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9799" y="21945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9799" y="22402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2759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Нельзя продать больше, чем есть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2759" y="274320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Остаток в stock_balance проверяется до списания. Если кол-во недостаточно — операция отклоняется.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0116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9927" y="20116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2807" y="21945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22402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5767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Списанный КМ нельзя «оживить»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5767" y="274320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Переход из «Списан» в любой другой статус блокируется на уровне бизнес-логики.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2935" y="20116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2935" y="20116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25815" y="21945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5815" y="22402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8775" y="21945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Сумма документа = сумма строк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8775" y="274320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Поле total в invoices должно сходиться с суммой полей amount в invoice_items.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919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6919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9799" y="40233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9799" y="40690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2759" y="40233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Каждый КМ привязан к товару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2759" y="457200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В marking_codes обязательно указан id товара — нельзя добавить «свободный» код.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49927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32807" y="40233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807" y="40690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5767" y="40233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Журнал фиксирует всё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5767" y="457200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Любое изменение остатков отражается в inventory_log: тип, кол-во, дата, причина.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2935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42935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25815" y="40233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5815" y="40690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8775" y="40233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E3C"/>
                </a:solidFill>
                <a:latin typeface="Segoe UI"/>
              </a:rPr>
              <a:t>УПД ≠ конечная продажа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8775" y="457200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4444"/>
                </a:solidFill>
                <a:latin typeface="Segoe UI"/>
              </a:rPr>
              <a:t>Передача по УПД другому юрлицу не переводит КМ в «Выбыл» — только розничная продажа.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Спасибо за внимание!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840480"/>
            <a:ext cx="18288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B4D8"/>
                </a:solidFill>
                <a:latin typeface="Segoe UI"/>
              </a:rPr>
              <a:t>ООО «ТоргМаркет»  •  Группа №5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