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</p:sldIdLst>
  <p:sldSz cx="12191695" cy="6858000"/>
  <p:notesSz cx="6858000" cy="12191695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viewProps.xml><?xml version="1.0" encoding="utf-8"?>
<p:viewP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>
  <p:slideViewPr>
    <p:cSldViewPr>
      <p:cViewPr>
        <p:scale>
          <a:sx d="1" n="1"/>
          <a:sy d="1" n="1"/>
        </p:scale>
        <p:origin x="1" y="1"/>
      </p:cViewPr>
      <p:guideLst>
        <p:guide orient="horz" pos="2154"/>
        <p:guide orient="vert" pos="2880"/>
      </p:guideLst>
    </p:cSldViewPr>
  </p:slideViewPr>
</p:viewPr>
</file>

<file path=ppt/_rels/presentation.xml.rels><?xml version="1.0" encoding="UTF-8" standalone="no" ?>
<Relationships xmlns="http://schemas.openxmlformats.org/package/2006/relationships">
  <Relationship Id="rId6" Target="viewProps.xml" Type="http://schemas.openxmlformats.org/officeDocument/2006/relationships/viewProps"/>
  <Relationship Id="rId1" Target="theme/theme1.xml" Type="http://schemas.openxmlformats.org/officeDocument/2006/relationships/theme"/>
  <Relationship Id="rId2" Target="slideMasters/slideMaster1.xml" Type="http://schemas.openxmlformats.org/officeDocument/2006/relationships/slideMaster"/>
  <Relationship Id="rId3" Target="slides/slide1.xml" Type="http://schemas.openxmlformats.org/officeDocument/2006/relationships/slide"/>
  <Relationship Id="rId4" Target="slides/slide2.xml" Type="http://schemas.openxmlformats.org/officeDocument/2006/relationships/slide"/>
  <Relationship Id="rId5" Target="tableStyles.xml" Type="http://schemas.openxmlformats.org/officeDocument/2006/relationships/tableStyles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23" name="GroupShape 2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4" name="Shape 24"/>
          <p:cNvSpPr txBox="true"/>
          <p:nvPr isPhoto="false">
            <p:ph idx="0" type="title"/>
          </p:nvPr>
        </p:nvSpPr>
        <p:spPr>
          <a:xfrm flipH="false" flipV="false" rot="0"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25" name="Shape 25"/>
          <p:cNvSpPr txBox="true"/>
          <p:nvPr isPhoto="false">
            <p:ph idx="1" type="subTitle"/>
          </p:nvPr>
        </p:nvSpPr>
        <p:spPr>
          <a:xfrm flipH="false" flipV="false" rot="0"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defPPr/>
            <a:lvl1pPr algn="ctr" indent="0" lvl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lvl="1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hidden="false" id="26" name="Shape 2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27" name="Shape 2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8" name="Shape 2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EDD2197-8546-4321-864D-C17D80A3CCFB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35" name="GroupShape 3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6" name="Shape 3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37" name="Shape 37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8" name="Shape 3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9" name="Shape 3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0" name="Shape 4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39505B0C-F8B4-44C5-A668-08BB788EEA7E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29" name="GroupShape 2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0" name="Shape 30"/>
          <p:cNvSpPr txBox="true"/>
          <p:nvPr isPhoto="false">
            <p:ph idx="0" type="title"/>
          </p:nvPr>
        </p:nvSpPr>
        <p:spPr>
          <a:xfrm flipH="false" flipV="false" rot="0"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defPPr/>
            <a:lvl1pPr algn="l" lvl="0">
              <a:defRPr b="true" cap="all" sz="4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31" name="Shape 31"/>
          <p:cNvSpPr txBox="true"/>
          <p:nvPr isPhoto="false">
            <p:ph idx="1" type="body"/>
          </p:nvPr>
        </p:nvSpPr>
        <p:spPr>
          <a:xfrm flipH="false" flipV="false" rot="0">
            <a:off x="722313" y="2906713"/>
            <a:ext cx="7772400" cy="1500186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lvl="1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32" name="Shape 32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3" name="Shape 33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4" name="Shape 34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BE5E45C-DC7E-4C67-A379-AA4F8B27BE23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9" name="Shape 9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0" name="Shape 10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1" name="Shape 11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A3359BA-C1BB-415F-A8DD-F093B035040D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41" name="GroupShape 4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2" name="Shape 4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43" name="Shape 43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4" name="Shape 44"/>
          <p:cNvSpPr txBox="true"/>
          <p:nvPr isPhoto="false">
            <p:ph idx="2" type="body"/>
          </p:nvPr>
        </p:nvSpPr>
        <p:spPr>
          <a:xfrm flipH="false" flipV="false" rot="0"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5" name="Shape 45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6" name="Shape 46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7" name="Shape 47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3B6EF551-B8D7-48FB-9F07-907E11ACFFF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2" name="GroupShape 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" name="Shape 1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4" name="Shape 1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5" name="Shape 1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3A1B85C-479E-4863-880B-11F8A43C842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TxTwoObj">
  <p:cSld name="Comparison">
    <p:spTree>
      <p:nvGrpSpPr>
        <p:cNvPr hidden="false" id="48" name="GroupShape 4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9" name="Shape 4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50" name="Shape 50"/>
          <p:cNvSpPr txBox="true"/>
          <p:nvPr isPhoto="false">
            <p:ph idx="1" type="body"/>
          </p:nvPr>
        </p:nvSpPr>
        <p:spPr>
          <a:xfrm flipH="false" flipV="false" rot="0"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51" name="Shape 51"/>
          <p:cNvSpPr txBox="true"/>
          <p:nvPr isPhoto="false">
            <p:ph idx="2" type="body"/>
          </p:nvPr>
        </p:nvSpPr>
        <p:spPr>
          <a:xfrm flipH="false" flipV="false" rot="0"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52" name="Shape 52"/>
          <p:cNvSpPr txBox="true"/>
          <p:nvPr isPhoto="false">
            <p:ph idx="3" type="body"/>
          </p:nvPr>
        </p:nvSpPr>
        <p:spPr>
          <a:xfrm flipH="false" flipV="false" rot="0"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53" name="Shape 53"/>
          <p:cNvSpPr txBox="true"/>
          <p:nvPr isPhoto="false">
            <p:ph idx="4" type="body"/>
          </p:nvPr>
        </p:nvSpPr>
        <p:spPr>
          <a:xfrm flipH="false" flipV="false" rot="0"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54" name="Shape 5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55" name="Shape 5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6" name="Shape 5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83769F8-A978-4A0D-A6EC-19D4DCD5FDBC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Tx">
  <p:cSld name="Title, Text and Object">
    <p:spTree>
      <p:nvGrpSpPr>
        <p:cNvPr hidden="false" id="63" name="GroupShape 6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4" name="Shape 64"/>
          <p:cNvSpPr txBox="true"/>
          <p:nvPr isPhoto="false">
            <p:ph idx="0" type="title"/>
          </p:nvPr>
        </p:nvSpPr>
        <p:spPr>
          <a:xfrm flipH="false" flipV="false" rot="0"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65" name="Shape 65"/>
          <p:cNvSpPr txBox="true"/>
          <p:nvPr isPhoto="false">
            <p:ph idx="1" type="body"/>
          </p:nvPr>
        </p:nvSpPr>
        <p:spPr>
          <a:xfrm flipH="false" flipV="false" rot="0"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66" name="Shape 66"/>
          <p:cNvSpPr txBox="true"/>
          <p:nvPr isPhoto="false">
            <p:ph idx="2" type="body"/>
          </p:nvPr>
        </p:nvSpPr>
        <p:spPr>
          <a:xfrm flipH="false" flipV="false" rot="0"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67" name="Shape 67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8" name="Shape 68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9" name="Shape 69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69FD51D8-EEE8-41E5-87E3-775D6A352CC9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picTx">
  <p:cSld name="Title and Picture">
    <p:spTree>
      <p:nvGrpSpPr>
        <p:cNvPr hidden="false" id="16" name="GroupShape 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7" name="Shape 17"/>
          <p:cNvSpPr txBox="true"/>
          <p:nvPr isPhoto="false">
            <p:ph idx="0" type="title"/>
          </p:nvPr>
        </p:nvSpPr>
        <p:spPr>
          <a:xfrm flipH="false" flipV="false" rot="0">
            <a:off x="1792288" y="4800600"/>
            <a:ext cx="5486400" cy="566737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18" name="Shape 18"/>
          <p:cNvSpPr txBox="true"/>
          <p:nvPr isPhoto="false">
            <p:ph idx="1" type="body"/>
          </p:nvPr>
        </p:nvSpPr>
        <p:spPr>
          <a:xfrm flipH="false" flipV="false" rot="0"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3200"/>
            </a:lvl1pPr>
            <a:lvl2pPr indent="0" lvl="1" marL="457200">
              <a:buNone/>
              <a:defRPr sz="2800"/>
            </a:lvl2pPr>
            <a:lvl3pPr indent="0" lvl="2" marL="914400">
              <a:buNone/>
              <a:defRPr sz="2400"/>
            </a:lvl3pPr>
            <a:lvl4pPr indent="0" lvl="3" marL="1371600">
              <a:buNone/>
              <a:defRPr sz="2000"/>
            </a:lvl4pPr>
            <a:lvl5pPr indent="0" lvl="4" marL="1828800">
              <a:buNone/>
              <a:defRPr sz="2000"/>
            </a:lvl5pPr>
            <a:lvl6pPr indent="0" lvl="5" marL="2286000">
              <a:buNone/>
              <a:defRPr sz="2000"/>
            </a:lvl6pPr>
            <a:lvl7pPr indent="0" lvl="6" marL="2743200">
              <a:buNone/>
              <a:defRPr sz="2000"/>
            </a:lvl7pPr>
            <a:lvl8pPr indent="0" lvl="7" marL="3200400">
              <a:buNone/>
              <a:defRPr sz="2000"/>
            </a:lvl8pPr>
            <a:lvl9pPr indent="0" lvl="8" marL="3657600">
              <a:buNone/>
              <a:defRPr sz="2000"/>
            </a:lvl9pPr>
          </a:lstStyle>
          <a:p/>
        </p:txBody>
      </p:sp>
      <p:sp>
        <p:nvSpPr>
          <p:cNvPr hidden="false" id="19" name="Shape 19"/>
          <p:cNvSpPr txBox="true"/>
          <p:nvPr isPhoto="false">
            <p:ph idx="2" type="body"/>
          </p:nvPr>
        </p:nvSpPr>
        <p:spPr>
          <a:xfrm flipH="false" flipV="false" rot="0"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20" name="Shape 2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21" name="Shape 2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2" name="Shape 2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C082686-82C2-4E23-9B4B-42BD7ED5385E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x">
  <p:cSld name="Title and Vertical Text">
    <p:spTree>
      <p:nvGrpSpPr>
        <p:cNvPr hidden="false" id="57" name="GroupShape 5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8" name="Shape 5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59" name="Shape 59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60" name="Shape 6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1" name="Shape 6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2" name="Shape 6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95720F7B-B2B4-42A2-B286-8ED76979D223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itleAndTx">
  <p:cSld name="Vertical Title and Text">
    <p:spTree>
      <p:nvGrpSpPr>
        <p:cNvPr hidden="false" id="70" name="GroupShape 7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1" name="Shape 71"/>
          <p:cNvSpPr txBox="true"/>
          <p:nvPr isPhoto="false">
            <p:ph idx="0" type="title"/>
          </p:nvPr>
        </p:nvSpPr>
        <p:spPr>
          <a:xfrm flipH="false" flipV="false" rot="0"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72" name="Shape 72"/>
          <p:cNvSpPr txBox="true"/>
          <p:nvPr isPhoto="false">
            <p:ph idx="1" type="body"/>
          </p:nvPr>
        </p:nvSpPr>
        <p:spPr>
          <a:xfrm flipH="false" flipV="false" rot="0"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73" name="Shape 7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74" name="Shape 7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5" name="Shape 7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051E407F-6DA6-4B28-8B8D-326B9A3903CA}" type="slidenum">
              <a:t>&lt;#&gt;</a:t>
            </a:fld>
          </a:p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12" Target="../slideLayouts/slideLayout11.xml" Type="http://schemas.openxmlformats.org/officeDocument/2006/relationships/slideLayout"/>
  <Relationship Id="rId10" Target="../slideLayouts/slideLayout9.xml" Type="http://schemas.openxmlformats.org/officeDocument/2006/relationships/slideLayout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8" Target="../slideLayouts/slideLayout7.xml" Type="http://schemas.openxmlformats.org/officeDocument/2006/relationships/slideLayout"/>
  <Relationship Id="rId4" Target="../slideLayouts/slideLayout3.xml" Type="http://schemas.openxmlformats.org/officeDocument/2006/relationships/slideLayout"/>
  <Relationship Id="rId11" Target="../slideLayouts/slideLayout10.xml" Type="http://schemas.openxmlformats.org/officeDocument/2006/relationships/slideLayout"/>
  <Relationship Id="rId9" Target="../slideLayouts/slideLayout8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tIns="45720" vert="horz">
            <a:normAutofit fontScale="100%" lnSpcReduction="0%"/>
          </a:bodyPr>
          <a:p>
            <a:r>
              <a:t>Click to edit Master title style</a:t>
            </a:r>
          </a:p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tIns="45720" vert="horz">
            <a:normAutofit fontScale="100%" lnSpcReduction="0%"/>
          </a:bodyPr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" name="Shape 4"/>
          <p:cNvSpPr txBox="true"/>
          <p:nvPr isPhoto="false">
            <p:ph idx="2" type="dt"/>
          </p:nvPr>
        </p:nvSpPr>
        <p:spPr>
          <a:xfrm flipH="false" flipV="false" rot="0"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l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1/27/13</a:t>
            </a:r>
          </a:p>
        </p:txBody>
      </p:sp>
      <p:sp>
        <p:nvSpPr>
          <p:cNvPr hidden="false" id="5" name="Shape 5"/>
          <p:cNvSpPr txBox="true"/>
          <p:nvPr isPhoto="false">
            <p:ph idx="3" type="ftr"/>
          </p:nvPr>
        </p:nvSpPr>
        <p:spPr>
          <a:xfrm flipH="false" flipV="false" rot="0"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ct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4" type="sldNum"/>
          </p:nvPr>
        </p:nvSpPr>
        <p:spPr>
          <a:xfrm flipH="false" flipV="false" rot="0"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56BB60-5AF0-4BD3-BAC7-AFA7D5ED2D17}" type="slidenum">
              <a:t>&lt;#&gt;</a:t>
            </a:fld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defPPr/>
      <a:lvl1pPr algn="ctr" lvl="0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342900" lvl="0" marL="342900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indent="-285750" lvl="1" marL="742950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latin typeface="+mn-lt"/>
          <a:ea typeface="+mn-ea"/>
          <a:cs typeface="+mn-cs"/>
        </a:defRPr>
      </a:lvl1pPr>
      <a:lvl2pPr algn="l" indent="0" lvl="1" marL="457200">
        <a:defRPr sz="1800">
          <a:latin typeface="+mn-lt"/>
          <a:ea typeface="+mn-ea"/>
          <a:cs typeface="+mn-cs"/>
        </a:defRPr>
      </a:lvl2pPr>
      <a:lvl3pPr algn="l" indent="0" lvl="2" marL="914400">
        <a:defRPr sz="1800">
          <a:latin typeface="+mn-lt"/>
          <a:ea typeface="+mn-ea"/>
          <a:cs typeface="+mn-cs"/>
        </a:defRPr>
      </a:lvl3pPr>
      <a:lvl4pPr algn="l" indent="0" lvl="3" marL="1371600">
        <a:defRPr sz="1800">
          <a:latin typeface="+mn-lt"/>
          <a:ea typeface="+mn-ea"/>
          <a:cs typeface="+mn-cs"/>
        </a:defRPr>
      </a:lvl4pPr>
      <a:lvl5pPr algn="l" indent="0" lvl="4" marL="1828800">
        <a:defRPr sz="1800">
          <a:latin typeface="+mn-lt"/>
          <a:ea typeface="+mn-ea"/>
          <a:cs typeface="+mn-cs"/>
        </a:defRPr>
      </a:lvl5pPr>
      <a:lvl6pPr algn="l" indent="0" lvl="5" marL="2286000">
        <a:defRPr sz="1800">
          <a:latin typeface="+mn-lt"/>
          <a:ea typeface="+mn-ea"/>
          <a:cs typeface="+mn-cs"/>
        </a:defRPr>
      </a:lvl6pPr>
      <a:lvl7pPr algn="l" indent="0" lvl="6" marL="2743200">
        <a:defRPr sz="1800">
          <a:latin typeface="+mn-lt"/>
          <a:ea typeface="+mn-ea"/>
          <a:cs typeface="+mn-cs"/>
        </a:defRPr>
      </a:lvl7pPr>
      <a:lvl8pPr algn="l" indent="0" lvl="7" marL="3200400">
        <a:defRPr sz="1800">
          <a:latin typeface="+mn-lt"/>
          <a:ea typeface="+mn-ea"/>
          <a:cs typeface="+mn-cs"/>
        </a:defRPr>
      </a:lvl8pPr>
      <a:lvl9pPr algn="l" indent="0" lvl="8" marL="3657600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6" name="GroupShape 7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7" name="Shape 77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8" name="Shape 78"/>
          <p:cNvSpPr txBox="true"/>
          <p:nvPr isPhoto="false"/>
        </p:nvSpPr>
        <p:spPr>
          <a:xfrm flipH="false" flipV="false" rot="0">
            <a:off x="502919" y="274320"/>
            <a:ext cx="5486400" cy="27432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i="false" sz="1100">
                <a:solidFill>
                  <a:srgbClr val="2F5D5A"/>
                </a:solidFill>
                <a:latin typeface="Segoe UI"/>
                <a:ea typeface="Segoe UI"/>
                <a:cs typeface="Segoe UI"/>
              </a:rPr>
              <a:t>С К В О З Н О Й   П Р О Ц Е С С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9" name="Shape 79"/>
          <p:cNvSpPr txBox="false"/>
          <p:nvPr isPhoto="false"/>
        </p:nvSpPr>
        <p:spPr>
          <a:xfrm flipH="false" flipV="false" rot="0">
            <a:off x="502919" y="566928"/>
            <a:ext cx="777240" cy="41148"/>
          </a:xfrm>
          <a:prstGeom prst="rect">
            <a:avLst/>
          </a:prstGeom>
          <a:solidFill>
            <a:srgbClr val="2F5D5A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0" name="Shape 80"/>
          <p:cNvSpPr txBox="true"/>
          <p:nvPr isPhoto="false"/>
        </p:nvSpPr>
        <p:spPr>
          <a:xfrm flipH="false" flipV="false" rot="0">
            <a:off x="502919" y="658368"/>
            <a:ext cx="10515600" cy="54864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i="false" sz="2700">
                <a:solidFill>
                  <a:srgbClr val="1F3A38"/>
                </a:solidFill>
                <a:latin typeface="Georgia"/>
                <a:ea typeface="Georgia"/>
                <a:cs typeface="Georgia"/>
              </a:rPr>
              <a:t>Схема процесса: от импорта до продажи физлицу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1" name="Shape 81"/>
          <p:cNvSpPr txBox="true"/>
          <p:nvPr isPhoto="false"/>
        </p:nvSpPr>
        <p:spPr>
          <a:xfrm flipH="false" flipV="false" rot="0">
            <a:off x="521207" y="1097280"/>
            <a:ext cx="11155680" cy="274319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false" i="false" sz="1050">
                <a:solidFill>
                  <a:srgbClr val="6E6E6E"/>
                </a:solidFill>
                <a:latin typeface="Segoe UI"/>
                <a:ea typeface="Segoe UI"/>
                <a:cs typeface="Segoe UI"/>
              </a:rPr>
              <a:t>Каждый этап соединён со следующим логической связью. Метки C и U — создание и изменение записи в БД. Триггер — событие перехода товара от группы импорта в БД компании.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2" name="Shape 82"/>
          <p:cNvSpPr txBox="false"/>
          <p:nvPr isPhoto="false"/>
        </p:nvSpPr>
        <p:spPr>
          <a:xfrm flipH="false" flipV="false" rot="0">
            <a:off x="384048" y="1481328"/>
            <a:ext cx="11430000" cy="4370831"/>
          </a:xfrm>
          <a:prstGeom prst="rect">
            <a:avLst/>
          </a:prstGeom>
          <a:solidFill>
            <a:srgbClr val="FFFFFF"/>
          </a:solidFill>
          <a:ln w="15240">
            <a:solidFill>
              <a:srgbClr val="D8D3C8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3" name="Shape 83"/>
          <p:cNvSpPr txBox="false"/>
          <p:nvPr isPhoto="false"/>
        </p:nvSpPr>
        <p:spPr>
          <a:xfrm flipH="false" flipV="false" rot="0">
            <a:off x="1874518" y="1572768"/>
            <a:ext cx="9921240" cy="859535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4" name="Shape 84"/>
          <p:cNvSpPr txBox="false"/>
          <p:nvPr isPhoto="false"/>
        </p:nvSpPr>
        <p:spPr>
          <a:xfrm flipH="false" flipV="false" rot="0">
            <a:off x="502919" y="1572768"/>
            <a:ext cx="1325880" cy="859535"/>
          </a:xfrm>
          <a:prstGeom prst="roundRect">
            <a:avLst>
              <a:gd fmla="val 18000" name="adj"/>
            </a:avLst>
          </a:prstGeom>
          <a:solidFill>
            <a:srgbClr val="2F5D5A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Группа импорта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5" name="Shape 85"/>
          <p:cNvSpPr txBox="false"/>
          <p:nvPr isPhoto="false"/>
        </p:nvSpPr>
        <p:spPr>
          <a:xfrm flipH="false" flipV="false" rot="0">
            <a:off x="1874518" y="2432304"/>
            <a:ext cx="9921240" cy="859536"/>
          </a:xfrm>
          <a:prstGeom prst="rect">
            <a:avLst/>
          </a:prstGeom>
          <a:solidFill>
            <a:srgbClr val="EFEAE2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6" name="Shape 86"/>
          <p:cNvSpPr txBox="false"/>
          <p:nvPr isPhoto="false"/>
        </p:nvSpPr>
        <p:spPr>
          <a:xfrm flipH="false" flipV="false" rot="0">
            <a:off x="502919" y="2432304"/>
            <a:ext cx="1325880" cy="859536"/>
          </a:xfrm>
          <a:prstGeom prst="roundRect">
            <a:avLst>
              <a:gd fmla="val 18000" name="adj"/>
            </a:avLst>
          </a:prstGeom>
          <a:solidFill>
            <a:srgbClr val="4A7C6F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Логист / склад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7" name="Shape 87"/>
          <p:cNvSpPr txBox="false"/>
          <p:nvPr isPhoto="false"/>
        </p:nvSpPr>
        <p:spPr>
          <a:xfrm flipH="false" flipV="false" rot="0">
            <a:off x="1874518" y="3291839"/>
            <a:ext cx="9921240" cy="859535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8" name="Shape 88"/>
          <p:cNvSpPr txBox="false"/>
          <p:nvPr isPhoto="false"/>
        </p:nvSpPr>
        <p:spPr>
          <a:xfrm flipH="false" flipV="false" rot="0">
            <a:off x="502919" y="3291839"/>
            <a:ext cx="1325880" cy="859535"/>
          </a:xfrm>
          <a:prstGeom prst="roundRect">
            <a:avLst>
              <a:gd fmla="val 18000" name="adj"/>
            </a:avLst>
          </a:prstGeom>
          <a:solidFill>
            <a:srgbClr val="6B9B77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Ядро системы / ИТ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9" name="Shape 89"/>
          <p:cNvSpPr txBox="false"/>
          <p:nvPr isPhoto="false"/>
        </p:nvSpPr>
        <p:spPr>
          <a:xfrm flipH="false" flipV="false" rot="0">
            <a:off x="1874518" y="4151376"/>
            <a:ext cx="9921240" cy="859535"/>
          </a:xfrm>
          <a:prstGeom prst="rect">
            <a:avLst/>
          </a:prstGeom>
          <a:solidFill>
            <a:srgbClr val="EFEAE2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0" name="Shape 90"/>
          <p:cNvSpPr txBox="false"/>
          <p:nvPr isPhoto="false"/>
        </p:nvSpPr>
        <p:spPr>
          <a:xfrm flipH="false" flipV="false" rot="0">
            <a:off x="502919" y="4151376"/>
            <a:ext cx="1325880" cy="859535"/>
          </a:xfrm>
          <a:prstGeom prst="roundRect">
            <a:avLst>
              <a:gd fmla="val 18000" name="adj"/>
            </a:avLst>
          </a:prstGeom>
          <a:solidFill>
            <a:srgbClr val="5B7B9A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Ядро маркировки («Честный знак»)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1" name="Shape 91"/>
          <p:cNvSpPr txBox="false"/>
          <p:nvPr isPhoto="false"/>
        </p:nvSpPr>
        <p:spPr>
          <a:xfrm flipH="false" flipV="false" rot="0">
            <a:off x="1874518" y="5010912"/>
            <a:ext cx="9921240" cy="859535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2" name="Shape 92"/>
          <p:cNvSpPr txBox="false"/>
          <p:nvPr isPhoto="false"/>
        </p:nvSpPr>
        <p:spPr>
          <a:xfrm flipH="false" flipV="false" rot="0">
            <a:off x="502919" y="5010912"/>
            <a:ext cx="1325880" cy="859535"/>
          </a:xfrm>
          <a:prstGeom prst="roundRect">
            <a:avLst>
              <a:gd fmla="val 18000" name="adj"/>
            </a:avLst>
          </a:prstGeom>
          <a:solidFill>
            <a:srgbClr val="8E5D7A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Клиент — физлицо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3" name="Shape 93"/>
          <p:cNvSpPr txBox="false"/>
          <p:nvPr isPhoto="false"/>
        </p:nvSpPr>
        <p:spPr>
          <a:xfrm flipH="false" flipV="false" rot="0">
            <a:off x="1938528" y="1810512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5D5A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4" name="Shape 94"/>
          <p:cNvSpPr txBox="false"/>
          <p:nvPr isPhoto="false"/>
        </p:nvSpPr>
        <p:spPr>
          <a:xfrm flipH="false" flipV="false" rot="0">
            <a:off x="2487168" y="1700784"/>
            <a:ext cx="2331720" cy="603504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Получить товар от группы импорта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5" name="Shape 95"/>
          <p:cNvSpPr txBox="false"/>
          <p:nvPr isPhoto="false"/>
        </p:nvSpPr>
        <p:spPr>
          <a:xfrm flipH="false" flipV="false" rot="0">
            <a:off x="4617720" y="1600200"/>
            <a:ext cx="237744" cy="23774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6" name="Shape 96"/>
          <p:cNvSpPr txBox="false"/>
          <p:nvPr isPhoto="false"/>
        </p:nvSpPr>
        <p:spPr>
          <a:xfrm flipH="false" flipV="false" rot="0">
            <a:off x="2322576" y="2002535"/>
            <a:ext cx="164592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97" name="Shape 97"/>
          <p:cNvSpPr txBox="false"/>
          <p:nvPr isPhoto="false"/>
        </p:nvSpPr>
        <p:spPr>
          <a:xfrm flipH="false" flipV="false" rot="0">
            <a:off x="2487168" y="2560320"/>
            <a:ext cx="2331720" cy="603504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Принять товар на склад и сверить КМ и УПД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8" name="Shape 98"/>
          <p:cNvSpPr txBox="false"/>
          <p:nvPr isPhoto="false"/>
        </p:nvSpPr>
        <p:spPr>
          <a:xfrm flipH="false" flipV="false" rot="0">
            <a:off x="4617720" y="2459736"/>
            <a:ext cx="237744" cy="23774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9" name="Shape 99"/>
          <p:cNvSpPr txBox="false"/>
          <p:nvPr isPhoto="false"/>
        </p:nvSpPr>
        <p:spPr>
          <a:xfrm flipH="false" flipV="false" rot="0">
            <a:off x="3648456" y="2304288"/>
            <a:ext cx="0" cy="256032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00" name="Shape 100"/>
          <p:cNvSpPr txBox="false"/>
          <p:nvPr isPhoto="false"/>
        </p:nvSpPr>
        <p:spPr>
          <a:xfrm flipH="false" flipV="false" rot="0">
            <a:off x="5641848" y="2459736"/>
            <a:ext cx="1426464" cy="804671"/>
          </a:xfrm>
          <a:prstGeom prst="diamond">
            <a:avLst/>
          </a:prstGeom>
          <a:solidFill>
            <a:srgbClr val="FFFFFF"/>
          </a:solidFill>
          <a:ln w="17780">
            <a:solidFill>
              <a:srgbClr val="2F5D5A"/>
            </a:solidFill>
            <a:prstDash val="solid"/>
          </a:ln>
        </p:spPr>
        <p:txBody>
          <a:bodyPr anchor="ctr" bIns="45720" lIns="18288" rIns="18288" tIns="45720" wrap="square"/>
          <a:p>
            <a:pPr algn="ctr" indent="0" marL="0"/>
            <a:r>
              <a:rPr b="true" i="false" sz="8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КМ и данные корректны?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1" name="Shape 101"/>
          <p:cNvSpPr txBox="false"/>
          <p:nvPr isPhoto="false"/>
        </p:nvSpPr>
        <p:spPr>
          <a:xfrm flipH="false" flipV="false" rot="0">
            <a:off x="4818888" y="2862072"/>
            <a:ext cx="822959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02" name="Shape 102"/>
          <p:cNvSpPr txBox="false"/>
          <p:nvPr isPhoto="false"/>
        </p:nvSpPr>
        <p:spPr>
          <a:xfrm flipH="false" flipV="false" rot="0">
            <a:off x="5074920" y="1700784"/>
            <a:ext cx="2560320" cy="603504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Уточнить расхождения с группой импорта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3" name="Shape 103"/>
          <p:cNvSpPr txBox="false"/>
          <p:nvPr isPhoto="false"/>
        </p:nvSpPr>
        <p:spPr>
          <a:xfrm flipH="false" flipV="true" rot="0">
            <a:off x="6355080" y="2304288"/>
            <a:ext cx="0" cy="155448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04" name="Shape 104"/>
          <p:cNvSpPr txBox="true"/>
          <p:nvPr isPhoto="false"/>
        </p:nvSpPr>
        <p:spPr>
          <a:xfrm flipH="false" flipV="false" rot="0">
            <a:off x="6323838" y="2270379"/>
            <a:ext cx="366608" cy="243468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i="false" sz="900">
                <a:solidFill>
                  <a:srgbClr val="C0504D"/>
                </a:solidFill>
                <a:latin typeface="Segoe UI"/>
                <a:ea typeface="Segoe UI"/>
                <a:cs typeface="Segoe UI"/>
              </a:rPr>
              <a:t>нет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5" name="Shape 105"/>
          <p:cNvSpPr txBox="false"/>
          <p:nvPr isPhoto="false"/>
        </p:nvSpPr>
        <p:spPr>
          <a:xfrm flipH="true" flipV="false" rot="0">
            <a:off x="4818888" y="2002535"/>
            <a:ext cx="256032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06" name="Shape 106"/>
          <p:cNvSpPr txBox="false"/>
          <p:nvPr isPhoto="false"/>
        </p:nvSpPr>
        <p:spPr>
          <a:xfrm flipH="false" flipV="false" rot="0">
            <a:off x="4983480" y="3419854"/>
            <a:ext cx="2743200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Фиксация поступления в БД: остатки ↑, КМ → «В обороте»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7" name="Shape 107"/>
          <p:cNvSpPr txBox="false"/>
          <p:nvPr isPhoto="false"/>
        </p:nvSpPr>
        <p:spPr>
          <a:xfrm flipH="false" flipV="false" rot="0">
            <a:off x="7525512" y="3319271"/>
            <a:ext cx="237743" cy="23774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8" name="Shape 108"/>
          <p:cNvSpPr txBox="false"/>
          <p:nvPr isPhoto="false"/>
        </p:nvSpPr>
        <p:spPr>
          <a:xfrm flipH="false" flipV="false" rot="0">
            <a:off x="6355080" y="3264408"/>
            <a:ext cx="0" cy="155447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09" name="Shape 109"/>
          <p:cNvSpPr txBox="true"/>
          <p:nvPr isPhoto="false"/>
        </p:nvSpPr>
        <p:spPr>
          <a:xfrm flipH="false" flipV="false" rot="0">
            <a:off x="6393179" y="3205734"/>
            <a:ext cx="315207" cy="243468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i="false" sz="900">
                <a:solidFill>
                  <a:srgbClr val="2F8F5B"/>
                </a:solidFill>
                <a:latin typeface="Segoe UI"/>
                <a:ea typeface="Segoe UI"/>
                <a:cs typeface="Segoe UI"/>
              </a:rPr>
              <a:t>да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0" name="Shape 110"/>
          <p:cNvSpPr txBox="false"/>
          <p:nvPr isPhoto="false"/>
        </p:nvSpPr>
        <p:spPr>
          <a:xfrm flipH="false" flipV="false" rot="0">
            <a:off x="1907667" y="1744217"/>
            <a:ext cx="475487" cy="475487"/>
          </a:xfrm>
          <a:prstGeom prst="ellipse">
            <a:avLst/>
          </a:prstGeom>
          <a:solidFill>
            <a:srgbClr val="E88F2E"/>
          </a:solidFill>
          <a:ln w="1905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8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старт</a:t>
            </a:r>
            <a:endParaRPr sz="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1" name="Shape 111"/>
          <p:cNvSpPr txBox="false"/>
          <p:nvPr isPhoto="false"/>
        </p:nvSpPr>
        <p:spPr>
          <a:xfrm flipH="false" flipV="false" rot="0">
            <a:off x="8183879" y="3419854"/>
            <a:ext cx="3291840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Продать физлицу: создать заказ, чек, счёт-фактуру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2" name="Shape 112"/>
          <p:cNvSpPr txBox="false"/>
          <p:nvPr isPhoto="false"/>
        </p:nvSpPr>
        <p:spPr>
          <a:xfrm flipH="false" flipV="false" rot="0">
            <a:off x="11247120" y="3319271"/>
            <a:ext cx="237743" cy="23774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3" name="Shape 113"/>
          <p:cNvSpPr txBox="false"/>
          <p:nvPr isPhoto="false"/>
        </p:nvSpPr>
        <p:spPr>
          <a:xfrm flipH="false" flipV="false" rot="0">
            <a:off x="11000232" y="3319271"/>
            <a:ext cx="237743" cy="23774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4" name="Shape 114"/>
          <p:cNvSpPr txBox="false"/>
          <p:nvPr isPhoto="false"/>
        </p:nvSpPr>
        <p:spPr>
          <a:xfrm flipH="false" flipV="false" rot="0">
            <a:off x="7726679" y="3721607"/>
            <a:ext cx="457200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15" name="Shape 115"/>
          <p:cNvSpPr txBox="false"/>
          <p:nvPr isPhoto="false"/>
        </p:nvSpPr>
        <p:spPr>
          <a:xfrm flipH="false" flipV="false" rot="0">
            <a:off x="8183879" y="4279392"/>
            <a:ext cx="3291840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Передать в ядро маркировки: «товар передан физлицу»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6" name="Shape 116"/>
          <p:cNvSpPr txBox="false"/>
          <p:nvPr isPhoto="false"/>
        </p:nvSpPr>
        <p:spPr>
          <a:xfrm flipH="false" flipV="false" rot="0">
            <a:off x="11247120" y="4178807"/>
            <a:ext cx="237743" cy="23774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7" name="Shape 117"/>
          <p:cNvSpPr txBox="false"/>
          <p:nvPr isPhoto="false"/>
        </p:nvSpPr>
        <p:spPr>
          <a:xfrm flipH="false" flipV="false" rot="0">
            <a:off x="9829800" y="4023359"/>
            <a:ext cx="0" cy="256032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18" name="Shape 118"/>
          <p:cNvSpPr txBox="false"/>
          <p:nvPr isPhoto="false"/>
        </p:nvSpPr>
        <p:spPr>
          <a:xfrm flipH="false" flipV="false" rot="0">
            <a:off x="4800600" y="4279392"/>
            <a:ext cx="3017519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Ядро маркировки подтверждает: КМ → «Выбыл»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9" name="Shape 119"/>
          <p:cNvSpPr txBox="false"/>
          <p:nvPr isPhoto="false"/>
        </p:nvSpPr>
        <p:spPr>
          <a:xfrm flipH="false" flipV="false" rot="0">
            <a:off x="7616952" y="4178807"/>
            <a:ext cx="237743" cy="23774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0" name="Shape 120"/>
          <p:cNvSpPr txBox="false"/>
          <p:nvPr isPhoto="false"/>
        </p:nvSpPr>
        <p:spPr>
          <a:xfrm flipH="true" flipV="false" rot="0">
            <a:off x="7818119" y="4581144"/>
            <a:ext cx="365759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21" name="Shape 121"/>
          <p:cNvSpPr txBox="false"/>
          <p:nvPr isPhoto="false"/>
        </p:nvSpPr>
        <p:spPr>
          <a:xfrm flipH="false" flipV="false" rot="0">
            <a:off x="2487168" y="3419854"/>
            <a:ext cx="2240280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Обновить заказ клиенту: «Продано», остаток ↓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2" name="Shape 122"/>
          <p:cNvSpPr txBox="false"/>
          <p:nvPr isPhoto="false"/>
        </p:nvSpPr>
        <p:spPr>
          <a:xfrm flipH="false" flipV="false" rot="0">
            <a:off x="4526280" y="3319271"/>
            <a:ext cx="237744" cy="23774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3" name="Shape 123"/>
          <p:cNvSpPr txBox="false"/>
          <p:nvPr isPhoto="false"/>
        </p:nvSpPr>
        <p:spPr>
          <a:xfrm flipH="false" flipV="true" rot="0">
            <a:off x="6309360" y="4178807"/>
            <a:ext cx="0" cy="100584"/>
          </a:xfrm>
          <a:prstGeom prst="line">
            <a:avLst/>
          </a:prstGeom>
          <a:ln w="22225">
            <a:solidFill>
              <a:srgbClr val="2F5D5A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24" name="Shape 124"/>
          <p:cNvSpPr txBox="false"/>
          <p:nvPr isPhoto="false"/>
        </p:nvSpPr>
        <p:spPr>
          <a:xfrm flipH="true" flipV="false" rot="0">
            <a:off x="3602736" y="4178807"/>
            <a:ext cx="2706624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25" name="Shape 125"/>
          <p:cNvSpPr txBox="false"/>
          <p:nvPr isPhoto="false"/>
        </p:nvSpPr>
        <p:spPr>
          <a:xfrm flipH="false" flipV="true" rot="0">
            <a:off x="3602736" y="4023359"/>
            <a:ext cx="0" cy="155447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26" name="Shape 126"/>
          <p:cNvSpPr txBox="false"/>
          <p:nvPr isPhoto="false"/>
        </p:nvSpPr>
        <p:spPr>
          <a:xfrm flipH="false" flipV="false" rot="0">
            <a:off x="2487168" y="5138927"/>
            <a:ext cx="2743200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Клиент получает товар, чек и подтверждение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7" name="Shape 127"/>
          <p:cNvSpPr txBox="false"/>
          <p:nvPr isPhoto="false"/>
        </p:nvSpPr>
        <p:spPr>
          <a:xfrm flipH="false" flipV="false" rot="0">
            <a:off x="3602736" y="4023359"/>
            <a:ext cx="0" cy="1115568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28" name="Shape 128"/>
          <p:cNvSpPr txBox="false"/>
          <p:nvPr isPhoto="false"/>
        </p:nvSpPr>
        <p:spPr>
          <a:xfrm flipH="false" flipV="false" rot="0">
            <a:off x="5532120" y="5248655"/>
            <a:ext cx="384047" cy="38404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5D5A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9" name="Shape 129"/>
          <p:cNvSpPr txBox="false"/>
          <p:nvPr isPhoto="false"/>
        </p:nvSpPr>
        <p:spPr>
          <a:xfrm flipH="false" flipV="false" rot="0">
            <a:off x="5230368" y="5440679"/>
            <a:ext cx="301752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</p:sp>
      <p:sp>
        <p:nvSpPr>
          <p:cNvPr hidden="false" id="130" name="Shape 130"/>
          <p:cNvSpPr txBox="false"/>
          <p:nvPr isPhoto="false"/>
        </p:nvSpPr>
        <p:spPr>
          <a:xfrm flipH="false" flipV="false" rot="0">
            <a:off x="502919" y="5989320"/>
            <a:ext cx="11292840" cy="658367"/>
          </a:xfrm>
          <a:prstGeom prst="rect">
            <a:avLst/>
          </a:prstGeom>
          <a:solidFill>
            <a:srgbClr val="F2EFE8"/>
          </a:solidFill>
          <a:ln w="15240">
            <a:solidFill>
              <a:srgbClr val="D8D3C8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1" name="Shape 131"/>
          <p:cNvSpPr txBox="false"/>
          <p:nvPr isPhoto="false"/>
        </p:nvSpPr>
        <p:spPr>
          <a:xfrm flipH="false" flipV="false" rot="0">
            <a:off x="685800" y="6199632"/>
            <a:ext cx="237744" cy="237744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2" name="Shape 132"/>
          <p:cNvSpPr txBox="true"/>
          <p:nvPr isPhoto="false"/>
        </p:nvSpPr>
        <p:spPr>
          <a:xfrm flipH="false" flipV="false" rot="0">
            <a:off x="978408" y="6163056"/>
            <a:ext cx="2651759" cy="27432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false" i="false" sz="8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Создание записи в БД — заказ, чек, счёт-фактура, акт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3" name="Shape 133"/>
          <p:cNvSpPr txBox="false"/>
          <p:nvPr isPhoto="false"/>
        </p:nvSpPr>
        <p:spPr>
          <a:xfrm flipH="false" flipV="false" rot="0">
            <a:off x="3960495" y="6190107"/>
            <a:ext cx="237744" cy="23774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4" name="Shape 134"/>
          <p:cNvSpPr txBox="true"/>
          <p:nvPr isPhoto="false"/>
        </p:nvSpPr>
        <p:spPr>
          <a:xfrm flipH="false" flipV="false" rot="0">
            <a:off x="4253103" y="6153531"/>
            <a:ext cx="2961433" cy="235022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false" i="false" sz="8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Изменение записи — остатки, статусы КМ, статус заказа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5" name="Shape 135"/>
          <p:cNvSpPr txBox="false"/>
          <p:nvPr isPhoto="false"/>
        </p:nvSpPr>
        <p:spPr>
          <a:xfrm flipH="false" flipV="false" rot="0">
            <a:off x="7273290" y="6180582"/>
            <a:ext cx="237743" cy="237744"/>
          </a:xfrm>
          <a:prstGeom prst="ellipse">
            <a:avLst/>
          </a:prstGeom>
          <a:solidFill>
            <a:srgbClr val="E88F2E"/>
          </a:solidFill>
          <a:ln>
            <a:noFill/>
          </a:ln>
        </p:spPr>
        <p:txBody>
          <a:bodyPr anchor="ctr" bIns="0" lIns="0" rIns="0" tIns="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6" name="Shape 136"/>
          <p:cNvSpPr txBox="true"/>
          <p:nvPr isPhoto="false"/>
        </p:nvSpPr>
        <p:spPr>
          <a:xfrm flipH="false" flipV="false" rot="0">
            <a:off x="7565898" y="6144006"/>
            <a:ext cx="2293545" cy="235022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false" i="false" sz="8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Триггер — переход товара в БД компании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37" name="GroupShape 13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8" name="Shape 138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9" name="Shape 139"/>
          <p:cNvSpPr txBox="true"/>
          <p:nvPr isPhoto="false"/>
        </p:nvSpPr>
        <p:spPr>
          <a:xfrm flipH="false" flipV="false" rot="0">
            <a:off x="502919" y="274320"/>
            <a:ext cx="5486400" cy="27432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i="false" sz="1100">
                <a:solidFill>
                  <a:srgbClr val="2F5D5A"/>
                </a:solidFill>
                <a:latin typeface="Segoe UI"/>
                <a:ea typeface="Segoe UI"/>
                <a:cs typeface="Segoe UI"/>
              </a:rPr>
              <a:t>С Т Р У К Т У Р А   Д А Н Н Ы 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0" name="Shape 140"/>
          <p:cNvSpPr txBox="false"/>
          <p:nvPr isPhoto="false"/>
        </p:nvSpPr>
        <p:spPr>
          <a:xfrm flipH="false" flipV="false" rot="0">
            <a:off x="502919" y="566928"/>
            <a:ext cx="777240" cy="41148"/>
          </a:xfrm>
          <a:prstGeom prst="rect">
            <a:avLst/>
          </a:prstGeom>
          <a:solidFill>
            <a:srgbClr val="2F5D5A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1" name="Shape 141"/>
          <p:cNvSpPr txBox="true"/>
          <p:nvPr isPhoto="false"/>
        </p:nvSpPr>
        <p:spPr>
          <a:xfrm flipH="false" flipV="false" rot="0">
            <a:off x="502919" y="658368"/>
            <a:ext cx="10972800" cy="54864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i="false" sz="2600">
                <a:solidFill>
                  <a:srgbClr val="1F3A38"/>
                </a:solidFill>
                <a:latin typeface="Georgia"/>
                <a:ea typeface="Georgia"/>
                <a:cs typeface="Georgia"/>
              </a:rPr>
              <a:t>Изменения в базе данных на каждом этапе схемы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2" name="Shape 142"/>
          <p:cNvSpPr txBox="true"/>
          <p:nvPr isPhoto="false"/>
        </p:nvSpPr>
        <p:spPr>
          <a:xfrm flipH="false" flipV="false" rot="0">
            <a:off x="521207" y="1115568"/>
            <a:ext cx="11155680" cy="274319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false" i="false" sz="1050">
                <a:solidFill>
                  <a:srgbClr val="6E6E6E"/>
                </a:solidFill>
                <a:latin typeface="Segoe UI"/>
                <a:ea typeface="Segoe UI"/>
                <a:cs typeface="Segoe UI"/>
              </a:rPr>
              <a:t>Продажа выполняется физлицу: в БД фиксируется покупатель — физлицо, а передача информации ядру маркировки становится основанием для вывода КМ из оборота.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hidden="false" id="143" name="Table 143"/>
          <p:cNvGraphicFramePr/>
          <p:nvPr isPhoto="false"/>
        </p:nvGraphicFramePr>
        <p:xfrm flipH="false" flipV="false" rot="0">
          <a:off x="502919" y="1600200"/>
          <a:ext cx="11201400" cy="3977639"/>
        </p:xfrm>
        <a:graphic>
          <a:graphicData uri="http://schemas.openxmlformats.org/drawingml/2006/table">
            <a:tbl>
              <a:tblPr bandCol="false" bandRow="true" firstCol="false" firstRow="true" lastCol="false" lastRow="false"/>
              <a:tblGrid>
                <a:gridCol w="3291840"/>
                <a:gridCol w="2468880"/>
                <a:gridCol w="1554480"/>
                <a:gridCol w="3886200"/>
              </a:tblGrid>
              <a:tr h="568234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11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Этап по схеме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2F5D5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11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Объект БД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2F5D5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11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Операция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2F5D5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110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Что меняется в данных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2F5D5A"/>
                    </a:solidFill>
                  </a:tcPr>
                </a:tc>
              </a:tr>
              <a:tr h="568234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1. Получение товара от группы импорта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import_receipt, import_items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950">
                          <a:solidFill>
                            <a:srgbClr val="4472C4"/>
                          </a:solidFill>
                          <a:latin typeface="Segoe UI"/>
                          <a:ea typeface="Segoe UI"/>
                          <a:cs typeface="Segoe UI"/>
                        </a:rPr>
                        <a:t>CREATE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Создаются акт поступления и позиции; КМ фиксируются со статусом «Ожидает проверки»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FFFFF"/>
                    </a:solidFill>
                  </a:tcPr>
                </a:tc>
              </a:tr>
              <a:tr h="568234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2. Триггер: поступление зафиксировано в БД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2EFE8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stock_balance, marking_codes, inventory_log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2EFE8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950">
                          <a:solidFill>
                            <a:srgbClr val="7030A0"/>
                          </a:solidFill>
                          <a:latin typeface="Segoe UI"/>
                          <a:ea typeface="Segoe UI"/>
                          <a:cs typeface="Segoe UI"/>
                        </a:rPr>
                        <a:t>UPDATE + CREATE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2EFE8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Остатки увеличиваются; статусы КМ → «В обороте»; создаётся запись в журнале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2EFE8"/>
                    </a:solidFill>
                  </a:tcPr>
                </a:tc>
              </a:tr>
              <a:tr h="568234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3. Продажа физлицу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sales, sales_items, receipts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950">
                          <a:solidFill>
                            <a:srgbClr val="7030A0"/>
                          </a:solidFill>
                          <a:latin typeface="Segoe UI"/>
                          <a:ea typeface="Segoe UI"/>
                          <a:cs typeface="Segoe UI"/>
                        </a:rPr>
                        <a:t>CREATE + UPDATE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Создаются заказ, чек и счёт-фактура; остатки уменьшаются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FFFFF"/>
                    </a:solidFill>
                  </a:tcPr>
                </a:tc>
              </a:tr>
              <a:tr h="568234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4. Передача в ядро маркировки: «товар передан физлицу»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2EFE8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marking_codes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2EFE8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950">
                          <a:solidFill>
                            <a:srgbClr val="7030A0"/>
                          </a:solidFill>
                          <a:latin typeface="Segoe UI"/>
                          <a:ea typeface="Segoe UI"/>
                          <a:cs typeface="Segoe UI"/>
                        </a:rPr>
                        <a:t>UPDATE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2EFE8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Статус КМ → «Выбыл» (вывод из оборота); ядру передаются данные о покупателе — физлице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2EFE8"/>
                    </a:solidFill>
                  </a:tcPr>
                </a:tc>
              </a:tr>
              <a:tr h="568234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5. Обновление заказа клиенту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orders, notifications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950">
                          <a:solidFill>
                            <a:srgbClr val="7030A0"/>
                          </a:solidFill>
                          <a:latin typeface="Segoe UI"/>
                          <a:ea typeface="Segoe UI"/>
                          <a:cs typeface="Segoe UI"/>
                        </a:rPr>
                        <a:t>UPDATE + CREATE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Статус заказа → «Продано»; клиент получает подтверждение и чек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FFFFF"/>
                    </a:solidFill>
                  </a:tcPr>
                </a:tc>
              </a:tr>
              <a:tr h="568235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6. Списание (если КМ некорректны)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2EFE8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writeoff_act, marking_codes, stock_balance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2EFE8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i="false" sz="950">
                          <a:solidFill>
                            <a:srgbClr val="7030A0"/>
                          </a:solidFill>
                          <a:latin typeface="Segoe UI"/>
                          <a:ea typeface="Segoe UI"/>
                          <a:cs typeface="Segoe UI"/>
                        </a:rPr>
                        <a:t>CREATE + UPDATE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2EFE8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i="false" sz="950">
                          <a:solidFill>
                            <a:srgbClr val="2B2B2B"/>
                          </a:solidFill>
                          <a:latin typeface="Segoe UI"/>
                          <a:ea typeface="Segoe UI"/>
                          <a:cs typeface="Segoe UI"/>
                        </a:rPr>
                        <a:t>Акт списания; статус КМ → «Списан»; остатки уменьшаются</a:t>
                      </a:r>
                    </a:p>
                  </a:txBody>
                  <a:tcPr anchor="ctr" anchorCtr="false" marB="27432" marL="73152" marR="73152" marT="27432" vert="horz">
                    <a:solidFill>
                      <a:srgbClr val="F2EFE8"/>
                    </a:solidFill>
                  </a:tcPr>
                </a:tc>
              </a:tr>
            </a:tbl>
          </a:graphicData>
        </a:graphic>
      </p:graphicFrame>
      <p:sp>
        <p:nvSpPr>
          <p:cNvPr hidden="false" id="144" name="Shape 144"/>
          <p:cNvSpPr txBox="false"/>
          <p:nvPr isPhoto="false"/>
        </p:nvSpPr>
        <p:spPr>
          <a:xfrm flipH="false" flipV="false" rot="0">
            <a:off x="502919" y="5806440"/>
            <a:ext cx="11201400" cy="777240"/>
          </a:xfrm>
          <a:prstGeom prst="roundRect">
            <a:avLst>
              <a:gd fmla="val 18000" name="adj"/>
            </a:avLst>
          </a:prstGeom>
          <a:solidFill>
            <a:srgbClr val="FBF3E4"/>
          </a:solidFill>
          <a:ln w="15240">
            <a:solidFill>
              <a:srgbClr val="E0C38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1000">
                <a:solidFill>
                  <a:srgbClr val="7A510E"/>
                </a:solidFill>
                <a:latin typeface="Segoe UI"/>
                <a:ea typeface="Segoe UI"/>
                <a:cs typeface="Segoe UI"/>
              </a:rPr>
              <a:t>ВАЖНО: в схеме продажа совершается физлицу — покупатель в БД и в чеке указывается как физлицо. Именно передача информации «товар передан физлицу» в ядро маркировки переводит КМ в статус «Выбыл».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MyOffice-CoreFramework-Windows/38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terms:modified xsi:type="dcterms:W3CDTF">2013-01-27T09:15:58Z</dcterms:modified>
</cp:coreProperties>
</file>