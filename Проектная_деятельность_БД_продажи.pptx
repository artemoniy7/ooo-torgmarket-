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00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AA0C0"/>
                </a:solidFill>
              </a:defRPr>
            </a:pPr>
            <a:r>
              <a:t>Проектная деятельность</a:t>
            </a:r>
          </a:p>
          <a:p>
            <a:pPr algn="l">
              <a:defRPr sz="3600" b="1">
                <a:solidFill>
                  <a:srgbClr val="FFFFFF"/>
                </a:solidFill>
              </a:defRPr>
            </a:pPr>
            <a:r>
              <a:t>Информационный продукт:</a:t>
            </a:r>
          </a:p>
          <a:p>
            <a:pPr algn="l">
              <a:defRPr sz="3600" b="1">
                <a:solidFill>
                  <a:srgbClr val="009D6B"/>
                </a:solidFill>
              </a:defRPr>
            </a:pPr>
            <a:r>
              <a:t>операция продажи и база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0D8"/>
                </a:solidFill>
              </a:defRPr>
            </a:pPr>
            <a:r>
              <a:t>Как реализовать информационный продукт через операцию продажи,</a:t>
            </a:r>
          </a:p>
          <a:p>
            <a:pPr algn="l">
              <a:defRPr sz="1500" b="0">
                <a:solidFill>
                  <a:srgbClr val="B0C0D8"/>
                </a:solidFill>
              </a:defRPr>
            </a:pPr>
            <a:r>
              <a:t>оформить счет-фактуру, работать с «Честным знаком»</a:t>
            </a:r>
          </a:p>
          <a:p>
            <a:pPr algn="l">
              <a:defRPr sz="1500" b="0">
                <a:solidFill>
                  <a:srgbClr val="B0C0D8"/>
                </a:solidFill>
              </a:defRPr>
            </a:pPr>
            <a:r>
              <a:t>и построить базу данных учёта товаров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009D6B"/>
                </a:solidFill>
              </a:defRPr>
            </a:pPr>
            <a:r>
              <a:t>Особый акцент — структура БД и изменения данных</a:t>
            </a:r>
          </a:p>
          <a:p>
            <a:pPr algn="l">
              <a:defRPr sz="1600" b="1">
                <a:solidFill>
                  <a:srgbClr val="009D6B"/>
                </a:solidFill>
              </a:defRPr>
            </a:pPr>
            <a:r>
              <a:t>при продаже, вводе/выводе из оборота и списании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AAA"/>
                </a:solidFill>
              </a:defRPr>
            </a:pPr>
            <a:r>
              <a:t>2026 г.  ·  Проектная деятельность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План презентации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B2A4A"/>
                </a:solidFill>
              </a:defRPr>
            </a:pPr>
            <a:r>
              <a:t>• 1. Что такое операция продажи как информационный процесс</a:t>
            </a:r>
          </a:p>
          <a:p>
            <a:pPr>
              <a:spcAft>
                <a:spcPts val="800"/>
              </a:spcAft>
              <a:defRPr sz="1700" b="0">
                <a:solidFill>
                  <a:srgbClr val="1B2A4A"/>
                </a:solidFill>
              </a:defRPr>
            </a:pPr>
            <a:r>
              <a:t>• 2. Счёт-фактура как продажный документ (сапоги, тапки)</a:t>
            </a:r>
          </a:p>
          <a:p>
            <a:pPr>
              <a:spcAft>
                <a:spcPts val="800"/>
              </a:spcAft>
              <a:defRPr sz="1700" b="0">
                <a:solidFill>
                  <a:srgbClr val="1B2A4A"/>
                </a:solidFill>
              </a:defRPr>
            </a:pPr>
            <a:r>
              <a:t>• 3. «Честный знак» — маркировка и движение товара</a:t>
            </a:r>
          </a:p>
          <a:p>
            <a:pPr>
              <a:spcAft>
                <a:spcPts val="800"/>
              </a:spcAft>
              <a:defRPr sz="1700" b="0">
                <a:solidFill>
                  <a:srgbClr val="1B2A4A"/>
                </a:solidFill>
              </a:defRPr>
            </a:pPr>
            <a:r>
              <a:t>• 4. Архитектура базы данных: таблицы и связи</a:t>
            </a:r>
          </a:p>
          <a:p>
            <a:pPr>
              <a:spcAft>
                <a:spcPts val="800"/>
              </a:spcAft>
              <a:defRPr sz="1700" b="0">
                <a:solidFill>
                  <a:srgbClr val="1B2A4A"/>
                </a:solidFill>
              </a:defRPr>
            </a:pPr>
            <a:r>
              <a:t>• 5. SQL-схема — ключевые таблицы</a:t>
            </a:r>
          </a:p>
          <a:p>
            <a:pPr>
              <a:spcAft>
                <a:spcPts val="800"/>
              </a:spcAft>
              <a:defRPr sz="1700" b="0">
                <a:solidFill>
                  <a:srgbClr val="1B2A4A"/>
                </a:solidFill>
              </a:defRPr>
            </a:pPr>
            <a:r>
              <a:t>• 6. Изменения в БД при продаже</a:t>
            </a:r>
          </a:p>
          <a:p>
            <a:pPr>
              <a:spcAft>
                <a:spcPts val="800"/>
              </a:spcAft>
              <a:defRPr sz="1700" b="0">
                <a:solidFill>
                  <a:srgbClr val="1B2A4A"/>
                </a:solidFill>
              </a:defRPr>
            </a:pPr>
            <a:r>
              <a:t>• 7. Изменения в БД при вводе/выводе из оборота</a:t>
            </a:r>
          </a:p>
          <a:p>
            <a:pPr>
              <a:spcAft>
                <a:spcPts val="800"/>
              </a:spcAft>
              <a:defRPr sz="1700" b="0">
                <a:solidFill>
                  <a:srgbClr val="1B2A4A"/>
                </a:solidFill>
              </a:defRPr>
            </a:pPr>
            <a:r>
              <a:t>• 8. Изменения в БД при списании со склада</a:t>
            </a:r>
          </a:p>
          <a:p>
            <a:pPr>
              <a:spcAft>
                <a:spcPts val="800"/>
              </a:spcAft>
              <a:defRPr sz="1700" b="0">
                <a:solidFill>
                  <a:srgbClr val="1B2A4A"/>
                </a:solidFill>
              </a:defRPr>
            </a:pPr>
            <a:r>
              <a:t>• 9. Триггеры и целостность данных</a:t>
            </a:r>
          </a:p>
          <a:p>
            <a:pPr>
              <a:spcAft>
                <a:spcPts val="800"/>
              </a:spcAft>
              <a:defRPr sz="1700" b="0">
                <a:solidFill>
                  <a:srgbClr val="1B2A4A"/>
                </a:solidFill>
              </a:defRPr>
            </a:pPr>
            <a:r>
              <a:t>• 10. Итоги и что сделать к следующему этапу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Операция продажи — информационный процесс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A6A7A"/>
                </a:solidFill>
              </a:defRPr>
            </a:pPr>
            <a:r>
              <a:t>Продажа — не просто обмен товара на деньги, а цепочка информационных событий,</a:t>
            </a:r>
          </a:p>
          <a:p>
            <a:pPr algn="l">
              <a:defRPr sz="1500" b="0">
                <a:solidFill>
                  <a:srgbClr val="5A6A7A"/>
                </a:solidFill>
              </a:defRPr>
            </a:pPr>
            <a:r>
              <a:t>каждое из которых меняет состояние базы данных.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657600" cy="201168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1. Формирование заказа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Покупатель выбирает товар (сапоги, тапки). Создаётся запись в таблице orders со статусом «черновик».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657600" cy="201168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2. Проверка остатков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Система запрашивает stock_balance: достаточно ли единиц на складе? Резервирование количества.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011680"/>
            <a:ext cx="3657600" cy="201168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3. Маркировка «Честный знак»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Каждая единица товара имеет код маркировки. Проверяется статус кода в таблице marking_codes.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3657600" cy="201168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4. Создание счёта-фактуры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Генерируется продажный документ: номенклатура, количество, цена, сумма, НДС.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206240"/>
            <a:ext cx="3657600" cy="201168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5. Фиксация оплаты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Запись в payments: сумма, способ оплаты, дата. Статус заказа → «оплачен».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206240"/>
            <a:ext cx="3657600" cy="201168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6. Отгрузка и списание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Перемещение кодов маркировки из «в обороте» в «выведен». Уменьшение stock_balance.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Счёт-фактура как продажный документ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</a:defRPr>
            </a:pPr>
            <a:r>
              <a:t>Пример: продажа сапог и тапок. Документ содержит реквизиты и позиции номенклатуры.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9235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560320"/>
                <a:gridCol w="1645920"/>
                <a:gridCol w="822960"/>
                <a:gridCol w="109728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№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Наименование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Код маркировки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Кол-во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Цена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Сумма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НДС 20%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Сапоги зимние кожаные р.42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01046301234567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5 000 ₽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5 000 ₽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1 000 ₽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Тапки домашние р.38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01046307890123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800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1 600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320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Итого: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6 600 ₽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1 320 ₽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</a:defRPr>
            </a:pPr>
            <a:r>
              <a:t>Что хранится в БД при создании счёта-фактуры:</a:t>
            </a:r>
          </a:p>
          <a:p>
            <a:pPr algn="l">
              <a:defRPr sz="1300" b="0">
                <a:solidFill>
                  <a:srgbClr val="1B2A4A"/>
                </a:solidFill>
              </a:defRPr>
            </a:pPr>
            <a:r>
              <a:t>• Запись в таблице invoices с номером, датой, контрагентом, итоговой суммой</a:t>
            </a:r>
          </a:p>
          <a:p>
            <a:pPr algn="l">
              <a:defRPr sz="1300" b="0">
                <a:solidFill>
                  <a:srgbClr val="1B2A4A"/>
                </a:solidFill>
              </a:defRPr>
            </a:pPr>
            <a:r>
              <a:t>• Связанные строки в invoice_items: товар, количество, цена, сумма НДС</a:t>
            </a:r>
          </a:p>
          <a:p>
            <a:pPr algn="l">
              <a:defRPr sz="1300" b="0">
                <a:solidFill>
                  <a:srgbClr val="1B2A4A"/>
                </a:solidFill>
              </a:defRPr>
            </a:pPr>
            <a:r>
              <a:t>• Привязка кодов маркировки из marking_codes к каждой позиции</a:t>
            </a:r>
          </a:p>
          <a:p>
            <a:pPr algn="l">
              <a:defRPr sz="1300" b="0">
                <a:solidFill>
                  <a:srgbClr val="1B2A4A"/>
                </a:solidFill>
              </a:defRPr>
            </a:pPr>
            <a:r>
              <a:t>• Связь с заказом (orders) и оплатой (payments)</a:t>
            </a:r>
          </a:p>
          <a:p>
            <a:pPr algn="l">
              <a:defRPr sz="1300" b="0">
                <a:solidFill>
                  <a:srgbClr val="1B2A4A"/>
                </a:solidFill>
              </a:defRPr>
            </a:pPr>
            <a:r>
              <a:t>• Статус документа: «создан» → «отправлен» → «оплачен» → «проведён»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«Честный знак» — маркировка и движение товара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</a:defRPr>
            </a:pPr>
            <a:r>
              <a:t>Каждый товар (обувь) имеет уникальный код маркировки. БД отслеживает его жизненный цикл.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657600" cy="219456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Эмиссия кода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Код создан в ГИС МТ, но не нанесён на товар. Статус: EMBUTTED.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657600" cy="219456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009D6B"/>
                </a:solidFill>
              </a:defRPr>
            </a:pPr>
            <a:r>
              <a:t>Ввод в оборот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Код нанесён на упаковку, товар поступил на склад. Статус: IN_CIRCULATION.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657600" cy="219456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Перемещение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Товар передан между складами. Статус кода не меняется, но меняется owner_id.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3657600" cy="219456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Продажа (вывод)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Товар продан покупателю. Код переходит в статус WITHDRAWN.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023360"/>
            <a:ext cx="3657600" cy="219456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Списание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Товар повреждён, утилизирован. Код → WRITTEN_OFF. Вывод из оборота.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023360"/>
            <a:ext cx="3657600" cy="219456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Розница / возврат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Продажа через кассу — код гасится. Возврат — код возвращается в оборот.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Архитектура базы данных: таблицы и связи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</a:defRPr>
            </a:pPr>
            <a:r>
              <a:t>Логическая схема — 8 ключевых таблиц с первичными и внешними ключами.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834640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products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Справочник номенклатуры</a:t>
            </a:r>
            <a:br/>
            <a:r>
              <a:t>• product_id (PK)</a:t>
            </a:r>
            <a:br/>
            <a:r>
              <a:t>• name, category, unit</a:t>
            </a:r>
            <a:br/>
            <a:r>
              <a:t>• price, vat_rate</a:t>
            </a:r>
            <a:br/>
            <a:r>
              <a:t>• gtin (глобальный код)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45920"/>
            <a:ext cx="2834640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warehouses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Склады</a:t>
            </a:r>
            <a:br/>
            <a:r>
              <a:t>• warehouse_id (PK)</a:t>
            </a:r>
            <a:br/>
            <a:r>
              <a:t>• name, address</a:t>
            </a:r>
            <a:br/>
            <a:r>
              <a:t>• type: розница/опт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2834640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stock_balance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Остатки на складах</a:t>
            </a:r>
            <a:br/>
            <a:r>
              <a:t>• balance_id (PK)</a:t>
            </a:r>
            <a:br/>
            <a:r>
              <a:t>• product_id (FK)</a:t>
            </a:r>
            <a:br/>
            <a:r>
              <a:t>• warehouse_id (FK)</a:t>
            </a:r>
            <a:br/>
            <a:r>
              <a:t>• qty_available</a:t>
            </a:r>
            <a:br/>
            <a:r>
              <a:t>• qty_reserved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645920"/>
            <a:ext cx="2834640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marking_codes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Коды маркировки</a:t>
            </a:r>
            <a:br/>
            <a:r>
              <a:t>• code_id (PK)</a:t>
            </a:r>
            <a:br/>
            <a:r>
              <a:t>• product_id (FK)</a:t>
            </a:r>
            <a:br/>
            <a:r>
              <a:t>• code_value (уникальный)</a:t>
            </a:r>
            <a:br/>
            <a:r>
              <a:t>• status</a:t>
            </a:r>
            <a:br/>
            <a:r>
              <a:t>• owner_id (FK → warehouses)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114800"/>
            <a:ext cx="2834640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orders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Заказы</a:t>
            </a:r>
            <a:br/>
            <a:r>
              <a:t>• order_id (PK)</a:t>
            </a:r>
            <a:br/>
            <a:r>
              <a:t>• customer_id (FK)</a:t>
            </a:r>
            <a:br/>
            <a:r>
              <a:t>• order_date, status</a:t>
            </a:r>
            <a:br/>
            <a:r>
              <a:t>• total_amount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4114800"/>
            <a:ext cx="2834640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order_items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Позиции заказа</a:t>
            </a:r>
            <a:br/>
            <a:r>
              <a:t>• item_id (PK)</a:t>
            </a:r>
            <a:br/>
            <a:r>
              <a:t>• order_id (FK)</a:t>
            </a:r>
            <a:br/>
            <a:r>
              <a:t>• product_id (FK)</a:t>
            </a:r>
            <a:br/>
            <a:r>
              <a:t>• qty, price, subtotal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2834640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invoices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Счета-фактуры</a:t>
            </a:r>
            <a:br/>
            <a:r>
              <a:t>• invoice_id (PK)</a:t>
            </a:r>
            <a:br/>
            <a:r>
              <a:t>• order_id (FK)</a:t>
            </a:r>
            <a:br/>
            <a:r>
              <a:t>• invoice_no, date</a:t>
            </a:r>
            <a:br/>
            <a:r>
              <a:t>• total, vat_total</a:t>
            </a:r>
            <a:br/>
            <a:r>
              <a:t>•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4114800"/>
            <a:ext cx="2834640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payments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Платежи</a:t>
            </a:r>
            <a:br/>
            <a:r>
              <a:t>• payment_id (PK)</a:t>
            </a:r>
            <a:br/>
            <a:r>
              <a:t>• order_id (FK)</a:t>
            </a:r>
            <a:br/>
            <a:r>
              <a:t>• amount, method</a:t>
            </a:r>
            <a:br/>
            <a:r>
              <a:t>• payment_date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Связи между таблицами (ER-модель)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</a:defRPr>
            </a:pPr>
            <a:r>
              <a:t>Ключевые связи, обеспечивающие целостность данных при операции продажи.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097280"/>
                <a:gridCol w="6492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Связь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Тип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Описание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products → stock_balance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1:N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Один товар может храниться на нескольких складах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products → marking_codes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1:N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Один товар → много кодов маркировки (по количеству единиц)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warehouses → stock_balance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1:N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На одном складе — много позиций остатков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warehouses → marking_codes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1:N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Склад-владелец кода (owner_id) — текущий держатель товара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orders → order_items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1:N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Заказ содержит несколько позиций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orders → invoices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1:1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На каждый заказ — один счёт-фактура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orders → payments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1:N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Заказ может оплачиваться частями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order_items → marking_codes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M:N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4A"/>
                          </a:solidFill>
                        </a:defRPr>
                      </a:pPr>
                      <a:r>
                        <a:t>Через таблицу item_codes: какие коды отгружены по позиции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SQL-схема — ключевые таблицы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5C8A"/>
                </a:solidFill>
              </a:defRPr>
            </a:pPr>
            <a:r>
              <a:t>products — справочник товаров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CREATE TABLE products (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product_id   SERIAL PRIMARY KEY,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name         VARCHAR(200) NOT NULL,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category     VARCHAR(100),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gtin         VARCHAR(14) UNIQUE,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unit         VARCHAR(20) DEFAULT 'шт',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price        NUMERIC(10,2) NOT NULL,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vat_rate     NUMERIC(5,2) DEFAULT 20.00,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created_at   TIMESTAMP DEFAULT now()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5C8A"/>
                </a:solidFill>
              </a:defRPr>
            </a:pPr>
            <a:r>
              <a:t>stock_balance — остатки и marking_codes — коды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CREATE TABLE stock_balance (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balance_id    SERIAL PRIMARY KEY,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product_id    INT REFERENCES products,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warehouse_id  INT REFERENCES warehouses,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qty_available INT DEFAULT 0,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qty_reserved  INT DEFAULT 0,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UNIQUE(product_id, warehouse_id)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);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CREATE TABLE marking_codes (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code_id    SERIAL PRIMARY KEY,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product_id INT REFERENCES products,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code_value VARCHAR(32) UNIQUE NOT NULL,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status     VARCHAR(20)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           DEFAULT 'EMITTED',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owner_id   INT REFERENCES warehouses,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  updated_at TIMESTAMP DEFAULT now()</a:t>
            </a:r>
          </a:p>
          <a:p>
            <a:pPr>
              <a:defRPr sz="1100">
                <a:solidFill>
                  <a:srgbClr val="1B2A4A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Изменения в БД при продаже (транзакция)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</a:defRPr>
            </a:pPr>
            <a:r>
              <a:t>Одна продажа = одна транзакция, затрагивающая 5 таблиц. Все изменения атомарны.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834640" cy="228600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1. INSERT → orders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Создаётся заказ. status = 'NEW'. Вычисляется total_amount из позиций.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45920"/>
            <a:ext cx="2834640" cy="228600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2. INSERT → order_items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Добавляются позиции: сапоги (1 шт.), тапки (2 шт). Каждая ссылается на product_id.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2834640" cy="228600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3. UPDATE → stock_balance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qty_available уменьшается, qty_reserved увеличивается (резерв).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645920"/>
            <a:ext cx="2834640" cy="228600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4. UPDATE → marking_codes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Коды проданных единиц: status = 'WITHDRAWN', owner_id = NULL.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114800"/>
            <a:ext cx="2834640" cy="228600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5. INSERT → invoices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Создаётся счёт-фактура. invoice_no генерируется автоматически. Привязка к order_id.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4114800"/>
            <a:ext cx="2834640" cy="228600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6. INSERT → payments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Фиксируется оплата. orders.status = 'PAID'.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2834640" cy="228600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7. UPDATE → stock_balance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Снятие резерва: qty_reserved уменьшается (товар отгружен).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4114800"/>
            <a:ext cx="2834640" cy="228600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8. UPDATE → orders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status = 'COMPLETED'. Транзакция фиксируется (COMMIT).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SQL: транзакция продажи (сапоги + тапки)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BEGIN;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000" i="1">
                <a:solidFill>
                  <a:srgbClr val="5A6A7A"/>
                </a:solidFill>
                <a:latin typeface="Consolas"/>
              </a:defRPr>
            </a:pPr>
            <a:r>
              <a:t>-- 1. Создать заказ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INSERT INTO orders (customer_id, status, total_amount, order_date)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VALUES (101, 'NEW', 6600.00, now())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RETURNING order_id AS v_order;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000" i="1">
                <a:solidFill>
                  <a:srgbClr val="5A6A7A"/>
                </a:solidFill>
                <a:latin typeface="Consolas"/>
              </a:defRPr>
            </a:pPr>
            <a:r>
              <a:t>-- 2. Позиции заказа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INSERT INTO order_items (order_id, product_id, qty, price, subtotal)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VALUES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(v_order, 1, 1, 5000.00, 5000.00),  -- сапоги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(v_order, 2, 2,  800.00, 1600.00);  -- тапки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000" i="1">
                <a:solidFill>
                  <a:srgbClr val="5A6A7A"/>
                </a:solidFill>
                <a:latin typeface="Consolas"/>
              </a:defRPr>
            </a:pPr>
            <a:r>
              <a:t>-- 3. Резерв остатков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UPDATE stock_balance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SET qty_available = qty_available - qty,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    qty_reserved  = qty_reserved  + qty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FROM order_items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WHERE order_items.order_id = v_order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AND stock_balance.product_id = order_items.product_id;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000" i="1">
                <a:solidFill>
                  <a:srgbClr val="5A6A7A"/>
                </a:solidFill>
                <a:latin typeface="Consolas"/>
              </a:defRPr>
            </a:pPr>
            <a:r>
              <a:t>-- 4. Вывести коды маркировки из оборота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UPDATE marking_codes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SET status = 'WITHDRAWN', updated_at = now()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WHERE code_id IN (SELECT code_id FROM item_codes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                 WHERE order_id = v_order);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000" i="1">
                <a:solidFill>
                  <a:srgbClr val="5A6A7A"/>
                </a:solidFill>
                <a:latin typeface="Consolas"/>
              </a:defRPr>
            </a:pPr>
            <a:r>
              <a:t>-- 5. Счёт-фактура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INSERT INTO invoices (order_id, invoice_no, total, vat_total, status)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VALUES (v_order, 'СФ-2026-0001', 6600.00, 1320.00, 'ISSUED');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000" i="1">
                <a:solidFill>
                  <a:srgbClr val="5A6A7A"/>
                </a:solidFill>
                <a:latin typeface="Consolas"/>
              </a:defRPr>
            </a:pPr>
            <a:r>
              <a:t>-- 6. Оплата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INSERT INTO payments (order_id, amount, method, payment_date)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VALUES (v_order, 6600.00, 'CARD', now());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000" i="1">
                <a:solidFill>
                  <a:srgbClr val="5A6A7A"/>
                </a:solidFill>
                <a:latin typeface="Consolas"/>
              </a:defRPr>
            </a:pPr>
            <a:r>
              <a:t>-- 7. Завершить заказ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UPDATE orders SET status = 'COMPLETED' WHERE order_id = v_order;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COMMIT;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Ввод и вывод из оборота: изменения в БД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E8F8F2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009D6B"/>
                </a:solidFill>
              </a:defRPr>
            </a:pPr>
            <a:r>
              <a:t>ВВОД В ОБОРОТ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Товар поступил на склад, коды активированы.</a:t>
            </a:r>
            <a:br/>
            <a:br/>
            <a:r>
              <a:t>Изменения в БД:</a:t>
            </a:r>
            <a:br/>
            <a:br/>
            <a:r>
              <a:t>1. INSERT → marking_codes</a:t>
            </a:r>
            <a:br/>
            <a:r>
              <a:t>   Добавляются новые коды маркировки.</a:t>
            </a:r>
            <a:br/>
            <a:r>
              <a:t>   status = 'IN_CIRCULATION'</a:t>
            </a:r>
            <a:br/>
            <a:r>
              <a:t>   owner_id = ID склада-приёмника</a:t>
            </a:r>
            <a:br/>
            <a:br/>
            <a:r>
              <a:t>2. UPDATE → stock_balance</a:t>
            </a:r>
            <a:br/>
            <a:r>
              <a:t>   qty_available увеличивается</a:t>
            </a:r>
            <a:br/>
            <a:r>
              <a:t>   на количество принятых единиц</a:t>
            </a:r>
            <a:br/>
            <a:br/>
            <a:r>
              <a:t>3. INSERT → inventory_log</a:t>
            </a:r>
            <a:br/>
            <a:r>
              <a:t>   Журнальная запись: тип операции,</a:t>
            </a:r>
            <a:br/>
            <a:r>
              <a:t>   дата, код, склад, количество</a:t>
            </a:r>
            <a:br/>
            <a:br/>
            <a:r>
              <a:t>4. UPDATE → products (опц.)</a:t>
            </a:r>
            <a:br/>
            <a:r>
              <a:t>   Обновление GTIN, если партия новая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ВЫВОД ИЗ ОБОРОТА</a:t>
            </a:r>
          </a:p>
          <a:p>
            <a:pPr>
              <a:spcBef>
                <a:spcPts val="600"/>
              </a:spcBef>
              <a:defRPr sz="1200">
                <a:solidFill>
                  <a:srgbClr val="1B2A4A"/>
                </a:solidFill>
              </a:defRPr>
            </a:pPr>
            <a:r>
              <a:t>Товар продан, передан или списан.</a:t>
            </a:r>
            <a:br/>
            <a:br/>
            <a:r>
              <a:t>Изменения в БД:</a:t>
            </a:r>
            <a:br/>
            <a:br/>
            <a:r>
              <a:t>1. UPDATE → marking_codes</a:t>
            </a:r>
            <a:br/>
            <a:r>
              <a:t>   status = 'WITHDRAWN'</a:t>
            </a:r>
            <a:br/>
            <a:r>
              <a:t>   (продажа) или 'WRITTEN_OFF'</a:t>
            </a:r>
            <a:br/>
            <a:r>
              <a:t>   (списание)</a:t>
            </a:r>
            <a:br/>
            <a:br/>
            <a:r>
              <a:t>2. UPDATE → stock_balance</a:t>
            </a:r>
            <a:br/>
            <a:r>
              <a:t>   qty_available уменьшается</a:t>
            </a:r>
            <a:br/>
            <a:r>
              <a:t>   (списание) или qty_reserved</a:t>
            </a:r>
            <a:br/>
            <a:r>
              <a:t>   → перемещение (передача)</a:t>
            </a:r>
            <a:br/>
            <a:br/>
            <a:r>
              <a:t>3. INSERT → inventory_log</a:t>
            </a:r>
            <a:br/>
            <a:r>
              <a:t>   Тип: SALE / WRITE_OFF / TRANSFER</a:t>
            </a:r>
            <a:br/>
            <a:r>
              <a:t>   Код, склад-источник, причина</a:t>
            </a:r>
            <a:br/>
            <a:br/>
            <a:r>
              <a:t>4. UPDATE → orders (если продажа)</a:t>
            </a:r>
            <a:br/>
            <a:r>
              <a:t>   status = 'COMPLETED'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Списание со склада: изменения в БД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</a:defRPr>
            </a:pPr>
            <a:r>
              <a:t>Списание — вывод товара из оборота по причине: брак, порча, истечение срока, кража.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6858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BEGIN;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000" i="1">
                <a:solidFill>
                  <a:srgbClr val="5A6A7A"/>
                </a:solidFill>
                <a:latin typeface="Consolas"/>
              </a:defRPr>
            </a:pPr>
            <a:r>
              <a:t>-- 1. Зафиксировать списание кодов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UPDATE marking_codes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SET status = 'WRITTEN_OFF',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    updated_at = now()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WHERE code_id IN (SELECT code_id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                  FROM writeoff_codes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                 WHERE writeoff_id = v_wo);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000" i="1">
                <a:solidFill>
                  <a:srgbClr val="5A6A7A"/>
                </a:solidFill>
                <a:latin typeface="Consolas"/>
              </a:defRPr>
            </a:pPr>
            <a:r>
              <a:t>-- 2. Уменьшить остатки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UPDATE stock_balance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SET qty_available = qty_available - v_qty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WHERE product_id = v_product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AND warehouse_id = v_wh;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000" i="1">
                <a:solidFill>
                  <a:srgbClr val="5A6A7A"/>
                </a:solidFill>
                <a:latin typeface="Consolas"/>
              </a:defRPr>
            </a:pPr>
            <a:r>
              <a:t>-- 3. Записать в журнал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INSERT INTO inventory_log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(operation, product_id, warehouse_id,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qty, reason, code_id, created_at)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VALUES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('WRITE_OFF', v_product, v_wh,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v_qty, v_reason, v_code, now());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000" i="1">
                <a:solidFill>
                  <a:srgbClr val="5A6A7A"/>
                </a:solidFill>
                <a:latin typeface="Consolas"/>
              </a:defRPr>
            </a:pPr>
            <a:r>
              <a:t>-- 4. Создать акт списания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INSERT INTO writeoff_acts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(act_no, warehouse_id, date, total_amount,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reason, status)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VALUES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('АСП-2026-0001', v_wh, now(),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   v_amount, v_reason, 'CONFIRMED');</a:t>
            </a: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1B2A4A"/>
                </a:solidFill>
                <a:latin typeface="Consolas"/>
              </a:defRPr>
            </a:pPr>
            <a:r>
              <a:t>COMMIT;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554480"/>
            <a:ext cx="4114800" cy="109728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marking_codes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status → WRITTEN_OFF</a:t>
            </a:r>
            <a:br/>
            <a:r>
              <a:t>Код больше не активен.</a:t>
            </a:r>
            <a:br/>
            <a:r>
              <a:t>Товар нельзя продать.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743200"/>
            <a:ext cx="4114800" cy="109728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stock_balance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qty_available ↓</a:t>
            </a:r>
            <a:br/>
            <a:r>
              <a:t>Остаток уменьшается</a:t>
            </a:r>
            <a:br/>
            <a:r>
              <a:t>на списанное количество.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931920"/>
            <a:ext cx="4114800" cy="109728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inventory_log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INSERT записи</a:t>
            </a:r>
            <a:br/>
            <a:r>
              <a:t>тип = WRITE_OFF,</a:t>
            </a:r>
            <a:br/>
            <a:r>
              <a:t>причина, дата, код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5120640"/>
            <a:ext cx="4114800" cy="109728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writeoff_acts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Создаётся акт</a:t>
            </a:r>
            <a:br/>
            <a:r>
              <a:t>списания с подписями</a:t>
            </a:r>
            <a:br/>
            <a:r>
              <a:t>и причиной списания.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Триггеры и целостность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</a:defRPr>
            </a:pPr>
            <a:r>
              <a:t>Триггеры гарантируют, что данные не разойдутся между таблицами.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3749039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check_stock_before_sale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BEFORE UPDATE на stock_balance</a:t>
            </a:r>
            <a:br/>
            <a:br/>
            <a:r>
              <a:t>Запрещает продажу, если qty_available &lt; qty в заказе. Блокирует отрицательные остатки.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749039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auto_withdraw_marking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AFTER UPDATE на orders (status=COMPLETED)</a:t>
            </a:r>
            <a:br/>
            <a:br/>
            <a:r>
              <a:t>Автоматически переводит коды маркировки в статус WITHDRAWN при завершении продажи.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749039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log_inventory_changes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AFTER INSERT/UPDATE на stock_balance</a:t>
            </a:r>
            <a:br/>
            <a:br/>
            <a:r>
              <a:t>Каждое изменение остатка записывается в inventory_log: тип, дельта, причина.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114800"/>
            <a:ext cx="3749039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check_marking_status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BEFORE UPDATE на marking_codes</a:t>
            </a:r>
            <a:br/>
            <a:br/>
            <a:r>
              <a:t>Не позволяет перевести код из WRITTEN_OFF обратно в IN_CIRCULATION.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114800"/>
            <a:ext cx="3749039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sync_reserved_to_available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AFTER UPDATE на orders</a:t>
            </a:r>
            <a:br/>
            <a:br/>
            <a:r>
              <a:t>При статусе PAID: снимает резерв, уменьшает qty_available окончательно.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114800"/>
            <a:ext cx="3749039" cy="2286000"/>
          </a:xfrm>
          <a:prstGeom prst="roundRect">
            <a:avLst/>
          </a:prstGeom>
          <a:solidFill>
            <a:srgbClr val="ECF2F8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defRPr sz="1500" b="1">
                <a:solidFill>
                  <a:srgbClr val="2E5C8A"/>
                </a:solidFill>
              </a:defRPr>
            </a:pPr>
            <a:r>
              <a:t>validate_invoice_total</a:t>
            </a:r>
          </a:p>
          <a:p>
            <a:pPr>
              <a:spcBef>
                <a:spcPts val="600"/>
              </a:spcBef>
              <a:defRPr sz="1100">
                <a:solidFill>
                  <a:srgbClr val="1B2A4A"/>
                </a:solidFill>
              </a:defRPr>
            </a:pPr>
            <a:r>
              <a:t>BEFORE INSERT на invoices</a:t>
            </a:r>
            <a:br/>
            <a:br/>
            <a:r>
              <a:t>Проверяет, что сумма счёта-фактуры = сумме позиций заказа + НДС.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Жизненный цикл кода маркировки в БД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45920"/>
            <a:ext cx="2194560" cy="164592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A7A"/>
                </a:solidFill>
              </a:defRPr>
            </a:pPr>
            <a:r>
              <a:t>Код выпущен,</a:t>
            </a:r>
            <a:br/>
            <a:r>
              <a:t>не нанесён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43200" y="2194560"/>
            <a:ext cx="640080" cy="457200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74720" y="1645920"/>
            <a:ext cx="2194560" cy="1645920"/>
          </a:xfrm>
          <a:prstGeom prst="ellipse">
            <a:avLst/>
          </a:prstGeom>
          <a:solidFill>
            <a:srgbClr val="00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IN_CIRCULATION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3832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A7A"/>
                </a:solidFill>
              </a:defRPr>
            </a:pPr>
            <a:r>
              <a:t>Товар на складе,</a:t>
            </a:r>
            <a:br/>
            <a:r>
              <a:t>в обороте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69280" y="2194560"/>
            <a:ext cx="640080" cy="457200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645920"/>
            <a:ext cx="2194560" cy="1645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WITHDRAWN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A7A"/>
                </a:solidFill>
              </a:defRPr>
            </a:pPr>
            <a:r>
              <a:t>Продан,</a:t>
            </a:r>
            <a:br/>
            <a:r>
              <a:t>выведен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95360" y="2194560"/>
            <a:ext cx="640080" cy="457200"/>
          </a:xfrm>
          <a:prstGeom prst="rightArrow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0" y="1645920"/>
            <a:ext cx="2194560" cy="1645920"/>
          </a:xfrm>
          <a:prstGeom prst="ellipse">
            <a:avLst/>
          </a:prstGeom>
          <a:solidFill>
            <a:srgbClr val="5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WRITTEN_OFF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3832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A7A"/>
                </a:solidFill>
              </a:defRPr>
            </a:pPr>
            <a:r>
              <a:t>Списан,</a:t>
            </a:r>
            <a:br/>
            <a:r>
              <a:t>утилизирован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5C8A"/>
                </a:solidFill>
              </a:defRPr>
            </a:pPr>
            <a:r>
              <a:t>Каждый переход = UPDATE в marking_codes + INSERT в inventory_log.</a:t>
            </a:r>
          </a:p>
          <a:p>
            <a:pPr algn="l">
              <a:defRPr sz="600" b="0">
                <a:solidFill>
                  <a:srgbClr val="1B2A4A"/>
                </a:solidFill>
              </a:defRPr>
            </a:pPr>
          </a:p>
          <a:p>
            <a:pPr algn="l">
              <a:defRPr sz="1300" b="0">
                <a:solidFill>
                  <a:srgbClr val="1B2A4A"/>
                </a:solidFill>
              </a:defRPr>
            </a:pPr>
            <a:r>
              <a:t>• EMITTED → IN_CIRCULATION: поступление на склад (ввод в оборот)</a:t>
            </a:r>
          </a:p>
          <a:p>
            <a:pPr algn="l">
              <a:defRPr sz="1300" b="0">
                <a:solidFill>
                  <a:srgbClr val="1B2A4A"/>
                </a:solidFill>
              </a:defRPr>
            </a:pPr>
            <a:r>
              <a:t>• IN_CIRCULATION → WITHDRAWN: продажа через кассу / отгрузка (вывод из оборота)</a:t>
            </a:r>
          </a:p>
          <a:p>
            <a:pPr algn="l">
              <a:defRPr sz="1300" b="0">
                <a:solidFill>
                  <a:srgbClr val="1B2A4A"/>
                </a:solidFill>
              </a:defRPr>
            </a:pPr>
            <a:r>
              <a:t>• IN_CIRCULATION → WRITTEN_OFF: брак, порча, истечение срока (списание)</a:t>
            </a:r>
          </a:p>
          <a:p>
            <a:pPr algn="l">
              <a:defRPr sz="1300" b="0">
                <a:solidFill>
                  <a:srgbClr val="1B2A4A"/>
                </a:solidFill>
              </a:defRPr>
            </a:pPr>
            <a:r>
              <a:t>• WITHDRAWN → IN_CIRCULATION: возврат товара покупателем (реинтегра- ция в оборот)</a:t>
            </a:r>
          </a:p>
          <a:p>
            <a:pPr algn="l">
              <a:defRPr sz="1300" b="0">
                <a:solidFill>
                  <a:srgbClr val="C0392B"/>
                </a:solidFill>
              </a:defRPr>
            </a:pPr>
            <a:r>
              <a:t>• Триггер check_marking_status блокирует переход WRITTEN_OFF → любой активный статус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Итоги и план к следующему этапу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D0E0F0"/>
                </a:solidFill>
              </a:defRPr>
            </a:pPr>
            <a:r>
              <a:t>1. Спроектировать физическую схему БД: 8 таблиц + таблицы-журналы</a:t>
            </a:r>
          </a:p>
          <a:p>
            <a:pPr>
              <a:spcAft>
                <a:spcPts val="1000"/>
              </a:spcAft>
              <a:defRPr sz="1600">
                <a:solidFill>
                  <a:srgbClr val="D0E0F0"/>
                </a:solidFill>
              </a:defRPr>
            </a:pPr>
            <a:r>
              <a:t>2. Реализовать SQL-триггеры для контроля остатков и статусов кодов</a:t>
            </a:r>
          </a:p>
          <a:p>
            <a:pPr>
              <a:spcAft>
                <a:spcPts val="1000"/>
              </a:spcAft>
              <a:defRPr sz="1600">
                <a:solidFill>
                  <a:srgbClr val="D0E0F0"/>
                </a:solidFill>
              </a:defRPr>
            </a:pPr>
            <a:r>
              <a:t>3. Настроить интеграцию с ГИС МТ «Честный знак» (API запросы)</a:t>
            </a:r>
          </a:p>
          <a:p>
            <a:pPr>
              <a:spcAft>
                <a:spcPts val="1000"/>
              </a:spcAft>
              <a:defRPr sz="1600">
                <a:solidFill>
                  <a:srgbClr val="D0E0F0"/>
                </a:solidFill>
              </a:defRPr>
            </a:pPr>
            <a:r>
              <a:t>4. Создать формы ввода: заказ, счёт-фактура, акт списания</a:t>
            </a:r>
          </a:p>
          <a:p>
            <a:pPr>
              <a:spcAft>
                <a:spcPts val="1000"/>
              </a:spcAft>
              <a:defRPr sz="1600">
                <a:solidFill>
                  <a:srgbClr val="D0E0F0"/>
                </a:solidFill>
              </a:defRPr>
            </a:pPr>
            <a:r>
              <a:t>5. Протестировать транзакцию продажи «сапоги + тапки» end-to-end</a:t>
            </a:r>
          </a:p>
          <a:p>
            <a:pPr>
              <a:spcAft>
                <a:spcPts val="1000"/>
              </a:spcAft>
              <a:defRPr sz="1600">
                <a:solidFill>
                  <a:srgbClr val="D0E0F0"/>
                </a:solidFill>
              </a:defRPr>
            </a:pPr>
            <a:r>
              <a:t>6. Добавить таблицу inventory_log для аудита всех операций</a:t>
            </a:r>
          </a:p>
          <a:p>
            <a:pPr>
              <a:spcAft>
                <a:spcPts val="1000"/>
              </a:spcAft>
              <a:defRPr sz="1600">
                <a:solidFill>
                  <a:srgbClr val="D0E0F0"/>
                </a:solidFill>
              </a:defRPr>
            </a:pPr>
            <a:r>
              <a:t>7. Реализовать процедуру возврата (WITHDRAWN → IN_CIRCULATION)</a:t>
            </a:r>
          </a:p>
          <a:p>
            <a:pPr>
              <a:spcAft>
                <a:spcPts val="1000"/>
              </a:spcAft>
              <a:defRPr sz="1600">
                <a:solidFill>
                  <a:srgbClr val="D0E0F0"/>
                </a:solidFill>
              </a:defRPr>
            </a:pPr>
            <a:r>
              <a:t>8. Подготовить отчёты: остатки, движение кодов, продажи за период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D6B"/>
                </a:solidFill>
              </a:defRPr>
            </a:pPr>
            <a:r>
              <a:t>Главное: целостность данных — одна продажа меняет 5+ таблиц атомарно.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A7A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