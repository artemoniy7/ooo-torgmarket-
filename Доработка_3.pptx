
<file path=[Content_Types].xml><?xml version="1.0" encoding="utf-8"?>
<Types xmlns="http://schemas.openxmlformats.org/package/2006/content-types"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horz" pos="2160"/>
        <p:guide orient="vert" pos="2880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17" Target="viewProps.xml" Type="http://schemas.openxmlformats.org/officeDocument/2006/relationships/viewProps"/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tableStyles.xml" Type="http://schemas.openxmlformats.org/officeDocument/2006/relationships/tableStyles"/>
  <Relationship Id="rId2" Target="slideMasters/slideMaster1.xml" Type="http://schemas.openxmlformats.org/officeDocument/2006/relationships/slideMaster"/>
  <Relationship Id="rId9" Target="slides/slide7.xml" Type="http://schemas.openxmlformats.org/officeDocument/2006/relationships/slide"/>
  <Relationship Id="rId15" Target="slides/slide13.xml" Type="http://schemas.openxmlformats.org/officeDocument/2006/relationships/slide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47" name="GroupShape 4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8" name="Shape 48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49" name="Shape 49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50" name="Shape 5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1" name="Shape 5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2" name="Shape 5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347FEE8-681C-404F-8AA7-F150D63EEAB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37" name="GroupShape 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8" name="Shape 3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39" name="Shape 39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0" name="Shape 4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1" name="Shape 4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2" name="Shape 4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C3EC3DE-1FA1-4CC2-9688-1C8F2CFB05E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21" name="Shape 21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22" name="Shape 2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3" name="Shape 2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4" name="Shape 2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B3A5B8C-D9B3-4EC2-926C-5DFD028C89C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9" name="Shape 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0" name="Shape 1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1" name="Shape 1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19FD104-784C-43C4-8DEF-6D2C10E1F2C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" name="Shape 1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14" name="Shape 14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5" name="Shape 15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6" name="Shape 1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7" name="Shape 1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8" name="Shape 1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A587D77D-0A14-4709-8EA7-792F75FFFCE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43" name="GroupShape 4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4" name="Shape 4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5" name="Shape 4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6" name="Shape 4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C517824-202B-402D-A9E2-0CF9012264B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67" name="GroupShape 6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8" name="Shape 6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9" name="Shape 69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70" name="Shape 70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1" name="Shape 71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72" name="Shape 72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A7E970D-1AB5-42BB-83AF-D4C336B5EE17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60" name="GroupShape 6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1" name="Shape 61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62" name="Shape 62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3" name="Shape 63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4" name="Shape 6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5" name="Shape 6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6" name="Shape 6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ABD712B-70BA-4DBB-B11B-47F19654629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53" name="GroupShape 5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4" name="Shape 54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55" name="Shape 55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56" name="Shape 56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57" name="Shape 5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8" name="Shape 5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9" name="Shape 5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A31B950E-F3C4-423A-B028-4F7A1324C19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25" name="GroupShape 2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" name="Shape 2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7" name="Shape 2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28" name="Shape 2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9" name="Shape 2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0" name="Shape 3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97BB671-6A8B-48A8-B857-893EB63F799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31" name="GroupShape 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2" name="Shape 32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33" name="Shape 33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4" name="Shape 3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5" name="Shape 3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6" name="Shape 3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1A4E2E6-1B16-4F0E-8AD0-97920E48E355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1097D4-7AD9-47B1-8581-DF36BB977D78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slideLayouts/slideLayout6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false"/>
          <p:nvPr isPhoto="false"/>
        </p:nvSpPr>
        <p:spPr>
          <a:xfrm flipH="false" flipV="false" rot="0">
            <a:off x="320040" y="0"/>
            <a:ext cx="137159" cy="6858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true"/>
          <p:nvPr isPhoto="false"/>
        </p:nvSpPr>
        <p:spPr>
          <a:xfrm flipH="false" flipV="false" rot="0">
            <a:off x="1097280" y="1280160"/>
            <a:ext cx="1005840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0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ИНФОРМАЦИОННЫЙ ПРОДУКТ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1097280" y="1828800"/>
            <a:ext cx="1051560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4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Реализация операции продажи и построение базы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2" name="Shape 82"/>
          <p:cNvSpPr txBox="true"/>
          <p:nvPr isPhoto="false"/>
        </p:nvSpPr>
        <p:spPr>
          <a:xfrm flipH="false" flipV="false" rot="0">
            <a:off x="1097280" y="3337559"/>
            <a:ext cx="100584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ООО «ТоргМаркет»  •  Группа №5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3" name="Shape 83"/>
          <p:cNvSpPr txBox="true"/>
          <p:nvPr isPhoto="false"/>
        </p:nvSpPr>
        <p:spPr>
          <a:xfrm flipH="false" flipV="false" rot="0">
            <a:off x="1097280" y="3931920"/>
            <a:ext cx="100584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5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Как реализовать информационный продукт: продажа, остатки, «Честный знак» и устройство базы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false"/>
          <p:nvPr isPhoto="false"/>
        </p:nvSpPr>
        <p:spPr>
          <a:xfrm flipH="false" flipV="false" rot="0">
            <a:off x="1587855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true"/>
          <p:nvPr isPhoto="false"/>
        </p:nvSpPr>
        <p:spPr>
          <a:xfrm flipH="false" flipV="false" rot="0">
            <a:off x="1587855" y="4937760"/>
            <a:ext cx="2103120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Продажа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3892143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true"/>
          <p:nvPr isPhoto="false"/>
        </p:nvSpPr>
        <p:spPr>
          <a:xfrm flipH="false" flipV="false" rot="0">
            <a:off x="3892143" y="4937760"/>
            <a:ext cx="2103120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Счёт-фактура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8" name="Shape 88"/>
          <p:cNvSpPr txBox="false"/>
          <p:nvPr isPhoto="false"/>
        </p:nvSpPr>
        <p:spPr>
          <a:xfrm flipH="false" flipV="false" rot="0">
            <a:off x="6196431" y="4937760"/>
            <a:ext cx="2103119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9" name="Shape 89"/>
          <p:cNvSpPr txBox="true"/>
          <p:nvPr isPhoto="false"/>
        </p:nvSpPr>
        <p:spPr>
          <a:xfrm flipH="false" flipV="false" rot="0">
            <a:off x="6196431" y="4937760"/>
            <a:ext cx="2103119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Честный знак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false"/>
          <p:nvPr isPhoto="false"/>
        </p:nvSpPr>
        <p:spPr>
          <a:xfrm flipH="false" flipV="false" rot="0">
            <a:off x="8500719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1" name="Shape 91"/>
          <p:cNvSpPr txBox="true"/>
          <p:nvPr isPhoto="false"/>
        </p:nvSpPr>
        <p:spPr>
          <a:xfrm flipH="false" flipV="false" rot="0">
            <a:off x="8500719" y="4937760"/>
            <a:ext cx="2103120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База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2" name="GroupShape 9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3" name="Shape 93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5" name="Shape 95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6" name="Shape 96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Пять шагов к реализации продукта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7" name="Shape 97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От проектирования базы данных до операции продажи через «Честный знак».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9" name="Shape 99"/>
          <p:cNvSpPr txBox="false"/>
          <p:nvPr isPhoto="false"/>
        </p:nvSpPr>
        <p:spPr>
          <a:xfrm flipH="false" flipV="false" rot="0">
            <a:off x="435711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0" name="Shape 100"/>
          <p:cNvSpPr txBox="false"/>
          <p:nvPr isPhoto="false"/>
        </p:nvSpPr>
        <p:spPr>
          <a:xfrm flipH="false" flipV="false" rot="0">
            <a:off x="435711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1" name="Shape 101"/>
          <p:cNvSpPr txBox="true"/>
          <p:nvPr isPhoto="false"/>
        </p:nvSpPr>
        <p:spPr>
          <a:xfrm flipH="false" flipV="false" rot="0">
            <a:off x="710031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2" name="Shape 102"/>
          <p:cNvSpPr txBox="true"/>
          <p:nvPr isPhoto="false"/>
        </p:nvSpPr>
        <p:spPr>
          <a:xfrm flipH="false" flipV="false" rot="0">
            <a:off x="710031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База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3" name="Shape 103"/>
          <p:cNvSpPr txBox="true"/>
          <p:nvPr isPhoto="false"/>
        </p:nvSpPr>
        <p:spPr>
          <a:xfrm flipH="false" flipV="false" rot="0">
            <a:off x="710031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Проектируем структуру: товары, остатки, коды маркировки, документы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4" name="Shape 104"/>
          <p:cNvSpPr txBox="false"/>
          <p:nvPr isPhoto="false"/>
        </p:nvSpPr>
        <p:spPr>
          <a:xfrm flipH="false" flipV="false" rot="0">
            <a:off x="2739999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false"/>
          <p:nvPr isPhoto="false"/>
        </p:nvSpPr>
        <p:spPr>
          <a:xfrm flipH="false" flipV="false" rot="0">
            <a:off x="2739999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true"/>
          <p:nvPr isPhoto="false"/>
        </p:nvSpPr>
        <p:spPr>
          <a:xfrm flipH="false" flipV="false" rot="0">
            <a:off x="3014319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7" name="Shape 107"/>
          <p:cNvSpPr txBox="true"/>
          <p:nvPr isPhoto="false"/>
        </p:nvSpPr>
        <p:spPr>
          <a:xfrm flipH="false" flipV="false" rot="0">
            <a:off x="3014319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Ввод в оборот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true"/>
          <p:nvPr isPhoto="false"/>
        </p:nvSpPr>
        <p:spPr>
          <a:xfrm flipH="false" flipV="false" rot="0">
            <a:off x="3014319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Регистрируем КМ в «Честном знаке», отражаем поступление на склад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9" name="Shape 109"/>
          <p:cNvSpPr txBox="false"/>
          <p:nvPr isPhoto="false"/>
        </p:nvSpPr>
        <p:spPr>
          <a:xfrm flipH="false" flipV="false" rot="0">
            <a:off x="5044287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0" name="Shape 110"/>
          <p:cNvSpPr txBox="false"/>
          <p:nvPr isPhoto="false"/>
        </p:nvSpPr>
        <p:spPr>
          <a:xfrm flipH="false" flipV="false" rot="0">
            <a:off x="5044287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1" name="Shape 111"/>
          <p:cNvSpPr txBox="true"/>
          <p:nvPr isPhoto="false"/>
        </p:nvSpPr>
        <p:spPr>
          <a:xfrm flipH="false" flipV="false" rot="0">
            <a:off x="5318607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true"/>
          <p:nvPr isPhoto="false"/>
        </p:nvSpPr>
        <p:spPr>
          <a:xfrm flipH="false" flipV="false" rot="0">
            <a:off x="5318607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Продажа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3" name="Shape 113"/>
          <p:cNvSpPr txBox="true"/>
          <p:nvPr isPhoto="false"/>
        </p:nvSpPr>
        <p:spPr>
          <a:xfrm flipH="false" flipV="false" rot="0">
            <a:off x="5318607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Формируем счёт-фактуру, списываем товар, переводим КМ в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4" name="Shape 114"/>
          <p:cNvSpPr txBox="false"/>
          <p:nvPr isPhoto="false"/>
        </p:nvSpPr>
        <p:spPr>
          <a:xfrm flipH="false" flipV="false" rot="0">
            <a:off x="7348574" y="1920240"/>
            <a:ext cx="2103119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5" name="Shape 115"/>
          <p:cNvSpPr txBox="false"/>
          <p:nvPr isPhoto="false"/>
        </p:nvSpPr>
        <p:spPr>
          <a:xfrm flipH="false" flipV="false" rot="0">
            <a:off x="7348574" y="1920240"/>
            <a:ext cx="2103119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6" name="Shape 116"/>
          <p:cNvSpPr txBox="true"/>
          <p:nvPr isPhoto="false"/>
        </p:nvSpPr>
        <p:spPr>
          <a:xfrm flipH="false" flipV="false" rot="0">
            <a:off x="7622895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7" name="Shape 117"/>
          <p:cNvSpPr txBox="true"/>
          <p:nvPr isPhoto="false"/>
        </p:nvSpPr>
        <p:spPr>
          <a:xfrm flipH="false" flipV="false" rot="0">
            <a:off x="7622895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Списание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8" name="Shape 118"/>
          <p:cNvSpPr txBox="true"/>
          <p:nvPr isPhoto="false"/>
        </p:nvSpPr>
        <p:spPr>
          <a:xfrm flipH="false" flipV="false" rot="0">
            <a:off x="7622895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Списываем брак и некорректные коды, фиксируем причины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9" name="Shape 119"/>
          <p:cNvSpPr txBox="false"/>
          <p:nvPr isPhoto="false"/>
        </p:nvSpPr>
        <p:spPr>
          <a:xfrm flipH="false" flipV="false" rot="0">
            <a:off x="9652863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0" name="Shape 120"/>
          <p:cNvSpPr txBox="false"/>
          <p:nvPr isPhoto="false"/>
        </p:nvSpPr>
        <p:spPr>
          <a:xfrm flipH="false" flipV="false" rot="0">
            <a:off x="9652863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1" name="Shape 121"/>
          <p:cNvSpPr txBox="true"/>
          <p:nvPr isPhoto="false"/>
        </p:nvSpPr>
        <p:spPr>
          <a:xfrm flipH="false" flipV="false" rot="0">
            <a:off x="9927183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2" name="Shape 122"/>
          <p:cNvSpPr txBox="true"/>
          <p:nvPr isPhoto="false"/>
        </p:nvSpPr>
        <p:spPr>
          <a:xfrm flipH="false" flipV="false" rot="0">
            <a:off x="9927183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Контроль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3" name="Shape 123"/>
          <p:cNvSpPr txBox="true"/>
          <p:nvPr isPhoto="false"/>
        </p:nvSpPr>
        <p:spPr>
          <a:xfrm flipH="false" flipV="false" rot="0">
            <a:off x="9927183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Проверяем остатки, суммы, статусы КМ и целостность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4" name="Shape 124"/>
          <p:cNvSpPr txBox="false"/>
          <p:nvPr isPhoto="false"/>
        </p:nvSpPr>
        <p:spPr>
          <a:xfrm flipH="false" flipV="false" rot="0">
            <a:off x="2538831" y="3647808"/>
            <a:ext cx="201166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5" name="Shape 125"/>
          <p:cNvSpPr txBox="false"/>
          <p:nvPr isPhoto="false"/>
        </p:nvSpPr>
        <p:spPr>
          <a:xfrm flipH="false" flipV="false" rot="0">
            <a:off x="4843119" y="3647808"/>
            <a:ext cx="201167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6" name="Shape 126"/>
          <p:cNvSpPr txBox="false"/>
          <p:nvPr isPhoto="false"/>
        </p:nvSpPr>
        <p:spPr>
          <a:xfrm flipH="false" flipV="false" rot="0">
            <a:off x="7147407" y="3647808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7" name="Shape 127"/>
          <p:cNvSpPr txBox="false"/>
          <p:nvPr isPhoto="false"/>
        </p:nvSpPr>
        <p:spPr>
          <a:xfrm flipH="false" flipV="false" rot="0">
            <a:off x="9451695" y="3647808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8" name="GroupShape 1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9" name="Shape 129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0" name="Shape 130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1" name="Shape 131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2" name="Shape 132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Как формируется операция продажи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4" name="Shape 134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От товара на складе до передачи покупателю и фиксации в «Честном знаке».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5" name="Shape 135"/>
          <p:cNvSpPr txBox="false"/>
          <p:nvPr isPhoto="false"/>
        </p:nvSpPr>
        <p:spPr>
          <a:xfrm flipH="false" flipV="false" rot="0">
            <a:off x="664311" y="2011679"/>
            <a:ext cx="2011679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false"/>
          <p:nvPr isPhoto="false"/>
        </p:nvSpPr>
        <p:spPr>
          <a:xfrm flipH="false" flipV="false" rot="0">
            <a:off x="664311" y="2011679"/>
            <a:ext cx="2011679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7" name="Shape 137"/>
          <p:cNvSpPr txBox="true"/>
          <p:nvPr isPhoto="false"/>
        </p:nvSpPr>
        <p:spPr>
          <a:xfrm flipH="false" flipV="false" rot="0">
            <a:off x="664311" y="2103120"/>
            <a:ext cx="2011679" cy="640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8" name="Shape 138"/>
          <p:cNvSpPr txBox="true"/>
          <p:nvPr isPhoto="false"/>
        </p:nvSpPr>
        <p:spPr>
          <a:xfrm flipH="false" flipV="false" rot="0">
            <a:off x="801471" y="3017520"/>
            <a:ext cx="1737360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Товар в системе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true"/>
          <p:nvPr isPhoto="false"/>
        </p:nvSpPr>
        <p:spPr>
          <a:xfrm flipH="false" flipV="false" rot="0">
            <a:off x="801471" y="3749040"/>
            <a:ext cx="1737360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Номенклатура, остаток,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2877159" y="2011679"/>
            <a:ext cx="2011679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false"/>
          <p:nvPr isPhoto="false"/>
        </p:nvSpPr>
        <p:spPr>
          <a:xfrm flipH="false" flipV="false" rot="0">
            <a:off x="2877159" y="2011679"/>
            <a:ext cx="2011679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2" name="Shape 142"/>
          <p:cNvSpPr txBox="true"/>
          <p:nvPr isPhoto="false"/>
        </p:nvSpPr>
        <p:spPr>
          <a:xfrm flipH="false" flipV="false" rot="0">
            <a:off x="2877159" y="2103120"/>
            <a:ext cx="2011679" cy="640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3" name="Shape 143"/>
          <p:cNvSpPr txBox="true"/>
          <p:nvPr isPhoto="false"/>
        </p:nvSpPr>
        <p:spPr>
          <a:xfrm flipH="false" flipV="false" rot="0">
            <a:off x="3014319" y="3017520"/>
            <a:ext cx="1737360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Покупатель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4" name="Shape 144"/>
          <p:cNvSpPr txBox="true"/>
          <p:nvPr isPhoto="false"/>
        </p:nvSpPr>
        <p:spPr>
          <a:xfrm flipH="false" flipV="false" rot="0">
            <a:off x="3014319" y="3749040"/>
            <a:ext cx="1737360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Контрагент, договор, юр. лицо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5" name="Shape 145"/>
          <p:cNvSpPr txBox="false"/>
          <p:nvPr isPhoto="false"/>
        </p:nvSpPr>
        <p:spPr>
          <a:xfrm flipH="false" flipV="false" rot="0">
            <a:off x="5090007" y="2011679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6" name="Shape 146"/>
          <p:cNvSpPr txBox="false"/>
          <p:nvPr isPhoto="false"/>
        </p:nvSpPr>
        <p:spPr>
          <a:xfrm flipH="false" flipV="false" rot="0">
            <a:off x="5090007" y="2011679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7" name="Shape 147"/>
          <p:cNvSpPr txBox="true"/>
          <p:nvPr isPhoto="false"/>
        </p:nvSpPr>
        <p:spPr>
          <a:xfrm flipH="false" flipV="false" rot="0">
            <a:off x="5090007" y="2103120"/>
            <a:ext cx="2011680" cy="640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8" name="Shape 148"/>
          <p:cNvSpPr txBox="true"/>
          <p:nvPr isPhoto="false"/>
        </p:nvSpPr>
        <p:spPr>
          <a:xfrm flipH="false" flipV="false" rot="0">
            <a:off x="5227167" y="3017520"/>
            <a:ext cx="1737359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Строка продажи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9" name="Shape 149"/>
          <p:cNvSpPr txBox="true"/>
          <p:nvPr isPhoto="false"/>
        </p:nvSpPr>
        <p:spPr>
          <a:xfrm flipH="false" flipV="false" rot="0">
            <a:off x="5227167" y="3749040"/>
            <a:ext cx="1737359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Кол-во, цена, НДС, сумма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0" name="Shape 150"/>
          <p:cNvSpPr txBox="false"/>
          <p:nvPr isPhoto="false"/>
        </p:nvSpPr>
        <p:spPr>
          <a:xfrm flipH="false" flipV="false" rot="0">
            <a:off x="7302855" y="2011679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1" name="Shape 151"/>
          <p:cNvSpPr txBox="false"/>
          <p:nvPr isPhoto="false"/>
        </p:nvSpPr>
        <p:spPr>
          <a:xfrm flipH="false" flipV="false" rot="0">
            <a:off x="7302855" y="2011679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2" name="Shape 152"/>
          <p:cNvSpPr txBox="true"/>
          <p:nvPr isPhoto="false"/>
        </p:nvSpPr>
        <p:spPr>
          <a:xfrm flipH="false" flipV="false" rot="0">
            <a:off x="7302855" y="2103120"/>
            <a:ext cx="2011680" cy="640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3" name="Shape 153"/>
          <p:cNvSpPr txBox="true"/>
          <p:nvPr isPhoto="false"/>
        </p:nvSpPr>
        <p:spPr>
          <a:xfrm flipH="false" flipV="false" rot="0">
            <a:off x="7440015" y="3017520"/>
            <a:ext cx="1737359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Счёт-фактура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4" name="Shape 154"/>
          <p:cNvSpPr txBox="true"/>
          <p:nvPr isPhoto="false"/>
        </p:nvSpPr>
        <p:spPr>
          <a:xfrm flipH="false" flipV="false" rot="0">
            <a:off x="7440015" y="3749040"/>
            <a:ext cx="1737359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Продажный документ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5" name="Shape 155"/>
          <p:cNvSpPr txBox="false"/>
          <p:nvPr isPhoto="false"/>
        </p:nvSpPr>
        <p:spPr>
          <a:xfrm flipH="false" flipV="false" rot="0">
            <a:off x="9515703" y="2011679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6" name="Shape 156"/>
          <p:cNvSpPr txBox="false"/>
          <p:nvPr isPhoto="false"/>
        </p:nvSpPr>
        <p:spPr>
          <a:xfrm flipH="false" flipV="false" rot="0">
            <a:off x="9515703" y="2011679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7" name="Shape 157"/>
          <p:cNvSpPr txBox="true"/>
          <p:nvPr isPhoto="false"/>
        </p:nvSpPr>
        <p:spPr>
          <a:xfrm flipH="false" flipV="false" rot="0">
            <a:off x="9515703" y="2103120"/>
            <a:ext cx="2011680" cy="640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8" name="Shape 158"/>
          <p:cNvSpPr txBox="true"/>
          <p:nvPr isPhoto="false"/>
        </p:nvSpPr>
        <p:spPr>
          <a:xfrm flipH="false" flipV="false" rot="0">
            <a:off x="9652863" y="3017520"/>
            <a:ext cx="1737359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Честный знак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9" name="Shape 159"/>
          <p:cNvSpPr txBox="true"/>
          <p:nvPr isPhoto="false"/>
        </p:nvSpPr>
        <p:spPr>
          <a:xfrm flipH="false" flipV="false" rot="0">
            <a:off x="9652863" y="3749040"/>
            <a:ext cx="1737359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КМ переводится в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0" name="Shape 160"/>
          <p:cNvSpPr txBox="false"/>
          <p:nvPr isPhoto="false"/>
        </p:nvSpPr>
        <p:spPr>
          <a:xfrm flipH="false" flipV="false" rot="0">
            <a:off x="2675991" y="3474720"/>
            <a:ext cx="201166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1" name="Shape 161"/>
          <p:cNvSpPr txBox="false"/>
          <p:nvPr isPhoto="false"/>
        </p:nvSpPr>
        <p:spPr>
          <a:xfrm flipH="false" flipV="false" rot="0">
            <a:off x="4888839" y="3474720"/>
            <a:ext cx="201167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2" name="Shape 162"/>
          <p:cNvSpPr txBox="false"/>
          <p:nvPr isPhoto="false"/>
        </p:nvSpPr>
        <p:spPr>
          <a:xfrm flipH="false" flipV="false" rot="0">
            <a:off x="7101686" y="3474720"/>
            <a:ext cx="201168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3" name="Shape 163"/>
          <p:cNvSpPr txBox="false"/>
          <p:nvPr isPhoto="false"/>
        </p:nvSpPr>
        <p:spPr>
          <a:xfrm flipH="false" flipV="false" rot="0">
            <a:off x="9314535" y="3474720"/>
            <a:ext cx="201168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4" name="GroupShape 1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5" name="Shape 165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6" name="Shape 166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7" name="Shape 167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8" name="Shape 168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Счёт-фактура как продажный документ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9" name="Shape 169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0" name="Shape 170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Пример: реализация сапог и тапок — какие данные формируются и где фиксируются.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hidden="false" id="171" name="Table 171"/>
          <p:cNvGraphicFramePr/>
          <p:nvPr isPhoto="false"/>
        </p:nvGraphicFramePr>
        <p:xfrm flipH="false" flipV="false" rot="0">
          <a:off x="640080" y="2011679"/>
          <a:ext cx="10972800" cy="3657600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2286000"/>
                <a:gridCol w="2286000"/>
                <a:gridCol w="1645920"/>
                <a:gridCol w="1645920"/>
                <a:gridCol w="1645920"/>
                <a:gridCol w="1463040"/>
              </a:tblGrid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Товар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КМ (код маркировки)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Кол-во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Цена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НДС 20%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Сумма с НДС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Сапоги зимние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0104310123456789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3 500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3 500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21 000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Тапки домашние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0104310234567890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800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1 600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9 600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Сапоги демисез.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0104310345678901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2 800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1 680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10 080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ИТОГО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18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6 780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40 680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hidden="false" id="172" name="Shape 172"/>
          <p:cNvSpPr txBox="false"/>
          <p:nvPr isPhoto="false"/>
        </p:nvSpPr>
        <p:spPr>
          <a:xfrm flipH="false" flipV="false" rot="0">
            <a:off x="640080" y="5829360"/>
            <a:ext cx="10972800" cy="731520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3" name="Shape 173"/>
          <p:cNvSpPr txBox="false"/>
          <p:nvPr isPhoto="false"/>
        </p:nvSpPr>
        <p:spPr>
          <a:xfrm flipH="false" flipV="false" rot="0">
            <a:off x="640080" y="5829360"/>
            <a:ext cx="137158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4" name="Shape 174"/>
          <p:cNvSpPr txBox="true"/>
          <p:nvPr isPhoto="false"/>
        </p:nvSpPr>
        <p:spPr>
          <a:xfrm flipH="false" flipV="false" rot="0">
            <a:off x="914400" y="5966520"/>
            <a:ext cx="105156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Счёт-фактура фиксирует: что продано, кому, по какой цене и с каким НДС. КМ каждого товара связан со строкой документа.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5" name="GroupShape 17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6" name="Shape 176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7" name="Shape 177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8" name="Shape 178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9" name="Shape 179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Структура базы данных: ключевые таблицы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0" name="Shape 180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1" name="Shape 181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Восемь таблиц, которые описывают товар, движение и документы.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2" name="Shape 182"/>
          <p:cNvSpPr txBox="false"/>
          <p:nvPr isPhoto="false"/>
        </p:nvSpPr>
        <p:spPr>
          <a:xfrm flipH="false" flipV="false" rot="0">
            <a:off x="673455" y="2011679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3" name="Shape 183"/>
          <p:cNvSpPr txBox="false"/>
          <p:nvPr isPhoto="false"/>
        </p:nvSpPr>
        <p:spPr>
          <a:xfrm flipH="false" flipV="false" rot="0">
            <a:off x="673455" y="2011679"/>
            <a:ext cx="2560320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4" name="Shape 184"/>
          <p:cNvSpPr txBox="true"/>
          <p:nvPr isPhoto="false"/>
        </p:nvSpPr>
        <p:spPr>
          <a:xfrm flipH="false" flipV="false" rot="0">
            <a:off x="856335" y="2194560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Товары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5" name="Shape 185"/>
          <p:cNvSpPr txBox="true"/>
          <p:nvPr isPhoto="false"/>
        </p:nvSpPr>
        <p:spPr>
          <a:xfrm flipH="false" flipV="false" rot="0">
            <a:off x="856335" y="2651760"/>
            <a:ext cx="2194560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6" name="Shape 186"/>
          <p:cNvSpPr txBox="true"/>
          <p:nvPr isPhoto="false"/>
        </p:nvSpPr>
        <p:spPr>
          <a:xfrm flipH="false" flipV="false" rot="0">
            <a:off x="856335" y="30175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название, артикул, категория, цена, ставка НДС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7" name="Shape 187"/>
          <p:cNvSpPr txBox="false"/>
          <p:nvPr isPhoto="false"/>
        </p:nvSpPr>
        <p:spPr>
          <a:xfrm flipH="false" flipV="false" rot="0">
            <a:off x="3434943" y="2011679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8" name="Shape 188"/>
          <p:cNvSpPr txBox="false"/>
          <p:nvPr isPhoto="false"/>
        </p:nvSpPr>
        <p:spPr>
          <a:xfrm flipH="false" flipV="false" rot="0">
            <a:off x="3434943" y="2011679"/>
            <a:ext cx="2560320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9" name="Shape 189"/>
          <p:cNvSpPr txBox="true"/>
          <p:nvPr isPhoto="false"/>
        </p:nvSpPr>
        <p:spPr>
          <a:xfrm flipH="false" flipV="false" rot="0">
            <a:off x="3617823" y="2194560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Остатки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0" name="Shape 190"/>
          <p:cNvSpPr txBox="true"/>
          <p:nvPr isPhoto="false"/>
        </p:nvSpPr>
        <p:spPr>
          <a:xfrm flipH="false" flipV="false" rot="0">
            <a:off x="3617823" y="2651760"/>
            <a:ext cx="2194560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1" name="Shape 191"/>
          <p:cNvSpPr txBox="true"/>
          <p:nvPr isPhoto="false"/>
        </p:nvSpPr>
        <p:spPr>
          <a:xfrm flipH="false" flipV="false" rot="0">
            <a:off x="3617823" y="30175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 товара, склад, кол-во доступное, кол-во зарезерв.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2" name="Shape 192"/>
          <p:cNvSpPr txBox="false"/>
          <p:nvPr isPhoto="false"/>
        </p:nvSpPr>
        <p:spPr>
          <a:xfrm flipH="false" flipV="false" rot="0">
            <a:off x="6196431" y="2011679"/>
            <a:ext cx="2560319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3" name="Shape 193"/>
          <p:cNvSpPr txBox="false"/>
          <p:nvPr isPhoto="false"/>
        </p:nvSpPr>
        <p:spPr>
          <a:xfrm flipH="false" flipV="false" rot="0">
            <a:off x="6196431" y="2011679"/>
            <a:ext cx="2560319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4" name="Shape 194"/>
          <p:cNvSpPr txBox="true"/>
          <p:nvPr isPhoto="false"/>
        </p:nvSpPr>
        <p:spPr>
          <a:xfrm flipH="false" flipV="false" rot="0">
            <a:off x="6379311" y="2194560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Коды маркир.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5" name="Shape 195"/>
          <p:cNvSpPr txBox="true"/>
          <p:nvPr isPhoto="false"/>
        </p:nvSpPr>
        <p:spPr>
          <a:xfrm flipH="false" flipV="false" rot="0">
            <a:off x="6379311" y="2651760"/>
            <a:ext cx="2194560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6" name="Shape 196"/>
          <p:cNvSpPr txBox="true"/>
          <p:nvPr isPhoto="false"/>
        </p:nvSpPr>
        <p:spPr>
          <a:xfrm flipH="false" flipV="false" rot="0">
            <a:off x="6379311" y="30175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код КМ, id товара, статус, дата изменения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7" name="Shape 197"/>
          <p:cNvSpPr txBox="false"/>
          <p:nvPr isPhoto="false"/>
        </p:nvSpPr>
        <p:spPr>
          <a:xfrm flipH="false" flipV="false" rot="0">
            <a:off x="8957919" y="2011679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8" name="Shape 198"/>
          <p:cNvSpPr txBox="false"/>
          <p:nvPr isPhoto="false"/>
        </p:nvSpPr>
        <p:spPr>
          <a:xfrm flipH="false" flipV="false" rot="0">
            <a:off x="8957919" y="2011679"/>
            <a:ext cx="2560320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9" name="Shape 199"/>
          <p:cNvSpPr txBox="true"/>
          <p:nvPr isPhoto="false"/>
        </p:nvSpPr>
        <p:spPr>
          <a:xfrm flipH="false" flipV="false" rot="0">
            <a:off x="9140799" y="2194560"/>
            <a:ext cx="21945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Контрагенты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0" name="Shape 200"/>
          <p:cNvSpPr txBox="true"/>
          <p:nvPr isPhoto="false"/>
        </p:nvSpPr>
        <p:spPr>
          <a:xfrm flipH="false" flipV="false" rot="0">
            <a:off x="9140799" y="2651760"/>
            <a:ext cx="2194559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counterparties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1" name="Shape 201"/>
          <p:cNvSpPr txBox="true"/>
          <p:nvPr isPhoto="false"/>
        </p:nvSpPr>
        <p:spPr>
          <a:xfrm flipH="false" flipV="false" rot="0">
            <a:off x="9140799" y="3017520"/>
            <a:ext cx="21945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название, ИНН, КПП, юр. адрес, договор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2" name="Shape 202"/>
          <p:cNvSpPr txBox="false"/>
          <p:nvPr isPhoto="false"/>
        </p:nvSpPr>
        <p:spPr>
          <a:xfrm flipH="false" flipV="false" rot="0">
            <a:off x="673455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3" name="Shape 203"/>
          <p:cNvSpPr txBox="false"/>
          <p:nvPr isPhoto="false"/>
        </p:nvSpPr>
        <p:spPr>
          <a:xfrm flipH="false" flipV="false" rot="0">
            <a:off x="673455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4" name="Shape 204"/>
          <p:cNvSpPr txBox="true"/>
          <p:nvPr isPhoto="false"/>
        </p:nvSpPr>
        <p:spPr>
          <a:xfrm flipH="false" flipV="false" rot="0">
            <a:off x="856335" y="4023359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Документы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5" name="Shape 205"/>
          <p:cNvSpPr txBox="true"/>
          <p:nvPr isPhoto="false"/>
        </p:nvSpPr>
        <p:spPr>
          <a:xfrm flipH="false" flipV="false" rot="0">
            <a:off x="856335" y="4480560"/>
            <a:ext cx="2194560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6" name="Shape 206"/>
          <p:cNvSpPr txBox="true"/>
          <p:nvPr isPhoto="false"/>
        </p:nvSpPr>
        <p:spPr>
          <a:xfrm flipH="false" flipV="false" rot="0">
            <a:off x="856335" y="48463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номер, дата, продавец, покупатель, сумма, НДС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7" name="Shape 207"/>
          <p:cNvSpPr txBox="false"/>
          <p:nvPr isPhoto="false"/>
        </p:nvSpPr>
        <p:spPr>
          <a:xfrm flipH="false" flipV="false" rot="0">
            <a:off x="3434943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8" name="Shape 208"/>
          <p:cNvSpPr txBox="false"/>
          <p:nvPr isPhoto="false"/>
        </p:nvSpPr>
        <p:spPr>
          <a:xfrm flipH="false" flipV="false" rot="0">
            <a:off x="3434943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9" name="Shape 209"/>
          <p:cNvSpPr txBox="true"/>
          <p:nvPr isPhoto="false"/>
        </p:nvSpPr>
        <p:spPr>
          <a:xfrm flipH="false" flipV="false" rot="0">
            <a:off x="3617823" y="4023359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Строки док.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0" name="Shape 210"/>
          <p:cNvSpPr txBox="true"/>
          <p:nvPr isPhoto="false"/>
        </p:nvSpPr>
        <p:spPr>
          <a:xfrm flipH="false" flipV="false" rot="0">
            <a:off x="3617823" y="4480560"/>
            <a:ext cx="2194560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1" name="Shape 211"/>
          <p:cNvSpPr txBox="true"/>
          <p:nvPr isPhoto="false"/>
        </p:nvSpPr>
        <p:spPr>
          <a:xfrm flipH="false" flipV="false" rot="0">
            <a:off x="3617823" y="48463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id документа, id товара, кол-во, цена,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2" name="Shape 212"/>
          <p:cNvSpPr txBox="false"/>
          <p:nvPr isPhoto="false"/>
        </p:nvSpPr>
        <p:spPr>
          <a:xfrm flipH="false" flipV="false" rot="0">
            <a:off x="6196431" y="3840480"/>
            <a:ext cx="2560319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3" name="Shape 213"/>
          <p:cNvSpPr txBox="false"/>
          <p:nvPr isPhoto="false"/>
        </p:nvSpPr>
        <p:spPr>
          <a:xfrm flipH="false" flipV="false" rot="0">
            <a:off x="6196431" y="3840480"/>
            <a:ext cx="256031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4" name="Shape 214"/>
          <p:cNvSpPr txBox="true"/>
          <p:nvPr isPhoto="false"/>
        </p:nvSpPr>
        <p:spPr>
          <a:xfrm flipH="false" flipV="false" rot="0">
            <a:off x="6379311" y="4023359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Журнал движ.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5" name="Shape 215"/>
          <p:cNvSpPr txBox="true"/>
          <p:nvPr isPhoto="false"/>
        </p:nvSpPr>
        <p:spPr>
          <a:xfrm flipH="false" flipV="false" rot="0">
            <a:off x="6379311" y="4480560"/>
            <a:ext cx="2194560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6" name="Shape 216"/>
          <p:cNvSpPr txBox="true"/>
          <p:nvPr isPhoto="false"/>
        </p:nvSpPr>
        <p:spPr>
          <a:xfrm flipH="false" flipV="false" rot="0">
            <a:off x="6379311" y="48463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дата, тип операции, id товара, кол-во, причина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7" name="Shape 217"/>
          <p:cNvSpPr txBox="false"/>
          <p:nvPr isPhoto="false"/>
        </p:nvSpPr>
        <p:spPr>
          <a:xfrm flipH="false" flipV="false" rot="0">
            <a:off x="8957919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8" name="Shape 218"/>
          <p:cNvSpPr txBox="false"/>
          <p:nvPr isPhoto="false"/>
        </p:nvSpPr>
        <p:spPr>
          <a:xfrm flipH="false" flipV="false" rot="0">
            <a:off x="8957919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9" name="Shape 219"/>
          <p:cNvSpPr txBox="true"/>
          <p:nvPr isPhoto="false"/>
        </p:nvSpPr>
        <p:spPr>
          <a:xfrm flipH="false" flipV="false" rot="0">
            <a:off x="9140799" y="4023359"/>
            <a:ext cx="21945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Акты списания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0" name="Shape 220"/>
          <p:cNvSpPr txBox="true"/>
          <p:nvPr isPhoto="false"/>
        </p:nvSpPr>
        <p:spPr>
          <a:xfrm flipH="false" flipV="false" rot="0">
            <a:off x="9140799" y="4480560"/>
            <a:ext cx="2194559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writeoff_acts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1" name="Shape 221"/>
          <p:cNvSpPr txBox="true"/>
          <p:nvPr isPhoto="false"/>
        </p:nvSpPr>
        <p:spPr>
          <a:xfrm flipH="false" flipV="false" rot="0">
            <a:off x="9140799" y="4846320"/>
            <a:ext cx="21945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дата, причина, id товара, кол-во, коды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22" name="GroupShape 2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3" name="Shape 223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4" name="Shape 224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5" name="Shape 225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6" name="Shape 226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Связи между таблицами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7" name="Shape 227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8" name="Shape 228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Как таблицы связаны между собой и какие данные передаются по связям.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9" name="Shape 229"/>
          <p:cNvSpPr txBox="false"/>
          <p:nvPr isPhoto="false"/>
        </p:nvSpPr>
        <p:spPr>
          <a:xfrm flipH="false" flipV="false" rot="0">
            <a:off x="701367" y="2011679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0" name="Shape 230"/>
          <p:cNvSpPr txBox="false"/>
          <p:nvPr isPhoto="false"/>
        </p:nvSpPr>
        <p:spPr>
          <a:xfrm flipH="false" flipV="false" rot="0">
            <a:off x="701367" y="2011679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1" name="Shape 231"/>
          <p:cNvSpPr txBox="true"/>
          <p:nvPr isPhoto="false"/>
        </p:nvSpPr>
        <p:spPr>
          <a:xfrm flipH="false" flipV="false" rot="0">
            <a:off x="884247" y="219456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2" name="Shape 232"/>
          <p:cNvSpPr txBox="true"/>
          <p:nvPr isPhoto="false"/>
        </p:nvSpPr>
        <p:spPr>
          <a:xfrm flipH="false" flipV="false" rot="0">
            <a:off x="2438727" y="219456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3" name="Shape 233"/>
          <p:cNvSpPr txBox="true"/>
          <p:nvPr isPhoto="false"/>
        </p:nvSpPr>
        <p:spPr>
          <a:xfrm flipH="false" flipV="false" rot="0">
            <a:off x="3444567" y="219456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4" name="Shape 234"/>
          <p:cNvSpPr txBox="true"/>
          <p:nvPr isPhoto="false"/>
        </p:nvSpPr>
        <p:spPr>
          <a:xfrm flipH="false" flipV="false" rot="0">
            <a:off x="5093287" y="2194560"/>
            <a:ext cx="82296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товар — много записей остатка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5" name="Shape 235"/>
          <p:cNvSpPr txBox="false"/>
          <p:nvPr isPhoto="false"/>
        </p:nvSpPr>
        <p:spPr>
          <a:xfrm flipH="false" flipV="false" rot="0">
            <a:off x="6187287" y="2011679"/>
            <a:ext cx="5303039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6" name="Shape 236"/>
          <p:cNvSpPr txBox="false"/>
          <p:nvPr isPhoto="false"/>
        </p:nvSpPr>
        <p:spPr>
          <a:xfrm flipH="false" flipV="false" rot="0">
            <a:off x="6187287" y="2011679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7" name="Shape 237"/>
          <p:cNvSpPr txBox="true"/>
          <p:nvPr isPhoto="false"/>
        </p:nvSpPr>
        <p:spPr>
          <a:xfrm flipH="false" flipV="false" rot="0">
            <a:off x="6370167" y="219456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8" name="Shape 238"/>
          <p:cNvSpPr txBox="true"/>
          <p:nvPr isPhoto="false"/>
        </p:nvSpPr>
        <p:spPr>
          <a:xfrm flipH="false" flipV="false" rot="0">
            <a:off x="7924647" y="219456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9" name="Shape 239"/>
          <p:cNvSpPr txBox="true"/>
          <p:nvPr isPhoto="false"/>
        </p:nvSpPr>
        <p:spPr>
          <a:xfrm flipH="false" flipV="false" rot="0">
            <a:off x="8930487" y="219456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0" name="Shape 240"/>
          <p:cNvSpPr txBox="true"/>
          <p:nvPr isPhoto="false"/>
        </p:nvSpPr>
        <p:spPr>
          <a:xfrm flipH="false" flipV="false" rot="0">
            <a:off x="10579207" y="2194560"/>
            <a:ext cx="8229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товар — много кодов маркировки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1" name="Shape 241"/>
          <p:cNvSpPr txBox="false"/>
          <p:nvPr isPhoto="false"/>
        </p:nvSpPr>
        <p:spPr>
          <a:xfrm flipH="false" flipV="false" rot="0">
            <a:off x="701367" y="3108960"/>
            <a:ext cx="5303040" cy="914399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2" name="Shape 242"/>
          <p:cNvSpPr txBox="false"/>
          <p:nvPr isPhoto="false"/>
        </p:nvSpPr>
        <p:spPr>
          <a:xfrm flipH="false" flipV="false" rot="0">
            <a:off x="701367" y="3108960"/>
            <a:ext cx="91440" cy="914399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3" name="Shape 243"/>
          <p:cNvSpPr txBox="true"/>
          <p:nvPr isPhoto="false"/>
        </p:nvSpPr>
        <p:spPr>
          <a:xfrm flipH="false" flipV="false" rot="0">
            <a:off x="884247" y="329184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4" name="Shape 244"/>
          <p:cNvSpPr txBox="true"/>
          <p:nvPr isPhoto="false"/>
        </p:nvSpPr>
        <p:spPr>
          <a:xfrm flipH="false" flipV="false" rot="0">
            <a:off x="2438727" y="329184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5" name="Shape 245"/>
          <p:cNvSpPr txBox="true"/>
          <p:nvPr isPhoto="false"/>
        </p:nvSpPr>
        <p:spPr>
          <a:xfrm flipH="false" flipV="false" rot="0">
            <a:off x="3444567" y="329184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6" name="Shape 246"/>
          <p:cNvSpPr txBox="true"/>
          <p:nvPr isPhoto="false"/>
        </p:nvSpPr>
        <p:spPr>
          <a:xfrm flipH="false" flipV="false" rot="0">
            <a:off x="5093287" y="3291840"/>
            <a:ext cx="8229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товар — много строк в документах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7" name="Shape 247"/>
          <p:cNvSpPr txBox="false"/>
          <p:nvPr isPhoto="false"/>
        </p:nvSpPr>
        <p:spPr>
          <a:xfrm flipH="false" flipV="false" rot="0">
            <a:off x="6187287" y="3108960"/>
            <a:ext cx="5303039" cy="914399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8" name="Shape 248"/>
          <p:cNvSpPr txBox="false"/>
          <p:nvPr isPhoto="false"/>
        </p:nvSpPr>
        <p:spPr>
          <a:xfrm flipH="false" flipV="false" rot="0">
            <a:off x="6187287" y="3108960"/>
            <a:ext cx="91440" cy="914399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9" name="Shape 249"/>
          <p:cNvSpPr txBox="true"/>
          <p:nvPr isPhoto="false"/>
        </p:nvSpPr>
        <p:spPr>
          <a:xfrm flipH="false" flipV="false" rot="0">
            <a:off x="6370167" y="329184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0" name="Shape 250"/>
          <p:cNvSpPr txBox="true"/>
          <p:nvPr isPhoto="false"/>
        </p:nvSpPr>
        <p:spPr>
          <a:xfrm flipH="false" flipV="false" rot="0">
            <a:off x="7924647" y="329184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1" name="Shape 251"/>
          <p:cNvSpPr txBox="true"/>
          <p:nvPr isPhoto="false"/>
        </p:nvSpPr>
        <p:spPr>
          <a:xfrm flipH="false" flipV="false" rot="0">
            <a:off x="8930487" y="329184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2" name="Shape 252"/>
          <p:cNvSpPr txBox="true"/>
          <p:nvPr isPhoto="false"/>
        </p:nvSpPr>
        <p:spPr>
          <a:xfrm flipH="false" flipV="false" rot="0">
            <a:off x="10579207" y="3291840"/>
            <a:ext cx="8229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документ — много строк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3" name="Shape 253"/>
          <p:cNvSpPr txBox="false"/>
          <p:nvPr isPhoto="false"/>
        </p:nvSpPr>
        <p:spPr>
          <a:xfrm flipH="false" flipV="false" rot="0">
            <a:off x="701367" y="420624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4" name="Shape 254"/>
          <p:cNvSpPr txBox="false"/>
          <p:nvPr isPhoto="false"/>
        </p:nvSpPr>
        <p:spPr>
          <a:xfrm flipH="false" flipV="false" rot="0">
            <a:off x="701367" y="420624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5" name="Shape 255"/>
          <p:cNvSpPr txBox="true"/>
          <p:nvPr isPhoto="false"/>
        </p:nvSpPr>
        <p:spPr>
          <a:xfrm flipH="false" flipV="false" rot="0">
            <a:off x="884247" y="438912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counterparties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6" name="Shape 256"/>
          <p:cNvSpPr txBox="true"/>
          <p:nvPr isPhoto="false"/>
        </p:nvSpPr>
        <p:spPr>
          <a:xfrm flipH="false" flipV="false" rot="0">
            <a:off x="2438727" y="438912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7" name="Shape 257"/>
          <p:cNvSpPr txBox="true"/>
          <p:nvPr isPhoto="false"/>
        </p:nvSpPr>
        <p:spPr>
          <a:xfrm flipH="false" flipV="false" rot="0">
            <a:off x="3444567" y="438912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8" name="Shape 258"/>
          <p:cNvSpPr txBox="true"/>
          <p:nvPr isPhoto="false"/>
        </p:nvSpPr>
        <p:spPr>
          <a:xfrm flipH="false" flipV="false" rot="0">
            <a:off x="5093287" y="4389120"/>
            <a:ext cx="8229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контрагент — много документов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9" name="Shape 259"/>
          <p:cNvSpPr txBox="false"/>
          <p:nvPr isPhoto="false"/>
        </p:nvSpPr>
        <p:spPr>
          <a:xfrm flipH="false" flipV="false" rot="0">
            <a:off x="6187287" y="4206240"/>
            <a:ext cx="5303039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0" name="Shape 260"/>
          <p:cNvSpPr txBox="false"/>
          <p:nvPr isPhoto="false"/>
        </p:nvSpPr>
        <p:spPr>
          <a:xfrm flipH="false" flipV="false" rot="0">
            <a:off x="6187287" y="420624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1" name="Shape 261"/>
          <p:cNvSpPr txBox="true"/>
          <p:nvPr isPhoto="false"/>
        </p:nvSpPr>
        <p:spPr>
          <a:xfrm flipH="false" flipV="false" rot="0">
            <a:off x="6370167" y="438912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2" name="Shape 262"/>
          <p:cNvSpPr txBox="true"/>
          <p:nvPr isPhoto="false"/>
        </p:nvSpPr>
        <p:spPr>
          <a:xfrm flipH="false" flipV="false" rot="0">
            <a:off x="7924647" y="438912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3" name="Shape 263"/>
          <p:cNvSpPr txBox="true"/>
          <p:nvPr isPhoto="false"/>
        </p:nvSpPr>
        <p:spPr>
          <a:xfrm flipH="false" flipV="false" rot="0">
            <a:off x="8930487" y="438912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4" name="Shape 264"/>
          <p:cNvSpPr txBox="true"/>
          <p:nvPr isPhoto="false"/>
        </p:nvSpPr>
        <p:spPr>
          <a:xfrm flipH="false" flipV="false" rot="0">
            <a:off x="10579207" y="4389120"/>
            <a:ext cx="8229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КМ — одна строка продажи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5" name="Shape 265"/>
          <p:cNvSpPr txBox="false"/>
          <p:nvPr isPhoto="false"/>
        </p:nvSpPr>
        <p:spPr>
          <a:xfrm flipH="false" flipV="false" rot="0">
            <a:off x="701367" y="530352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6" name="Shape 266"/>
          <p:cNvSpPr txBox="false"/>
          <p:nvPr isPhoto="false"/>
        </p:nvSpPr>
        <p:spPr>
          <a:xfrm flipH="false" flipV="false" rot="0">
            <a:off x="701367" y="530352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7" name="Shape 267"/>
          <p:cNvSpPr txBox="true"/>
          <p:nvPr isPhoto="false"/>
        </p:nvSpPr>
        <p:spPr>
          <a:xfrm flipH="false" flipV="false" rot="0">
            <a:off x="884247" y="548640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8" name="Shape 268"/>
          <p:cNvSpPr txBox="true"/>
          <p:nvPr isPhoto="false"/>
        </p:nvSpPr>
        <p:spPr>
          <a:xfrm flipH="false" flipV="false" rot="0">
            <a:off x="2438727" y="548640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N : 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9" name="Shape 269"/>
          <p:cNvSpPr txBox="true"/>
          <p:nvPr isPhoto="false"/>
        </p:nvSpPr>
        <p:spPr>
          <a:xfrm flipH="false" flipV="false" rot="0">
            <a:off x="3444567" y="548640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0" name="Shape 270"/>
          <p:cNvSpPr txBox="true"/>
          <p:nvPr isPhoto="false"/>
        </p:nvSpPr>
        <p:spPr>
          <a:xfrm flipH="false" flipV="false" rot="0">
            <a:off x="5093287" y="5486400"/>
            <a:ext cx="8229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записи журнала ссылаются на товар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1" name="Shape 271"/>
          <p:cNvSpPr txBox="false"/>
          <p:nvPr isPhoto="false"/>
        </p:nvSpPr>
        <p:spPr>
          <a:xfrm flipH="false" flipV="false" rot="0">
            <a:off x="6187287" y="5303520"/>
            <a:ext cx="5303039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2" name="Shape 272"/>
          <p:cNvSpPr txBox="false"/>
          <p:nvPr isPhoto="false"/>
        </p:nvSpPr>
        <p:spPr>
          <a:xfrm flipH="false" flipV="false" rot="0">
            <a:off x="6187287" y="530352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3" name="Shape 273"/>
          <p:cNvSpPr txBox="true"/>
          <p:nvPr isPhoto="false"/>
        </p:nvSpPr>
        <p:spPr>
          <a:xfrm flipH="false" flipV="false" rot="0">
            <a:off x="6370167" y="548640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writeoff_acts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4" name="Shape 274"/>
          <p:cNvSpPr txBox="true"/>
          <p:nvPr isPhoto="false"/>
        </p:nvSpPr>
        <p:spPr>
          <a:xfrm flipH="false" flipV="false" rot="0">
            <a:off x="7924647" y="548640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5" name="Shape 275"/>
          <p:cNvSpPr txBox="true"/>
          <p:nvPr isPhoto="false"/>
        </p:nvSpPr>
        <p:spPr>
          <a:xfrm flipH="false" flipV="false" rot="0">
            <a:off x="8930487" y="548640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6" name="Shape 276"/>
          <p:cNvSpPr txBox="true"/>
          <p:nvPr isPhoto="false"/>
        </p:nvSpPr>
        <p:spPr>
          <a:xfrm flipH="false" flipV="false" rot="0">
            <a:off x="10579207" y="5486400"/>
            <a:ext cx="8229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акт — много списанных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77" name="GroupShape 27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78" name="Shape 278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9" name="Shape 279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0" name="Shape 280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Что меняется в базе данных при продаже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1" name="Shape 281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2" name="Shape 282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Одна транзакция затрагивает пять таблиц — все изменения происходят атомарно.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3" name="Shape 283"/>
          <p:cNvSpPr txBox="false"/>
          <p:nvPr isPhoto="false"/>
        </p:nvSpPr>
        <p:spPr>
          <a:xfrm flipH="false" flipV="false" rot="0">
            <a:off x="664311" y="2011679"/>
            <a:ext cx="2011679" cy="2743199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4" name="Shape 284"/>
          <p:cNvSpPr txBox="false"/>
          <p:nvPr isPhoto="false"/>
        </p:nvSpPr>
        <p:spPr>
          <a:xfrm flipH="false" flipV="false" rot="0">
            <a:off x="664311" y="2011679"/>
            <a:ext cx="2011679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5" name="Shape 285"/>
          <p:cNvSpPr txBox="true"/>
          <p:nvPr isPhoto="false"/>
        </p:nvSpPr>
        <p:spPr>
          <a:xfrm flipH="false" flipV="false" rot="0">
            <a:off x="664311" y="2194560"/>
            <a:ext cx="20116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6" name="Shape 286"/>
          <p:cNvSpPr txBox="true"/>
          <p:nvPr isPhoto="false"/>
        </p:nvSpPr>
        <p:spPr>
          <a:xfrm flipH="false" flipV="false" rot="0">
            <a:off x="801471" y="2834640"/>
            <a:ext cx="1737360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7" name="Shape 287"/>
          <p:cNvSpPr txBox="true"/>
          <p:nvPr isPhoto="false"/>
        </p:nvSpPr>
        <p:spPr>
          <a:xfrm flipH="false" flipV="false" rot="0">
            <a:off x="801471" y="3383280"/>
            <a:ext cx="173736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Добавляются строки: товар, количество, цена, привязка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8" name="Shape 288"/>
          <p:cNvSpPr txBox="false"/>
          <p:nvPr isPhoto="false"/>
        </p:nvSpPr>
        <p:spPr>
          <a:xfrm flipH="false" flipV="false" rot="0">
            <a:off x="2877159" y="2011679"/>
            <a:ext cx="2011679" cy="2743199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9" name="Shape 289"/>
          <p:cNvSpPr txBox="false"/>
          <p:nvPr isPhoto="false"/>
        </p:nvSpPr>
        <p:spPr>
          <a:xfrm flipH="false" flipV="false" rot="0">
            <a:off x="2877159" y="2011679"/>
            <a:ext cx="2011679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0" name="Shape 290"/>
          <p:cNvSpPr txBox="true"/>
          <p:nvPr isPhoto="false"/>
        </p:nvSpPr>
        <p:spPr>
          <a:xfrm flipH="false" flipV="false" rot="0">
            <a:off x="2877159" y="2194560"/>
            <a:ext cx="20116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1" name="Shape 291"/>
          <p:cNvSpPr txBox="true"/>
          <p:nvPr isPhoto="false"/>
        </p:nvSpPr>
        <p:spPr>
          <a:xfrm flipH="false" flipV="false" rot="0">
            <a:off x="3014319" y="2834640"/>
            <a:ext cx="1737360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2" name="Shape 292"/>
          <p:cNvSpPr txBox="true"/>
          <p:nvPr isPhoto="false"/>
        </p:nvSpPr>
        <p:spPr>
          <a:xfrm flipH="false" flipV="false" rot="0">
            <a:off x="3014319" y="3383280"/>
            <a:ext cx="173736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Создаётся счёт-фактура: сумма, НДС, продавец, покупатель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3" name="Shape 293"/>
          <p:cNvSpPr txBox="false"/>
          <p:nvPr isPhoto="false"/>
        </p:nvSpPr>
        <p:spPr>
          <a:xfrm flipH="false" flipV="false" rot="0">
            <a:off x="5090007" y="2011679"/>
            <a:ext cx="2011680" cy="2743199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4" name="Shape 294"/>
          <p:cNvSpPr txBox="false"/>
          <p:nvPr isPhoto="false"/>
        </p:nvSpPr>
        <p:spPr>
          <a:xfrm flipH="false" flipV="false" rot="0">
            <a:off x="5090007" y="2011679"/>
            <a:ext cx="2011680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5" name="Shape 295"/>
          <p:cNvSpPr txBox="true"/>
          <p:nvPr isPhoto="false"/>
        </p:nvSpPr>
        <p:spPr>
          <a:xfrm flipH="false" flipV="false" rot="0">
            <a:off x="5090007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6" name="Shape 296"/>
          <p:cNvSpPr txBox="true"/>
          <p:nvPr isPhoto="false"/>
        </p:nvSpPr>
        <p:spPr>
          <a:xfrm flipH="false" flipV="false" rot="0">
            <a:off x="5227167" y="2834640"/>
            <a:ext cx="1737359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7" name="Shape 297"/>
          <p:cNvSpPr txBox="true"/>
          <p:nvPr isPhoto="false"/>
        </p:nvSpPr>
        <p:spPr>
          <a:xfrm flipH="false" flipV="false" rot="0">
            <a:off x="5227167" y="3383280"/>
            <a:ext cx="1737359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Уменьшается доступное количество, растёт резерв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8" name="Shape 298"/>
          <p:cNvSpPr txBox="false"/>
          <p:nvPr isPhoto="false"/>
        </p:nvSpPr>
        <p:spPr>
          <a:xfrm flipH="false" flipV="false" rot="0">
            <a:off x="7302855" y="2011679"/>
            <a:ext cx="2011680" cy="2743199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9" name="Shape 299"/>
          <p:cNvSpPr txBox="false"/>
          <p:nvPr isPhoto="false"/>
        </p:nvSpPr>
        <p:spPr>
          <a:xfrm flipH="false" flipV="false" rot="0">
            <a:off x="7302855" y="2011679"/>
            <a:ext cx="2011680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0" name="Shape 300"/>
          <p:cNvSpPr txBox="true"/>
          <p:nvPr isPhoto="false"/>
        </p:nvSpPr>
        <p:spPr>
          <a:xfrm flipH="false" flipV="false" rot="0">
            <a:off x="7302855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1" name="Shape 301"/>
          <p:cNvSpPr txBox="true"/>
          <p:nvPr isPhoto="false"/>
        </p:nvSpPr>
        <p:spPr>
          <a:xfrm flipH="false" flipV="false" rot="0">
            <a:off x="7440015" y="2834640"/>
            <a:ext cx="1737359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2" name="Shape 302"/>
          <p:cNvSpPr txBox="true"/>
          <p:nvPr isPhoto="false"/>
        </p:nvSpPr>
        <p:spPr>
          <a:xfrm flipH="false" flipV="false" rot="0">
            <a:off x="7440015" y="3383280"/>
            <a:ext cx="1737359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Статус КМ меняется: «В обороте» →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3" name="Shape 303"/>
          <p:cNvSpPr txBox="false"/>
          <p:nvPr isPhoto="false"/>
        </p:nvSpPr>
        <p:spPr>
          <a:xfrm flipH="false" flipV="false" rot="0">
            <a:off x="9515703" y="2011679"/>
            <a:ext cx="2011680" cy="2743199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4" name="Shape 304"/>
          <p:cNvSpPr txBox="false"/>
          <p:nvPr isPhoto="false"/>
        </p:nvSpPr>
        <p:spPr>
          <a:xfrm flipH="false" flipV="false" rot="0">
            <a:off x="9515703" y="2011679"/>
            <a:ext cx="2011680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5" name="Shape 305"/>
          <p:cNvSpPr txBox="true"/>
          <p:nvPr isPhoto="false"/>
        </p:nvSpPr>
        <p:spPr>
          <a:xfrm flipH="false" flipV="false" rot="0">
            <a:off x="9515703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6" name="Shape 306"/>
          <p:cNvSpPr txBox="true"/>
          <p:nvPr isPhoto="false"/>
        </p:nvSpPr>
        <p:spPr>
          <a:xfrm flipH="false" flipV="false" rot="0">
            <a:off x="9652863" y="2834640"/>
            <a:ext cx="1737359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7" name="Shape 307"/>
          <p:cNvSpPr txBox="true"/>
          <p:nvPr isPhoto="false"/>
        </p:nvSpPr>
        <p:spPr>
          <a:xfrm flipH="false" flipV="false" rot="0">
            <a:off x="9652863" y="3383280"/>
            <a:ext cx="1737359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Записывается факт: тип «Продажа», количество, дата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8" name="Shape 308"/>
          <p:cNvSpPr txBox="false"/>
          <p:nvPr isPhoto="false"/>
        </p:nvSpPr>
        <p:spPr>
          <a:xfrm flipH="false" flipV="false" rot="0">
            <a:off x="2675991" y="3291840"/>
            <a:ext cx="201166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9" name="Shape 309"/>
          <p:cNvSpPr txBox="false"/>
          <p:nvPr isPhoto="false"/>
        </p:nvSpPr>
        <p:spPr>
          <a:xfrm flipH="false" flipV="false" rot="0">
            <a:off x="4888839" y="3291840"/>
            <a:ext cx="201167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0" name="Shape 310"/>
          <p:cNvSpPr txBox="false"/>
          <p:nvPr isPhoto="false"/>
        </p:nvSpPr>
        <p:spPr>
          <a:xfrm flipH="false" flipV="false" rot="0">
            <a:off x="7101686" y="3291840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1" name="Shape 311"/>
          <p:cNvSpPr txBox="false"/>
          <p:nvPr isPhoto="false"/>
        </p:nvSpPr>
        <p:spPr>
          <a:xfrm flipH="false" flipV="false" rot="0">
            <a:off x="9314535" y="3291840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2" name="Shape 312"/>
          <p:cNvSpPr txBox="false"/>
          <p:nvPr isPhoto="false"/>
        </p:nvSpPr>
        <p:spPr>
          <a:xfrm flipH="false" flipV="false" rot="0">
            <a:off x="640080" y="5029200"/>
            <a:ext cx="10972800" cy="1188720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3" name="Shape 313"/>
          <p:cNvSpPr txBox="false"/>
          <p:nvPr isPhoto="false"/>
        </p:nvSpPr>
        <p:spPr>
          <a:xfrm flipH="false" flipV="false" rot="0">
            <a:off x="640080" y="5029200"/>
            <a:ext cx="13715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4" name="Shape 314"/>
          <p:cNvSpPr txBox="true"/>
          <p:nvPr isPhoto="false"/>
        </p:nvSpPr>
        <p:spPr>
          <a:xfrm flipH="false" flipV="false" rot="0">
            <a:off x="914400" y="5166360"/>
            <a:ext cx="27432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Главное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5" name="Shape 315"/>
          <p:cNvSpPr txBox="true"/>
          <p:nvPr isPhoto="false"/>
        </p:nvSpPr>
        <p:spPr>
          <a:xfrm flipH="false" flipV="false" rot="0">
            <a:off x="914400" y="5575200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Если на любом шаге происходит сбой — все изменения откатываются. База остается в согласованном состоянии: остатки, коды и документы не расходятся.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16" name="GroupShape 3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17" name="Shape 31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8" name="Shape 318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9" name="Shape 319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0" name="Shape 320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Ввод и вывод из оборота: что меняется в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1" name="Shape 321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2" name="Shape 322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Две зеркальные операции — каждая по-своему влияет на базу данных.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3" name="Shape 323"/>
          <p:cNvSpPr txBox="false"/>
          <p:nvPr isPhoto="false"/>
        </p:nvSpPr>
        <p:spPr>
          <a:xfrm flipH="false" flipV="false" rot="0">
            <a:off x="472766" y="2011679"/>
            <a:ext cx="5303040" cy="42062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4" name="Shape 324"/>
          <p:cNvSpPr txBox="false"/>
          <p:nvPr isPhoto="false"/>
        </p:nvSpPr>
        <p:spPr>
          <a:xfrm flipH="false" flipV="false" rot="0">
            <a:off x="472766" y="2011679"/>
            <a:ext cx="5303040" cy="91438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5" name="Shape 325"/>
          <p:cNvSpPr txBox="true"/>
          <p:nvPr isPhoto="false"/>
        </p:nvSpPr>
        <p:spPr>
          <a:xfrm flipH="false" flipV="false" rot="0">
            <a:off x="747087" y="2194560"/>
            <a:ext cx="475440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2EA06E"/>
                </a:solidFill>
                <a:latin typeface="Segoe UI"/>
                <a:ea typeface="Segoe UI"/>
                <a:cs typeface="Segoe UI"/>
              </a:rPr>
              <a:t>ВВОД В ОБОРОТ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6" name="Shape 326"/>
          <p:cNvSpPr txBox="true"/>
          <p:nvPr isPhoto="false"/>
        </p:nvSpPr>
        <p:spPr>
          <a:xfrm flipH="false" flipV="false" rot="0">
            <a:off x="747087" y="2834640"/>
            <a:ext cx="4754400" cy="3108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Товар зарегистрирован в системе, получены коды маркировки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Добавляются новые КМ, статус — «В обороте»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Доступное количество увеличивается на принятое число единиц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Записывается операция «Приёмка»: дата, количество, поставщик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7" name="Shape 327"/>
          <p:cNvSpPr txBox="false"/>
          <p:nvPr isPhoto="false"/>
        </p:nvSpPr>
        <p:spPr>
          <a:xfrm flipH="false" flipV="false" rot="0">
            <a:off x="6415887" y="2011679"/>
            <a:ext cx="5303039" cy="42062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8" name="Shape 328"/>
          <p:cNvSpPr txBox="false"/>
          <p:nvPr isPhoto="false"/>
        </p:nvSpPr>
        <p:spPr>
          <a:xfrm flipH="false" flipV="false" rot="0">
            <a:off x="6415887" y="2011679"/>
            <a:ext cx="5303039" cy="914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9" name="Shape 329"/>
          <p:cNvSpPr txBox="true"/>
          <p:nvPr isPhoto="false"/>
        </p:nvSpPr>
        <p:spPr>
          <a:xfrm flipH="false" flipV="false" rot="0">
            <a:off x="6690207" y="2194560"/>
            <a:ext cx="475439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E74C3C"/>
                </a:solidFill>
                <a:latin typeface="Segoe UI"/>
                <a:ea typeface="Segoe UI"/>
                <a:cs typeface="Segoe UI"/>
              </a:rPr>
              <a:t>ВЫВЕДЕНИЕ ИЗ ОБОРОТА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0" name="Shape 330"/>
          <p:cNvSpPr txBox="true"/>
          <p:nvPr isPhoto="false"/>
        </p:nvSpPr>
        <p:spPr>
          <a:xfrm flipH="false" flipV="false" rot="0">
            <a:off x="6690207" y="2834640"/>
            <a:ext cx="4754399" cy="3108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Статус КМ меняется: «В обороте» →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Доступное количество уменьшается на проданное число единиц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Формируется документ продажи с привязкой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Записывается операция «Продажа»: дата, количество, документ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31" name="GroupShape 3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32" name="Shape 332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3" name="Shape 333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4" name="Shape 334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Списание со склада: изменения в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5" name="Shape 335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6" name="Shape 336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Брак, некорректные коды, истечение срока — товар убирается из оборота с документальным подтверждением.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7" name="Shape 337"/>
          <p:cNvSpPr txBox="false"/>
          <p:nvPr isPhoto="false"/>
        </p:nvSpPr>
        <p:spPr>
          <a:xfrm flipH="false" flipV="false" rot="0">
            <a:off x="801471" y="2011679"/>
            <a:ext cx="2468879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8" name="Shape 338"/>
          <p:cNvSpPr txBox="false"/>
          <p:nvPr isPhoto="false"/>
        </p:nvSpPr>
        <p:spPr>
          <a:xfrm flipH="false" flipV="false" rot="0">
            <a:off x="801471" y="2011679"/>
            <a:ext cx="2468879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9" name="Shape 339"/>
          <p:cNvSpPr txBox="true"/>
          <p:nvPr isPhoto="false"/>
        </p:nvSpPr>
        <p:spPr>
          <a:xfrm flipH="false" flipV="false" rot="0">
            <a:off x="801471" y="2194560"/>
            <a:ext cx="24688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0" name="Shape 340"/>
          <p:cNvSpPr txBox="true"/>
          <p:nvPr isPhoto="false"/>
        </p:nvSpPr>
        <p:spPr>
          <a:xfrm flipH="false" flipV="false" rot="0">
            <a:off x="938631" y="2834640"/>
            <a:ext cx="2194559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writeoff_acts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1" name="Shape 341"/>
          <p:cNvSpPr txBox="true"/>
          <p:nvPr isPhoto="false"/>
        </p:nvSpPr>
        <p:spPr>
          <a:xfrm flipH="false" flipV="false" rot="0">
            <a:off x="938631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Создаётся акт списания: дата, причина, ответственный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2" name="Shape 342"/>
          <p:cNvSpPr txBox="false"/>
          <p:nvPr isPhoto="false"/>
        </p:nvSpPr>
        <p:spPr>
          <a:xfrm flipH="false" flipV="false" rot="0">
            <a:off x="3508095" y="2011679"/>
            <a:ext cx="2468880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3" name="Shape 343"/>
          <p:cNvSpPr txBox="false"/>
          <p:nvPr isPhoto="false"/>
        </p:nvSpPr>
        <p:spPr>
          <a:xfrm flipH="false" flipV="false" rot="0">
            <a:off x="3508095" y="2011679"/>
            <a:ext cx="2468880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4" name="Shape 344"/>
          <p:cNvSpPr txBox="true"/>
          <p:nvPr isPhoto="false"/>
        </p:nvSpPr>
        <p:spPr>
          <a:xfrm flipH="false" flipV="false" rot="0">
            <a:off x="3508095" y="2194560"/>
            <a:ext cx="24688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5" name="Shape 345"/>
          <p:cNvSpPr txBox="true"/>
          <p:nvPr isPhoto="false"/>
        </p:nvSpPr>
        <p:spPr>
          <a:xfrm flipH="false" flipV="false" rot="0">
            <a:off x="3645255" y="2834640"/>
            <a:ext cx="2194559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6" name="Shape 346"/>
          <p:cNvSpPr txBox="true"/>
          <p:nvPr isPhoto="false"/>
        </p:nvSpPr>
        <p:spPr>
          <a:xfrm flipH="false" flipV="false" rot="0">
            <a:off x="3645255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Каждый КМ переводится в статус «Списан»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7" name="Shape 347"/>
          <p:cNvSpPr txBox="false"/>
          <p:nvPr isPhoto="false"/>
        </p:nvSpPr>
        <p:spPr>
          <a:xfrm flipH="false" flipV="false" rot="0">
            <a:off x="6214719" y="2011679"/>
            <a:ext cx="2468878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8" name="Shape 348"/>
          <p:cNvSpPr txBox="false"/>
          <p:nvPr isPhoto="false"/>
        </p:nvSpPr>
        <p:spPr>
          <a:xfrm flipH="false" flipV="false" rot="0">
            <a:off x="6214719" y="2011679"/>
            <a:ext cx="2468878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9" name="Shape 349"/>
          <p:cNvSpPr txBox="true"/>
          <p:nvPr isPhoto="false"/>
        </p:nvSpPr>
        <p:spPr>
          <a:xfrm flipH="false" flipV="false" rot="0">
            <a:off x="6214719" y="2194560"/>
            <a:ext cx="2468878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0" name="Shape 350"/>
          <p:cNvSpPr txBox="true"/>
          <p:nvPr isPhoto="false"/>
        </p:nvSpPr>
        <p:spPr>
          <a:xfrm flipH="false" flipV="false" rot="0">
            <a:off x="6351879" y="2834640"/>
            <a:ext cx="2194559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1" name="Shape 351"/>
          <p:cNvSpPr txBox="true"/>
          <p:nvPr isPhoto="false"/>
        </p:nvSpPr>
        <p:spPr>
          <a:xfrm flipH="false" flipV="false" rot="0">
            <a:off x="6351879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Доступное количество уменьшается на списанные единицы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2" name="Shape 352"/>
          <p:cNvSpPr txBox="false"/>
          <p:nvPr isPhoto="false"/>
        </p:nvSpPr>
        <p:spPr>
          <a:xfrm flipH="false" flipV="false" rot="0">
            <a:off x="8921343" y="2011679"/>
            <a:ext cx="2468878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3" name="Shape 353"/>
          <p:cNvSpPr txBox="false"/>
          <p:nvPr isPhoto="false"/>
        </p:nvSpPr>
        <p:spPr>
          <a:xfrm flipH="false" flipV="false" rot="0">
            <a:off x="8921343" y="2011679"/>
            <a:ext cx="2468878" cy="91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4" name="Shape 354"/>
          <p:cNvSpPr txBox="true"/>
          <p:nvPr isPhoto="false"/>
        </p:nvSpPr>
        <p:spPr>
          <a:xfrm flipH="false" flipV="false" rot="0">
            <a:off x="8921343" y="2194560"/>
            <a:ext cx="2468878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5" name="Shape 355"/>
          <p:cNvSpPr txBox="true"/>
          <p:nvPr isPhoto="false"/>
        </p:nvSpPr>
        <p:spPr>
          <a:xfrm flipH="false" flipV="false" rot="0">
            <a:off x="9058503" y="2834640"/>
            <a:ext cx="2194559" cy="54863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6" name="Shape 356"/>
          <p:cNvSpPr txBox="true"/>
          <p:nvPr isPhoto="false"/>
        </p:nvSpPr>
        <p:spPr>
          <a:xfrm flipH="false" flipV="false" rot="0">
            <a:off x="9058503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Записывается операция «Списание»: причина, кол-во,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7" name="Shape 357"/>
          <p:cNvSpPr txBox="false"/>
          <p:nvPr isPhoto="false"/>
        </p:nvSpPr>
        <p:spPr>
          <a:xfrm flipH="false" flipV="false" rot="0">
            <a:off x="3270351" y="3108960"/>
            <a:ext cx="237744" cy="237743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8" name="Shape 358"/>
          <p:cNvSpPr txBox="false"/>
          <p:nvPr isPhoto="false"/>
        </p:nvSpPr>
        <p:spPr>
          <a:xfrm flipH="false" flipV="false" rot="0">
            <a:off x="5976975" y="3108960"/>
            <a:ext cx="237744" cy="237743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9" name="Shape 359"/>
          <p:cNvSpPr txBox="false"/>
          <p:nvPr isPhoto="false"/>
        </p:nvSpPr>
        <p:spPr>
          <a:xfrm flipH="false" flipV="false" rot="0">
            <a:off x="8683599" y="3108960"/>
            <a:ext cx="237742" cy="237743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0" name="Shape 360"/>
          <p:cNvSpPr txBox="false"/>
          <p:nvPr isPhoto="false"/>
        </p:nvSpPr>
        <p:spPr>
          <a:xfrm flipH="false" flipV="false" rot="0">
            <a:off x="640080" y="4663440"/>
            <a:ext cx="10972800" cy="1554478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1" name="Shape 361"/>
          <p:cNvSpPr txBox="false"/>
          <p:nvPr isPhoto="false"/>
        </p:nvSpPr>
        <p:spPr>
          <a:xfrm flipH="false" flipV="false" rot="0">
            <a:off x="640080" y="4663440"/>
            <a:ext cx="137158" cy="155447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2" name="Shape 362"/>
          <p:cNvSpPr txBox="true"/>
          <p:nvPr isPhoto="false"/>
        </p:nvSpPr>
        <p:spPr>
          <a:xfrm flipH="false" flipV="false" rot="0">
            <a:off x="914400" y="4800600"/>
            <a:ext cx="27432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Что важно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3" name="Shape 363"/>
          <p:cNvSpPr txBox="true"/>
          <p:nvPr isPhoto="false"/>
        </p:nvSpPr>
        <p:spPr>
          <a:xfrm flipH="false" flipV="false" rot="0">
            <a:off x="914400" y="5210400"/>
            <a:ext cx="10515600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Списанный код маркировки нельзя вернуть в оборот — это необратимая операция.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Акт списания хранится как документ и связан с конкретными КМ, поэтому всегда можно проследить, почему и когда товар был списан.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64" name="GroupShape 3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65" name="Shape 365"/>
          <p:cNvSpPr txBox="true"/>
          <p:nvPr isPhoto="false">
            <p:ph idx="10" type="dt"/>
          </p:nvPr>
        </p:nvSpPr>
        <p:spPr>
          <a:prstGeom prst="rect">
            <a:avLst/>
          </a:prstGeom>
        </p:spPr>
      </p:sp>
      <p:sp>
        <p:nvSpPr>
          <p:cNvPr hidden="false" id="366" name="Shape 366"/>
          <p:cNvSpPr txBox="true"/>
          <p:nvPr isPhoto="false">
            <p:ph idx="11" type="ftr"/>
          </p:nvPr>
        </p:nvSpPr>
        <p:spPr>
          <a:prstGeom prst="rect">
            <a:avLst/>
          </a:prstGeom>
        </p:spPr>
      </p:sp>
      <p:sp>
        <p:nvSpPr>
          <p:cNvPr hidden="false" id="367" name="Shape 36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CEEACE5C-A46A-4DCD-AABB-6C4B68756DD4}" type="slidenum">
              <a:t>10</a:t>
            </a:fld>
          </a:p>
        </p:txBody>
      </p:sp>
      <p:sp>
        <p:nvSpPr>
          <p:cNvPr hidden="false" id="368" name="Shape 368"/>
          <p:cNvSpPr txBox="true"/>
          <p:nvPr isPhoto="false"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69" name="GroupShape 36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0" name="Shape 370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1" name="Shape 371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2" name="Shape 372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3" name="Shape 373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Жизненный цикл кода маркировки в базе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4" name="Shape 374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5" name="Shape 375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Как меняется статус КМ от создания до выбытия или списания.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6" name="Shape 376"/>
          <p:cNvSpPr txBox="false"/>
          <p:nvPr isPhoto="false"/>
        </p:nvSpPr>
        <p:spPr>
          <a:xfrm flipH="false" flipV="false" rot="0">
            <a:off x="801471" y="2011679"/>
            <a:ext cx="2468879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7" name="Shape 377"/>
          <p:cNvSpPr txBox="false"/>
          <p:nvPr isPhoto="false"/>
        </p:nvSpPr>
        <p:spPr>
          <a:xfrm flipH="false" flipV="false" rot="0">
            <a:off x="801471" y="2011679"/>
            <a:ext cx="2468879" cy="109727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8" name="Shape 378"/>
          <p:cNvSpPr txBox="false"/>
          <p:nvPr isPhoto="false"/>
        </p:nvSpPr>
        <p:spPr>
          <a:xfrm flipH="false" flipV="false" rot="0">
            <a:off x="1578711" y="2377440"/>
            <a:ext cx="914400" cy="9144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9" name="Shape 379"/>
          <p:cNvSpPr txBox="true"/>
          <p:nvPr isPhoto="false"/>
        </p:nvSpPr>
        <p:spPr>
          <a:xfrm flipH="false" flipV="false" rot="0">
            <a:off x="801471" y="2560320"/>
            <a:ext cx="24688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0" name="Shape 380"/>
          <p:cNvSpPr txBox="true"/>
          <p:nvPr isPhoto="false"/>
        </p:nvSpPr>
        <p:spPr>
          <a:xfrm flipH="false" flipV="false" rot="0">
            <a:off x="938631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Создан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1" name="Shape 381"/>
          <p:cNvSpPr txBox="true"/>
          <p:nvPr isPhoto="false"/>
        </p:nvSpPr>
        <p:spPr>
          <a:xfrm flipH="false" flipV="false" rot="0">
            <a:off x="938631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КМ получен от «Честного знака»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2" name="Shape 382"/>
          <p:cNvSpPr txBox="false"/>
          <p:nvPr isPhoto="false"/>
        </p:nvSpPr>
        <p:spPr>
          <a:xfrm flipH="false" flipV="false" rot="0">
            <a:off x="3508095" y="2011679"/>
            <a:ext cx="2468880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3" name="Shape 383"/>
          <p:cNvSpPr txBox="false"/>
          <p:nvPr isPhoto="false"/>
        </p:nvSpPr>
        <p:spPr>
          <a:xfrm flipH="false" flipV="false" rot="0">
            <a:off x="3508095" y="2011679"/>
            <a:ext cx="2468880" cy="109727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4" name="Shape 384"/>
          <p:cNvSpPr txBox="false"/>
          <p:nvPr isPhoto="false"/>
        </p:nvSpPr>
        <p:spPr>
          <a:xfrm flipH="false" flipV="false" rot="0">
            <a:off x="4285335" y="2377440"/>
            <a:ext cx="914400" cy="914400"/>
          </a:xfrm>
          <a:prstGeom prst="ellipse">
            <a:avLst/>
          </a:prstGeom>
          <a:solidFill>
            <a:srgbClr val="2EA06E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5" name="Shape 385"/>
          <p:cNvSpPr txBox="true"/>
          <p:nvPr isPhoto="false"/>
        </p:nvSpPr>
        <p:spPr>
          <a:xfrm flipH="false" flipV="false" rot="0">
            <a:off x="3508095" y="2560320"/>
            <a:ext cx="2468880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6" name="Shape 386"/>
          <p:cNvSpPr txBox="true"/>
          <p:nvPr isPhoto="false"/>
        </p:nvSpPr>
        <p:spPr>
          <a:xfrm flipH="false" flipV="false" rot="0">
            <a:off x="3645255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 обороте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7" name="Shape 387"/>
          <p:cNvSpPr txBox="true"/>
          <p:nvPr isPhoto="false"/>
        </p:nvSpPr>
        <p:spPr>
          <a:xfrm flipH="false" flipV="false" rot="0">
            <a:off x="3645255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Товар на складе, готов к продаже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8" name="Shape 388"/>
          <p:cNvSpPr txBox="false"/>
          <p:nvPr isPhoto="false"/>
        </p:nvSpPr>
        <p:spPr>
          <a:xfrm flipH="false" flipV="false" rot="0">
            <a:off x="6214719" y="2011679"/>
            <a:ext cx="2468878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9" name="Shape 389"/>
          <p:cNvSpPr txBox="false"/>
          <p:nvPr isPhoto="false"/>
        </p:nvSpPr>
        <p:spPr>
          <a:xfrm flipH="false" flipV="false" rot="0">
            <a:off x="6214719" y="2011679"/>
            <a:ext cx="2468878" cy="10972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0" name="Shape 390"/>
          <p:cNvSpPr txBox="false"/>
          <p:nvPr isPhoto="false"/>
        </p:nvSpPr>
        <p:spPr>
          <a:xfrm flipH="false" flipV="false" rot="0">
            <a:off x="6991959" y="237744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1" name="Shape 391"/>
          <p:cNvSpPr txBox="true"/>
          <p:nvPr isPhoto="false"/>
        </p:nvSpPr>
        <p:spPr>
          <a:xfrm flipH="false" flipV="false" rot="0">
            <a:off x="6214719" y="2560320"/>
            <a:ext cx="2468878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2" name="Shape 392"/>
          <p:cNvSpPr txBox="true"/>
          <p:nvPr isPhoto="false"/>
        </p:nvSpPr>
        <p:spPr>
          <a:xfrm flipH="false" flipV="false" rot="0">
            <a:off x="6351879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Выбыл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3" name="Shape 393"/>
          <p:cNvSpPr txBox="true"/>
          <p:nvPr isPhoto="false"/>
        </p:nvSpPr>
        <p:spPr>
          <a:xfrm flipH="false" flipV="false" rot="0">
            <a:off x="6351879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Конечная продажа покупателю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4" name="Shape 394"/>
          <p:cNvSpPr txBox="false"/>
          <p:nvPr isPhoto="false"/>
        </p:nvSpPr>
        <p:spPr>
          <a:xfrm flipH="false" flipV="false" rot="0">
            <a:off x="8921343" y="2011679"/>
            <a:ext cx="2468878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5" name="Shape 395"/>
          <p:cNvSpPr txBox="false"/>
          <p:nvPr isPhoto="false"/>
        </p:nvSpPr>
        <p:spPr>
          <a:xfrm flipH="false" flipV="false" rot="0">
            <a:off x="8921343" y="2011679"/>
            <a:ext cx="2468878" cy="109727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6" name="Shape 396"/>
          <p:cNvSpPr txBox="false"/>
          <p:nvPr isPhoto="false"/>
        </p:nvSpPr>
        <p:spPr>
          <a:xfrm flipH="false" flipV="false" rot="0">
            <a:off x="9698583" y="2377440"/>
            <a:ext cx="914400" cy="9144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7" name="Shape 397"/>
          <p:cNvSpPr txBox="true"/>
          <p:nvPr isPhoto="false"/>
        </p:nvSpPr>
        <p:spPr>
          <a:xfrm flipH="false" flipV="false" rot="0">
            <a:off x="8921343" y="2560320"/>
            <a:ext cx="2468878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8" name="Shape 398"/>
          <p:cNvSpPr txBox="true"/>
          <p:nvPr isPhoto="false"/>
        </p:nvSpPr>
        <p:spPr>
          <a:xfrm flipH="false" flipV="false" rot="0">
            <a:off x="9058503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Списан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9" name="Shape 399"/>
          <p:cNvSpPr txBox="true"/>
          <p:nvPr isPhoto="false"/>
        </p:nvSpPr>
        <p:spPr>
          <a:xfrm flipH="false" flipV="false" rot="0">
            <a:off x="9058503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Брак, истечение срока, ошибка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0" name="Shape 400"/>
          <p:cNvSpPr txBox="false"/>
          <p:nvPr isPhoto="false"/>
        </p:nvSpPr>
        <p:spPr>
          <a:xfrm flipH="false" flipV="false" rot="0">
            <a:off x="3270351" y="3383280"/>
            <a:ext cx="237744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1" name="Shape 401"/>
          <p:cNvSpPr txBox="false"/>
          <p:nvPr isPhoto="false"/>
        </p:nvSpPr>
        <p:spPr>
          <a:xfrm flipH="false" flipV="false" rot="0">
            <a:off x="5976975" y="3383280"/>
            <a:ext cx="237744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2" name="Shape 402"/>
          <p:cNvSpPr txBox="false"/>
          <p:nvPr isPhoto="false"/>
        </p:nvSpPr>
        <p:spPr>
          <a:xfrm flipH="false" flipV="false" rot="0">
            <a:off x="8683599" y="3383280"/>
            <a:ext cx="237742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3" name="Shape 403"/>
          <p:cNvSpPr txBox="false"/>
          <p:nvPr isPhoto="false"/>
        </p:nvSpPr>
        <p:spPr>
          <a:xfrm flipH="false" flipV="false" rot="0">
            <a:off x="640080" y="5392680"/>
            <a:ext cx="10972800" cy="1097278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4" name="Shape 404"/>
          <p:cNvSpPr txBox="false"/>
          <p:nvPr isPhoto="false"/>
        </p:nvSpPr>
        <p:spPr>
          <a:xfrm flipH="false" flipV="false" rot="0">
            <a:off x="640080" y="5392680"/>
            <a:ext cx="91440" cy="109727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5" name="Shape 405"/>
          <p:cNvSpPr txBox="true"/>
          <p:nvPr isPhoto="false"/>
        </p:nvSpPr>
        <p:spPr>
          <a:xfrm flipH="false" flipV="false" rot="0">
            <a:off x="914400" y="5529840"/>
            <a:ext cx="10515600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Поле status в таблице marking_codes — ключевое поле для контроля. По нему система в любой момент знает, где находится товар: на складе, продан или списан.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06" name="GroupShape 40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07" name="Shape 40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8" name="Shape 408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9" name="Shape 409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0" name="Shape 410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Как обеспечить целостность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1" name="Shape 411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2" name="Shape 412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Правила и ограничения, которые не дают базе «развалиться» при операциях.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3" name="Shape 413"/>
          <p:cNvSpPr txBox="false"/>
          <p:nvPr isPhoto="false"/>
        </p:nvSpPr>
        <p:spPr>
          <a:xfrm flipH="false" flipV="false" rot="0">
            <a:off x="956919" y="2011679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4" name="Shape 414"/>
          <p:cNvSpPr txBox="false"/>
          <p:nvPr isPhoto="false"/>
        </p:nvSpPr>
        <p:spPr>
          <a:xfrm flipH="false" flipV="false" rot="0">
            <a:off x="956919" y="2011679"/>
            <a:ext cx="9143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5" name="Shape 415"/>
          <p:cNvSpPr txBox="false"/>
          <p:nvPr isPhoto="false"/>
        </p:nvSpPr>
        <p:spPr>
          <a:xfrm flipH="false" flipV="false" rot="0">
            <a:off x="1139799" y="2194560"/>
            <a:ext cx="640078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6" name="Shape 416"/>
          <p:cNvSpPr txBox="true"/>
          <p:nvPr isPhoto="false"/>
        </p:nvSpPr>
        <p:spPr>
          <a:xfrm flipH="false" flipV="false" rot="0">
            <a:off x="1139799" y="2240280"/>
            <a:ext cx="640078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7" name="Shape 417"/>
          <p:cNvSpPr txBox="true"/>
          <p:nvPr isPhoto="false"/>
        </p:nvSpPr>
        <p:spPr>
          <a:xfrm flipH="false" flipV="false" rot="0">
            <a:off x="1962759" y="2194560"/>
            <a:ext cx="20116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Нельзя продать больше, чем есть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8" name="Shape 418"/>
          <p:cNvSpPr txBox="true"/>
          <p:nvPr isPhoto="false"/>
        </p:nvSpPr>
        <p:spPr>
          <a:xfrm flipH="false" flipV="false" rot="0">
            <a:off x="1962759" y="2743200"/>
            <a:ext cx="2011679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Остаток в stock_balance проверяется до списания. Если кол-во недостаточно — операция отклоняется.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9" name="Shape 419"/>
          <p:cNvSpPr txBox="false"/>
          <p:nvPr isPhoto="false"/>
        </p:nvSpPr>
        <p:spPr>
          <a:xfrm flipH="false" flipV="false" rot="0">
            <a:off x="4449927" y="2011679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0" name="Shape 420"/>
          <p:cNvSpPr txBox="false"/>
          <p:nvPr isPhoto="false"/>
        </p:nvSpPr>
        <p:spPr>
          <a:xfrm flipH="false" flipV="false" rot="0">
            <a:off x="4449927" y="2011679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1" name="Shape 421"/>
          <p:cNvSpPr txBox="false"/>
          <p:nvPr isPhoto="false"/>
        </p:nvSpPr>
        <p:spPr>
          <a:xfrm flipH="false" flipV="false" rot="0">
            <a:off x="4632807" y="2194560"/>
            <a:ext cx="640079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2" name="Shape 422"/>
          <p:cNvSpPr txBox="true"/>
          <p:nvPr isPhoto="false"/>
        </p:nvSpPr>
        <p:spPr>
          <a:xfrm flipH="false" flipV="false" rot="0">
            <a:off x="4632807" y="2240280"/>
            <a:ext cx="6400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3" name="Shape 423"/>
          <p:cNvSpPr txBox="true"/>
          <p:nvPr isPhoto="false"/>
        </p:nvSpPr>
        <p:spPr>
          <a:xfrm flipH="false" flipV="false" rot="0">
            <a:off x="5455767" y="2194560"/>
            <a:ext cx="2011678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Списанный КМ нельзя «оживить»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4" name="Shape 424"/>
          <p:cNvSpPr txBox="true"/>
          <p:nvPr isPhoto="false"/>
        </p:nvSpPr>
        <p:spPr>
          <a:xfrm flipH="false" flipV="false" rot="0">
            <a:off x="5455767" y="2743200"/>
            <a:ext cx="2011678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Переход из «Списан» в любой другой статус блокируется на уровне бизнес-логики.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5" name="Shape 425"/>
          <p:cNvSpPr txBox="false"/>
          <p:nvPr isPhoto="false"/>
        </p:nvSpPr>
        <p:spPr>
          <a:xfrm flipH="false" flipV="false" rot="0">
            <a:off x="7942935" y="2011679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6" name="Shape 426"/>
          <p:cNvSpPr txBox="false"/>
          <p:nvPr isPhoto="false"/>
        </p:nvSpPr>
        <p:spPr>
          <a:xfrm flipH="false" flipV="false" rot="0">
            <a:off x="7942935" y="2011679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7" name="Shape 427"/>
          <p:cNvSpPr txBox="false"/>
          <p:nvPr isPhoto="false"/>
        </p:nvSpPr>
        <p:spPr>
          <a:xfrm flipH="false" flipV="false" rot="0">
            <a:off x="8125815" y="21945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8" name="Shape 428"/>
          <p:cNvSpPr txBox="true"/>
          <p:nvPr isPhoto="false"/>
        </p:nvSpPr>
        <p:spPr>
          <a:xfrm flipH="false" flipV="false" rot="0">
            <a:off x="8125815" y="2240280"/>
            <a:ext cx="640080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9" name="Shape 429"/>
          <p:cNvSpPr txBox="true"/>
          <p:nvPr isPhoto="false"/>
        </p:nvSpPr>
        <p:spPr>
          <a:xfrm flipH="false" flipV="false" rot="0">
            <a:off x="8948775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Сумма документа = сумма строк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0" name="Shape 430"/>
          <p:cNvSpPr txBox="true"/>
          <p:nvPr isPhoto="false"/>
        </p:nvSpPr>
        <p:spPr>
          <a:xfrm flipH="false" flipV="false" rot="0">
            <a:off x="8948775" y="2743200"/>
            <a:ext cx="2011680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Поле total в invoices должно сходиться с суммой полей amount в invoice_items.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1" name="Shape 431"/>
          <p:cNvSpPr txBox="false"/>
          <p:nvPr isPhoto="false"/>
        </p:nvSpPr>
        <p:spPr>
          <a:xfrm flipH="false" flipV="false" rot="0">
            <a:off x="956919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2" name="Shape 432"/>
          <p:cNvSpPr txBox="false"/>
          <p:nvPr isPhoto="false"/>
        </p:nvSpPr>
        <p:spPr>
          <a:xfrm flipH="false" flipV="false" rot="0">
            <a:off x="956919" y="3840480"/>
            <a:ext cx="9143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3" name="Shape 433"/>
          <p:cNvSpPr txBox="false"/>
          <p:nvPr isPhoto="false"/>
        </p:nvSpPr>
        <p:spPr>
          <a:xfrm flipH="false" flipV="false" rot="0">
            <a:off x="1139799" y="4023359"/>
            <a:ext cx="640078" cy="640079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4" name="Shape 434"/>
          <p:cNvSpPr txBox="true"/>
          <p:nvPr isPhoto="false"/>
        </p:nvSpPr>
        <p:spPr>
          <a:xfrm flipH="false" flipV="false" rot="0">
            <a:off x="1139799" y="4069080"/>
            <a:ext cx="640078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5" name="Shape 435"/>
          <p:cNvSpPr txBox="true"/>
          <p:nvPr isPhoto="false"/>
        </p:nvSpPr>
        <p:spPr>
          <a:xfrm flipH="false" flipV="false" rot="0">
            <a:off x="1962759" y="4023359"/>
            <a:ext cx="201167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Каждый КМ привязан к товару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6" name="Shape 436"/>
          <p:cNvSpPr txBox="true"/>
          <p:nvPr isPhoto="false"/>
        </p:nvSpPr>
        <p:spPr>
          <a:xfrm flipH="false" flipV="false" rot="0">
            <a:off x="1962759" y="4572000"/>
            <a:ext cx="2011679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В marking_codes обязательно указан id товара — нельзя добавить «свободный» код.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7" name="Shape 437"/>
          <p:cNvSpPr txBox="false"/>
          <p:nvPr isPhoto="false"/>
        </p:nvSpPr>
        <p:spPr>
          <a:xfrm flipH="false" flipV="false" rot="0">
            <a:off x="4449927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8" name="Shape 438"/>
          <p:cNvSpPr txBox="false"/>
          <p:nvPr isPhoto="false"/>
        </p:nvSpPr>
        <p:spPr>
          <a:xfrm flipH="false" flipV="false" rot="0">
            <a:off x="4449927" y="38404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9" name="Shape 439"/>
          <p:cNvSpPr txBox="false"/>
          <p:nvPr isPhoto="false"/>
        </p:nvSpPr>
        <p:spPr>
          <a:xfrm flipH="false" flipV="false" rot="0">
            <a:off x="4632807" y="4023359"/>
            <a:ext cx="640079" cy="640079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0" name="Shape 440"/>
          <p:cNvSpPr txBox="true"/>
          <p:nvPr isPhoto="false"/>
        </p:nvSpPr>
        <p:spPr>
          <a:xfrm flipH="false" flipV="false" rot="0">
            <a:off x="4632807" y="4069080"/>
            <a:ext cx="6400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1" name="Shape 441"/>
          <p:cNvSpPr txBox="true"/>
          <p:nvPr isPhoto="false"/>
        </p:nvSpPr>
        <p:spPr>
          <a:xfrm flipH="false" flipV="false" rot="0">
            <a:off x="5455767" y="4023359"/>
            <a:ext cx="2011678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Журнал фиксирует всё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2" name="Shape 442"/>
          <p:cNvSpPr txBox="true"/>
          <p:nvPr isPhoto="false"/>
        </p:nvSpPr>
        <p:spPr>
          <a:xfrm flipH="false" flipV="false" rot="0">
            <a:off x="5455767" y="4572000"/>
            <a:ext cx="2011678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Любое изменение остатков отражается в inventory_log: тип, кол-во, дата, причина.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3" name="Shape 443"/>
          <p:cNvSpPr txBox="false"/>
          <p:nvPr isPhoto="false"/>
        </p:nvSpPr>
        <p:spPr>
          <a:xfrm flipH="false" flipV="false" rot="0">
            <a:off x="7942935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4" name="Shape 444"/>
          <p:cNvSpPr txBox="false"/>
          <p:nvPr isPhoto="false"/>
        </p:nvSpPr>
        <p:spPr>
          <a:xfrm flipH="false" flipV="false" rot="0">
            <a:off x="7942935" y="38404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5" name="Shape 445"/>
          <p:cNvSpPr txBox="false"/>
          <p:nvPr isPhoto="false"/>
        </p:nvSpPr>
        <p:spPr>
          <a:xfrm flipH="false" flipV="false" rot="0">
            <a:off x="8125815" y="4023359"/>
            <a:ext cx="640080" cy="640079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6" name="Shape 446"/>
          <p:cNvSpPr txBox="true"/>
          <p:nvPr isPhoto="false"/>
        </p:nvSpPr>
        <p:spPr>
          <a:xfrm flipH="false" flipV="false" rot="0">
            <a:off x="8125815" y="4069080"/>
            <a:ext cx="640080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7" name="Shape 447"/>
          <p:cNvSpPr txBox="true"/>
          <p:nvPr isPhoto="false"/>
        </p:nvSpPr>
        <p:spPr>
          <a:xfrm flipH="false" flipV="false" rot="0">
            <a:off x="8948775" y="4023359"/>
            <a:ext cx="201168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УПД ≠ конечная продажа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8" name="Shape 448"/>
          <p:cNvSpPr txBox="true"/>
          <p:nvPr isPhoto="false"/>
        </p:nvSpPr>
        <p:spPr>
          <a:xfrm flipH="false" flipV="false" rot="0">
            <a:off x="8948775" y="4572000"/>
            <a:ext cx="2011680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Передача по УПД другому юрлицу не переводит КМ в «Выбыл» — только розничная продажа.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49" name="GroupShape 44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50" name="Shape 450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1" name="Shape 451"/>
          <p:cNvSpPr txBox="false"/>
          <p:nvPr isPhoto="false"/>
        </p:nvSpPr>
        <p:spPr>
          <a:xfrm flipH="false" flipV="false" rot="0"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2" name="Shape 452"/>
          <p:cNvSpPr txBox="false"/>
          <p:nvPr isPhoto="false"/>
        </p:nvSpPr>
        <p:spPr>
          <a:xfrm flipH="false" flipV="false" rot="0">
            <a:off x="320040" y="0"/>
            <a:ext cx="137159" cy="6858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3" name="Shape 453"/>
          <p:cNvSpPr txBox="true"/>
          <p:nvPr isPhoto="false"/>
        </p:nvSpPr>
        <p:spPr>
          <a:xfrm flipH="false" flipV="false" rot="0">
            <a:off x="1097280" y="2560320"/>
            <a:ext cx="1005840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5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Спасибо за внимание!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4" name="Shape 454"/>
          <p:cNvSpPr txBox="false"/>
          <p:nvPr isPhoto="false"/>
        </p:nvSpPr>
        <p:spPr>
          <a:xfrm flipH="false" flipV="false" rot="0">
            <a:off x="1143000" y="3840480"/>
            <a:ext cx="18288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5" name="Shape 455"/>
          <p:cNvSpPr txBox="true"/>
          <p:nvPr isPhoto="false"/>
        </p:nvSpPr>
        <p:spPr>
          <a:xfrm flipH="false" flipV="false" rot="0">
            <a:off x="1097280" y="4114800"/>
            <a:ext cx="100584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ООО «ТоргМаркет»  •  Группа №5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2013-01-27T09:15:58Z</dcterms:modified>
</cp:coreProperties>
</file>